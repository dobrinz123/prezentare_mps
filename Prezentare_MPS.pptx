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schidere" id="{610411c4-8abc-e6c5-40fa-bf19cbfd92a3}">
          <p14:sldIdLst>
            <p14:sldId id="256"/>
            <p14:sldId id="257"/>
            <p14:sldId id="258"/>
            <p14:sldId id="259"/>
          </p14:sldIdLst>
        </p14:section>
        <p14:section name="Istorie" id="{619166ac-7064-05b4-4474-f116c54dc50d}">
          <p14:sldIdLst>
            <p14:sldId id="260"/>
            <p14:sldId id="261"/>
            <p14:sldId id="262"/>
            <p14:sldId id="263"/>
            <p14:sldId id="264"/>
          </p14:sldIdLst>
        </p14:section>
        <p14:section name="Proiecte" id="{7d7b2c74-0c1a-b9df-43a1-7c72cce5f979}">
          <p14:sldIdLst>
            <p14:sldId id="265"/>
            <p14:sldId id="266"/>
            <p14:sldId id="267"/>
            <p14:sldId id="268"/>
            <p14:sldId id="269"/>
          </p14:sldIdLst>
        </p14:section>
        <p14:section name="Stakeholderi" id="{4f2d89e9-45fa-9c38-cf1b-16aab294040d}">
          <p14:sldIdLst>
            <p14:sldId id="270"/>
            <p14:sldId id="271"/>
            <p14:sldId id="272"/>
            <p14:sldId id="273"/>
          </p14:sldIdLst>
        </p14:section>
        <p14:section name="Dezbatere" id="{c84a57b9-7a3b-71e9-5835-c5b8e147412e}">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263F"/>
                </a:solidFill>
                <a:latin typeface="+mn-lt"/>
              </a:defRPr>
            </a:pPr>
            <a:r>
              <a:rPr sz="1300" b="0" i="0" u="none" strike="noStrike">
                <a:solidFill>
                  <a:srgbClr val="12263F"/>
                </a:solidFill>
                <a:latin typeface="+mn-lt"/>
              </a:rPr>
              <a:t>Canale de comunicare = n(n−1)/2</a:t>
            </a:r>
          </a:p>
        </c:rich>
      </c:tx>
      <c:layout/>
      <c:overlay val="0"/>
    </c:title>
    <c:autoTitleDeleted val="0"/>
    <c:plotArea>
      <c:layout/>
      <c:barChart>
        <c:barDir val="col"/>
        <c:grouping val="clustered"/>
        <c:varyColors val="0"/>
        <c:ser>
          <c:idx val="0"/>
          <c:order val="0"/>
          <c:tx>
            <c:strRef>
              <c:f>Sheet1!$B$1</c:f>
              <c:strCache>
                <c:ptCount val="1"/>
                <c:pt idx="0">
                  <c:v>Canale de comunicare</c:v>
                </c:pt>
              </c:strCache>
            </c:strRef>
          </c:tx>
          <c:spPr>
            <a:solidFill>
              <a:srgbClr val="3A6EA5"/>
            </a:solidFill>
            <a:effectLst/>
          </c:spPr>
          <c:invertIfNegative val="0"/>
          <c:dLbls>
            <c:numFmt formatCode="#,##0" sourceLinked="0"/>
            <c:txPr>
              <a:bodyPr/>
              <a:lstStyle/>
              <a:p>
                <a:pPr>
                  <a:defRPr b="0" i="0" strike="noStrike" sz="1100" u="none">
                    <a:solidFill>
                      <a:srgbClr val="12263F"/>
                    </a:solidFill>
                    <a:latin typeface="+mn-lt"/>
                  </a:defRPr>
                </a:pPr>
              </a:p>
            </c:txPr>
            <c:showLegendKey val="0"/>
            <c:showVal val="1"/>
            <c:showCatName val="0"/>
            <c:showSerName val="0"/>
            <c:showPercent val="0"/>
            <c:showBubbleSize val="0"/>
            <c:showLeaderLines val="0"/>
          </c:dLbls>
          <c:cat>
            <c:multiLvlStrRef>
              <c:f>Sheet1!$A$2:$A$7</c:f>
              <c:multiLvlStrCache>
                <c:ptCount val="6"/>
                <c:lvl>
                  <c:pt idx="0">
                    <c:v>3</c:v>
                  </c:pt>
                  <c:pt idx="1">
                    <c:v>5</c:v>
                  </c:pt>
                  <c:pt idx="2">
                    <c:v>8</c:v>
                  </c:pt>
                  <c:pt idx="3">
                    <c:v>10</c:v>
                  </c:pt>
                  <c:pt idx="4">
                    <c:v>15</c:v>
                  </c:pt>
                  <c:pt idx="5">
                    <c:v>20</c:v>
                  </c:pt>
                </c:lvl>
              </c:multiLvlStrCache>
            </c:multiLvlStrRef>
          </c:cat>
          <c:val>
            <c:numRef>
              <c:f>Sheet1!$B$2:$B$7</c:f>
              <c:numCache>
                <c:formatCode>General</c:formatCode>
                <c:ptCount val="6"/>
                <c:pt idx="0">
                  <c:v>3</c:v>
                </c:pt>
                <c:pt idx="1">
                  <c:v>10</c:v>
                </c:pt>
                <c:pt idx="2">
                  <c:v>28</c:v>
                </c:pt>
                <c:pt idx="3">
                  <c:v>45</c:v>
                </c:pt>
                <c:pt idx="4">
                  <c:v>105</c:v>
                </c:pt>
                <c:pt idx="5">
                  <c:v>190</c:v>
                </c:pt>
              </c:numCache>
            </c:numRef>
          </c:val>
        </c:ser>
        <c:dLbls>
          <c:numFmt formatCode="#,##0" sourceLinked="0"/>
          <c:txPr>
            <a:bodyPr/>
            <a:lstStyle/>
            <a:p>
              <a:pPr>
                <a:defRPr b="0" i="0" strike="noStrike" sz="1100" u="none">
                  <a:solidFill>
                    <a:srgbClr val="12263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46586F"/>
                    </a:solidFill>
                    <a:latin typeface="Arial"/>
                  </a:defRPr>
                </a:pPr>
                <a:r>
                  <a:rPr sz="1000" b="0" i="0" u="none" strike="noStrike">
                    <a:solidFill>
                      <a:srgbClr val="46586F"/>
                    </a:solidFill>
                    <a:latin typeface="Arial"/>
                  </a:rPr>
                  <a:t>Dimensiunea echipei (persoane)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6586F"/>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EF2F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6586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263F"/>
                </a:solidFill>
                <a:latin typeface="+mn-lt"/>
              </a:defRPr>
            </a:pPr>
            <a:r>
              <a:rPr sz="1300" b="0" i="0" u="none" strike="noStrike">
                <a:solidFill>
                  <a:srgbClr val="12263F"/>
                </a:solidFill>
                <a:latin typeface="+mn-lt"/>
              </a:rPr>
              <a:t>Moralul echipei de-a lungul proiectului (ilustrativ)</a:t>
            </a:r>
          </a:p>
        </c:rich>
      </c:tx>
      <c:layout/>
      <c:overlay val="0"/>
    </c:title>
    <c:autoTitleDeleted val="0"/>
    <c:plotArea>
      <c:layout/>
      <c:lineChart>
        <c:varyColors val="0"/>
        <c:ser>
          <c:idx val="0"/>
          <c:order val="0"/>
          <c:tx>
            <c:strRef>
              <c:f>Sheet1!$B$1</c:f>
              <c:strCache>
                <c:ptCount val="1"/>
                <c:pt idx="0">
                  <c:v>Moral (ilustrativ)</c:v>
                </c:pt>
              </c:strCache>
            </c:strRef>
          </c:tx>
          <c:spPr>
            <a:solidFill>
              <a:srgbClr val="E4572E"/>
            </a:solidFill>
            <a:ln w="38100" cap="flat">
              <a:solidFill>
                <a:srgbClr val="E4572E"/>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10"/>
            <c:spPr>
              <a:solidFill>
                <a:srgbClr val="E4572E"/>
              </a:solidFill>
              <a:ln w="9525" cap="flat">
                <a:solidFill>
                  <a:srgbClr val="E4572E"/>
                </a:solidFill>
                <a:prstDash val="solid"/>
                <a:round/>
              </a:ln>
              <a:effectLst/>
            </c:spPr>
          </c:marker>
          <c:cat>
            <c:multiLvlStrRef>
              <c:f>Sheet1!$A$2:$A$8</c:f>
              <c:multiLvlStrCache>
                <c:ptCount val="7"/>
                <c:lvl>
                  <c:pt idx="0">
                    <c:v>Entuziasm</c:v>
                  </c:pt>
                  <c:pt idx="1">
                    <c:v>Deziluzie</c:v>
                  </c:pt>
                  <c:pt idx="2">
                    <c:v>Confuzie</c:v>
                  </c:pt>
                  <c:pt idx="3">
                    <c:v>Panică</c:v>
                  </c:pt>
                  <c:pt idx="4">
                    <c:v>Căutarea vinovaților</c:v>
                  </c:pt>
                  <c:pt idx="5">
                    <c:v>Pedepsirea nevinovaților</c:v>
                  </c:pt>
                  <c:pt idx="6">
                    <c:v>Promovarea celor neparticipanți</c:v>
                  </c:pt>
                </c:lvl>
              </c:multiLvlStrCache>
            </c:multiLvlStrRef>
          </c:cat>
          <c:val>
            <c:numRef>
              <c:f>Sheet1!$B$2:$B$8</c:f>
              <c:numCache>
                <c:formatCode>General</c:formatCode>
                <c:ptCount val="7"/>
                <c:pt idx="0">
                  <c:v>9</c:v>
                </c:pt>
                <c:pt idx="1">
                  <c:v>6</c:v>
                </c:pt>
                <c:pt idx="2">
                  <c:v>4</c:v>
                </c:pt>
                <c:pt idx="3">
                  <c:v>1.5</c:v>
                </c:pt>
                <c:pt idx="4">
                  <c:v>2.5</c:v>
                </c:pt>
                <c:pt idx="5">
                  <c:v>1</c:v>
                </c:pt>
                <c:pt idx="6">
                  <c:v>7.5</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2263F"/>
                </a:solidFill>
                <a:latin typeface="+mn-lt"/>
              </a:defRPr>
            </a:pPr>
            <a:endParaRPr lang="en-US"/>
          </a:p>
        </c:txPr>
        <c:crossAx val="2094734552"/>
        <c:crosses val="autoZero"/>
        <c:auto val="1"/>
        <c:lblAlgn val="ctr"/>
        <c:noMultiLvlLbl val="1"/>
      </c:catAx>
      <c:valAx>
        <c:axId val="2094734552"/>
        <c:scaling>
          <c:orientation val="minMax"/>
          <c:max val="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(30s). Salut. Deschidem cu o provocare: poți scrie cod impecabil și totuși să pierzi proiectul. Pe parcursul a 25 de minute vom avea 3 voturi rapide, 2 mini-exerciții și o dezbatere în două tabere. Rugăm sala să participe: nu vorbim doar noi.
Sursa conținutului: cursurile G-C01.00 (Introducere) și G-C01.01 (Proiecte și Stakeholderi).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(1 min). Cerem sălii să scaneze codul acum, cât timp noi povestim. Pe PC-ul de prezentare ținem pagina de poll deschisă într-un tab separat, pe 'Panou prezentator'. De acolo apăsăm Start la fiecare întrebare (apar la slide-urile 3, 6, 9, 18 și 19), iar după ce s-a votat apăsăm 'Stop + arată rezultate': publicul vede graficul pe telefon, iar noi îl arătăm pe ecran trecând pe tab-ul panoului. Important: pagina trebuie partajată cu acces de Contributor, iar participanții trebuie să fie autentificați în Claude.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(2 min). Idee din Motivație (2): tehnicile sunt inutile fără proces. Citim cele 3 scenarii și pornim POLL-ul 1 din panou: care dintre ele ucide cele mai multe proiecte reale? După ~30 secunde apăsăm Stop și arătăm graficul. Provocăm: cineva a trăit un caz? Concluzia: cerințele, testarea și livrarea sunt probleme de PROCES, nu doar de tehnică.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(2 min). Șase motive pentru care MPS e interesant și greu: produs intangibil, flexibil, irepetabil, proces flexibil, complexitate exponențială, sisteme critice pentru viață (control aeronave). Întrebare scurtă către sală: ce înseamnă să 'termini' un lucru intangibil? Cum arăți progresul? Facem legătura cu Gantt-ul din slide-urile următoare.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(2 min). Firul roșu: fiecare epocă a rezolvat o durere. Gantt a separat munca planificată de progres; CPM și PERT au răspuns la 'ce poate întârzia proiectul?'; anii 60 aduc standardizare (WBS, EVA), anii 70 aduc software-ul în ecuație (cascadă, Mythical Man-Month), anii 80 estimarea (Function Points, COCOMO), anii 90 calitatea totală, iar azi agilitatea și feedback-ul constant. Întrebare: care dintre aceste idei folosiți deja fără să știți numele?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(2 min), prima DEZBATERE scurtă. Taylor (începutul anilor 1900) pornește de la o viziune negativă: muncitorii în sarcini repetitive lucrează la minimul necesar. Contribuții reale: definirea științifică a muncii, selecția personalului, separarea responsabilităților, stimulente și pauze. Gantt (Primul Război Mondial) introduce vizualizarea planului și a progresului. ÎNTREBARE: sistemele moderne de time tracking și KPI sunt Taylor în variantă digitală? Luăm 2 opinii pro și 2 contra, apoi legăm de Gantt: vizibilitatea poate fi și instrument de colaborare, nu doar de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(1,5 min). Exemplu de proiect software (ilustrativ). Axa orizontală este timpul, fiecare bară este o activitate, bara umplută este progresul real. Ce NU arată Gantt-ul: dependențele logice complete și ce activități chiar contează pentru termen. Exact această lipsă motivează CPM, pe care îl vedem imediat. Imaginea originală din curs (Clark, Wallace, Gantt) este în dreapta, ca să vedeți că ideea are peste un secol.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(3 min), EXERCIȚIU INTERACTIV, varianta simplă a drumului critic. Povestim: avem o aplicație de lansat. Cerințele durează 3 zile. Apoi lucrează în paralel două echipe: Backend (4 zile) urmat de API (5 zile) = 9 zile, și Design (2 zile) urmat de Frontend (3 zile) = 5 zile. La final, testarea și lansarea durează 2 zile și pot începe doar când AMBELE linii sunt gata. Total: 3 + 9 + 2 = 14 zile. Linia Backend + API este cea mai lungă, deci decide data lansării: este DRUMUL CRITIC. Linia Design + Frontend așteaptă 4 zile, adică are rezervă (slack) de 4 zile. Întrebări către sală: 1) Dacă Frontend-ul întârzie 2 zile, se amână lansarea? (Nu, are 4 zile rezervă.) 2) Dacă Backend-ul întârzie 2 zile? (Da, lansarea trece la 16 zile.) Legătura istorică: asta au rezolvat CPM (1957) și PERT (1958): arată ce activități nu au voie să întârzie. PERT folosește 3 estimări (optimist, probabil, pesimist) în loc de 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(2,5 min), încheiem blocul A. The Mythical Man-Month (Brooks, 1975): adăugarea de oameni într-un proiect software întârziat îl întârzie și mai mult. Motivul matematic: canalele de comunicare cresc ca n(n-1)/2, deci pătratic. 5 oameni = 10 canale, 20 de oameni = 190 canale. Plus costul de instruire a noilor veniți. DEZBATERE RAPIDĂ: este legea lui Brooks încă valabilă cu microservicii, documentație bună și tool-uri de colaborare? Luăm 2 argumente. Predăm apoi lui B: 'dacă proiectele sunt atât de grele de gestionat, hai să definim ce este de fapt un proiect'.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(1,5 min), preia scena. Definiția (PMBOK): efort temporar pentru un produs, serviciu sau rezultat unic. Cele patru caracteristici: TEMPORAR (început și sfârșit; rezultatele pot dura), UNIC, ELABORARE PROGRESIVĂ (pași și incremente, nu totul definit de la început), CONSTRÂNGERI de resurse. Nuanță importantă: un proiect se poate termina și prin eșec (obiective neîndeplinite). Imaginea din curs arată ciclul de viață: inițiere, planificare, execuție + monitorizare, închidere.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(2 min). Pentru fiecare exemplu spunem ce reprezintă. Pregătirea cinei: depinde, un banchet unic e proiect, masa zilnică e operațional. Fabricarea unei mașini: operațional (producție în serie, repetitivă). Design-ul unei mașini: proiect (rezultat unic, cu final). Redactarea unui articol: proiect (un rezultat unic, cu termen). Dezvoltarea unui sistem software: proiect. Menținerea unui sistem software: operațional (susține activitatea continuu; o versiune majoră poate fi tratată ca un nou proiect). Managementul personalului: operațional. Ideea: ambele sunt făcute de oameni, cu resurse limitate, planificate, executate și controlate. Diferența: proiectul urmărește un obiectiv și se încheie, operațiunile susțin business-ul. Putem cere sălii întâi părerea, apoi arătăm ce scrie pe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(1 min). Scară de agregare: subproiectul este o parte administrată ca proiect; proiectul produce un rezultat unic; programul grupează proiecte înrudite gestionate coordonat pentru un beneficiu; portofoliul grupează proiecte/programe fără legătură între ele, doar pentru a fi gestionate strategic. Exemplu rapid: o bancă are un portofoliu (mobile banking, migrare cloud, conformitate), iar 'mobile banking' este un program cu proiecte pentru iOS, Android și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(1,5 min). A: dezvoltare de aplicații (one-off, off-the-shelf, off-the-shelf customizat precum ERP). B: reingineria proceselor și sistemelor, ample, cer analiza situației existente, de obicei cu ERP. C: integrarea sistemelor, orizontală (sisteme similare) sau verticală (etape diferite ale unei proceduri). D: consultanță, expertiză adusă din exterior. E: instalare și training, sursă de venit și în open source. ÎNTREBARE către sală: la ce categorie intră un proiect personal pe care îl aveți sau l-ați avut? Luăm 2-3 răspunsuri. Exemple de ghidaj: o aplicație făcută pentru facultate (A), migrarea unei firme de la Excel la un ERP (B), conectarea a două sisteme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(1 min), moment de relaxare din curs. Cele 7 faze umoristice: entuziasm, deziluzie, confuzie, panică, căutarea vinovaților, pedepsirea nevinovaților, promovarea celor neparticipanți. Graficul este ILUSTRATIV, nu date reale. Întrebare: care fază v-a lovit cel mai tare la un proiect de echipă? Mesajul serios: lipsa unui proces și a comunicării duce la acest scenariu, exact de aici se justifică disciplina 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(2 min). Definiția PMBOK: individ sau organizație implicată activ sau al cărei interes poate fi afectat pozitiv sau negativ de proiect. Caracteristici: influențe și responsabilități diferite, roluri multiple, impact pozitiv sau negativ, greu de identificat; lipsa lor de implicare poate dăuna. Managerul și echipa sunt tot stakeholderi. Modelul cu inele din curs: INTERNI (echipa de proiect, echipa de management), DE MIJLOC (client/utilizator, sponsor, organizația participantă), EXTERNI (influenceri). Atenție la influencerii externi: nu sunt în proiect, dar îi pot schimba cursul.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(2 min), EXERCIȚIU. Împărțim sala în 5 grupuri mici (sau perechi). Fiecare ia un proiect și are 60-90 secunde să găsească 3 stakeholderi, dintre care cel puțin unul ascuns (nu sponsor, nu client). Exemple de răspunsuri: Pod către insulă: locuitorii insulei, pescarii și transportatorii pe feribot (pierd venit), autoritățile de mediu, firmele de construcții, asigurători. Groapă de gunoi: vecinii, primăria, autorități de mediu, ONG-uri, firma de salubritate, fermieri din zonă. Spreadsheet open source: dezvoltatori voluntari, comunitatea, companii care îl adoptă, concurenți comerciali. Aplicație de monitorizare a masei corporale: utilizatori, medici/nutriționiști, magazinele de aplicații, autoritatea GDPR, investitori. OpenOffice pe Android: Google, comunitatea OpenOffice, utilizatori, producători de telefoane. Tranziție: pentru aplicația de masă corporală avem o matrice putere-interes pe slide-ul următor.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(1,5 min). Instrument practic derivat din ideea cursului că stakeholderii au influențe diferite și trebuie identificați și implicați. Exemplu aplicație de monitorizare a masei corporale. Cadranele: putere mare + interes mare = gestionează îndeaproape (sponsor); putere mare + interes mic = menține satisfăcut (magazinele de aplicații, autoritatea GDPR); putere mică + interes mare = informează (utilizatori, medici); putere mică + interes mic = monitorizează. Plasările sunt discutabile, deci ÎNTREBARE către sală: mutați pe cineva? De ce utilizatorii finali au 'putere mică' deși produsul e pentru ei (recenzii, abandon)?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(1,5 min), pregătește dezbaterea finală. Managerul de proiect răspunde de gestiunea proiectului și a așteptărilor stakeholderilor. Competențele din curs: comunicare și negociere, predispoziție la risc, orientare spre scop, leadership, gândire creativă, cunoștințe tehnice solide, corectitudine profesională, bun simț, stil. Grupăm în trei familii: oameni, mindset, tehnic. Observație: din nouă competențe doar una este strict tehnică. ÎNTREBARE: dacă ai putea alege un singur PM: un tehnician genial cu comunicare slabă sau un comunicator excelent cu tehnic mediu? Votați.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 B (2 min). Încheiem cu o singură întrebare scurtă, care leagă tot ce am discutat. Cerem sălii să se gândească 20 de secunde la ultimul proiect de echipă care a mers prost (la facultate sau la muncă), apoi votează în poll ce a lipsit cel mai mult: un plan clar (Gantt, drum critic), implicarea unui stakeholder cheie, sau comunicarea în echipă. Arătăm rezultatul live și luăm 2 comentarii. Mesajul final: toate trei sunt probleme de management, nu de cod. Dacă mai rămâne timp, întrebăm: ce ați face diferit data viitoare?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 B (1 min). Rezumăm: cele 8 preocupări ale unui framework de dezvoltare software sunt chiar ce vom învăța în restul cursului: fezabilitate, scopuri, timp, costuri, controlul schimbărilor și configurații, calitate, riscuri, resurse umane. Gantt, CPM și PERT acoperă timpul; stakeholderii leagă scopul de oameni; Brooks atinge resursele umane. Cadrul trebuie să creeze viziune comună, să structureze lucrul progresiv, să reducă nesiguranța, să evidențieze abaterile, să asigure coerența și să motiveze echipa.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 B (rezervă 0-1 min). Rezumăm cele 3 idei și deschidem pentru întrebări. Dacă timpul s-a consumat, spunem doar cele 3 idei și mulțumim.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rtlCol="0"/>
          <a:lstStyle>
            <a:lvl1pPr algn="l" indent="0" marL="0">
              <a:buNone/>
              <a:defRPr lang="en-US" sz="2200" b="1" dirty="0">
                <a:solidFill>
                  <a:schemeClr val="tx1"/>
                </a:solidFill>
              </a:defRPr>
            </a:lvl1pPr>
          </a:lstStyle>
          <a:p>
            <a:pPr algn="l" indent="0" marL="0">
              <a:buNone/>
            </a:pPr>
            <a:r>
              <a:rPr lang="en-US" sz="2200" b="1" dirty="0">
                <a:solidFill>
                  <a:schemeClr val="tx1"/>
                </a:solidFill>
              </a:rPr>
              <a:t>Titlu</a:t>
            </a:r>
            <a:endParaRPr lang="en-US" sz="2200" dirty="0"/>
          </a:p>
        </p:txBody>
      </p:sp>
      <p:sp>
        <p:nvSpPr>
          <p:cNvPr id="3" name="Text 0"/>
          <p:cNvSpPr/>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chemeClr val="accent6"/>
                </a:solidFill>
              </a:rPr>
              <a:t>MPS  ·  Introducere, Proiecte și Stakeholderi</a:t>
            </a:r>
            <a:endParaRPr lang="en-US" sz="9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2263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13716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r>
              <a:rPr lang="en-US" sz="3800" b="1" dirty="0">
                <a:solidFill>
                  <a:schemeClr val="bg1"/>
                </a:solidFill>
              </a:rPr>
              <a:t>Titlu</a:t>
            </a:r>
            <a:endParaRPr lang="en-US" sz="3800" dirty="0"/>
          </a:p>
        </p:txBody>
      </p:sp>
      <p:sp>
        <p:nvSpPr>
          <p:cNvPr id="3" name="Text 0"/>
          <p:cNvSpPr/>
          <p:nvPr/>
        </p:nvSpPr>
        <p:spPr>
          <a:xfrm>
            <a:off x="457200" y="4828032"/>
            <a:ext cx="4572000" cy="228600"/>
          </a:xfrm>
          <a:prstGeom prst="rect">
            <a:avLst/>
          </a:prstGeom>
          <a:noFill/>
          <a:ln/>
        </p:spPr>
        <p:txBody>
          <a:bodyPr wrap="square" lIns="0" tIns="0" rIns="0" bIns="0" rtlCol="0" anchor="ctr"/>
          <a:lstStyle/>
          <a:p>
            <a:pPr indent="0" marL="0">
              <a:buNone/>
            </a:pPr>
            <a:r>
              <a:rPr lang="en-US" sz="900" dirty="0">
                <a:solidFill>
                  <a:schemeClr val="accent6"/>
                </a:solidFill>
              </a:rPr>
              <a:t>MPS  ·  Introducere, Proiecte și Stakeholderi</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2.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slideLayout" Target="../slideLayouts/slideLayout2.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cerc mare"/>
          <p:cNvSpPr/>
          <p:nvPr/>
        </p:nvSpPr>
        <p:spPr>
          <a:xfrm>
            <a:off x="6492240" y="-1097280"/>
            <a:ext cx="4206240" cy="4206240"/>
          </a:xfrm>
          <a:prstGeom prst="ellipse">
            <a:avLst/>
          </a:prstGeom>
          <a:solidFill>
            <a:schemeClr val="tx2">
              <a:alpha val="45000"/>
            </a:schemeClr>
          </a:solidFill>
          <a:ln w="12700">
            <a:solidFill>
              <a:schemeClr val="tx2"/>
            </a:solidFill>
            <a:prstDash val="solid"/>
          </a:ln>
        </p:spPr>
      </p:sp>
      <p:sp>
        <p:nvSpPr>
          <p:cNvPr id="3" name="Decor cerc mic"/>
          <p:cNvSpPr/>
          <p:nvPr/>
        </p:nvSpPr>
        <p:spPr>
          <a:xfrm>
            <a:off x="8229600" y="3566160"/>
            <a:ext cx="2011680" cy="2011680"/>
          </a:xfrm>
          <a:prstGeom prst="ellipse">
            <a:avLst/>
          </a:prstGeom>
          <a:solidFill>
            <a:schemeClr val="accent1">
              <a:alpha val="30000"/>
            </a:schemeClr>
          </a:solidFill>
          <a:ln w="12700">
            <a:solidFill>
              <a:schemeClr val="accent1"/>
            </a:solidFill>
            <a:prstDash val="solid"/>
          </a:ln>
        </p:spPr>
      </p:sp>
      <p:sp>
        <p:nvSpPr>
          <p:cNvPr id="4" name="Text 2"/>
          <p:cNvSpPr txBox="1"/>
          <p:nvPr/>
        </p:nvSpPr>
        <p:spPr>
          <a:xfrm>
            <a:off x="548640" y="685800"/>
            <a:ext cx="7315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MANAGEMENTUL PROIECTELOR SOFTWARE</a:t>
            </a:r>
            <a:endParaRPr lang="en-US" sz="1200" dirty="0"/>
          </a:p>
        </p:txBody>
      </p:sp>
      <p:sp>
        <p:nvSpPr>
          <p:cNvPr id="5" name="Text 0"/>
          <p:cNvSpPr/>
          <p:nvPr>
            <p:ph idx="100" type="title" hasCustomPrompt="1"/>
          </p:nvPr>
        </p:nvSpPr>
        <p:spPr>
          <a:xfrm>
            <a:off x="548640" y="1097280"/>
            <a:ext cx="8046720" cy="1371600"/>
          </a:xfrm>
          <a:prstGeom prst="rect">
            <a:avLst/>
          </a:prstGeom>
          <a:noFill/>
          <a:ln/>
        </p:spPr>
        <p:txBody>
          <a:bodyPr wrap="square" lIns="0" tIns="0" rIns="0" bIns="0" rtlCol="0" anchor="t"/>
          <a:lstStyle/>
          <a:p>
            <a:pPr algn="l" indent="0" marL="0">
              <a:buNone/>
            </a:pPr>
            <a:r>
              <a:rPr lang="en-US" sz="3800" b="1" dirty="0">
                <a:solidFill>
                  <a:schemeClr val="bg1"/>
                </a:solidFill>
              </a:rPr>
              <a:t>Cod bun, proiect eșuat?</a:t>
            </a:r>
            <a:endParaRPr lang="en-US" sz="3800" dirty="0"/>
          </a:p>
        </p:txBody>
      </p:sp>
      <p:sp>
        <p:nvSpPr>
          <p:cNvPr id="6" name="Text 4"/>
          <p:cNvSpPr txBox="1"/>
          <p:nvPr/>
        </p:nvSpPr>
        <p:spPr>
          <a:xfrm>
            <a:off x="548640" y="2377440"/>
            <a:ext cx="5760720" cy="822960"/>
          </a:xfrm>
          <a:prstGeom prst="rect">
            <a:avLst/>
          </a:prstGeom>
          <a:noFill/>
          <a:ln/>
        </p:spPr>
        <p:txBody>
          <a:bodyPr wrap="square" lIns="0" tIns="0" rIns="0" bIns="0" rtlCol="0" anchor="t"/>
          <a:lstStyle/>
          <a:p>
            <a:pPr indent="0" marL="0">
              <a:buNone/>
            </a:pPr>
            <a:r>
              <a:rPr lang="en-US" sz="1800" dirty="0">
                <a:solidFill>
                  <a:schemeClr val="bg2"/>
                </a:solidFill>
              </a:rPr>
              <a:t>De la Gantt și drumul critic la stakeholderi: ce face un proiect software să reușească</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1371600"/>
          </a:xfrm>
          <a:prstGeom prst="rect">
            <a:avLst/>
          </a:prstGeom>
          <a:noFill/>
          <a:ln/>
        </p:spPr>
        <p:txBody>
          <a:bodyPr wrap="square" lIns="0" tIns="0" rIns="0" bIns="0" rtlCol="0" anchor="t"/>
          <a:lstStyle/>
          <a:p>
            <a:pPr algn="l" indent="0" marL="0">
              <a:buNone/>
            </a:pPr>
            <a:r>
              <a:rPr lang="en-US" sz="3800" b="1" dirty="0">
                <a:solidFill>
                  <a:schemeClr val="bg1"/>
                </a:solidFill>
              </a:rPr>
              <a:t>Intrați în poll</a:t>
            </a:r>
            <a:endParaRPr lang="en-US" sz="3800" dirty="0"/>
          </a:p>
        </p:txBody>
      </p:sp>
      <p:sp>
        <p:nvSpPr>
          <p:cNvPr id="3" name="Text 1"/>
          <p:cNvSpPr txBox="1"/>
          <p:nvPr/>
        </p:nvSpPr>
        <p:spPr>
          <a:xfrm>
            <a:off x="548640" y="1828800"/>
            <a:ext cx="4572000" cy="1371600"/>
          </a:xfrm>
          <a:prstGeom prst="rect">
            <a:avLst/>
          </a:prstGeom>
          <a:noFill/>
          <a:ln/>
        </p:spPr>
        <p:txBody>
          <a:bodyPr wrap="square" lIns="0" tIns="0" rIns="0" bIns="0" rtlCol="0" anchor="t"/>
          <a:lstStyle/>
          <a:p>
            <a:pPr indent="0" marL="0">
              <a:spcAft>
                <a:spcPts val="1000"/>
              </a:spcAft>
              <a:buNone/>
            </a:pPr>
            <a:r>
              <a:rPr lang="en-US" sz="1800" dirty="0">
                <a:solidFill>
                  <a:schemeClr val="bg1"/>
                </a:solidFill>
              </a:rPr>
              <a:t>1.  Scanați codul cu telefonul</a:t>
            </a:r>
            <a:endParaRPr lang="en-US" sz="1800" dirty="0"/>
          </a:p>
          <a:p>
            <a:pPr indent="0" marL="0">
              <a:spcAft>
                <a:spcPts val="1000"/>
              </a:spcAft>
              <a:buNone/>
            </a:pPr>
            <a:r>
              <a:rPr lang="en-US" sz="1800" dirty="0">
                <a:solidFill>
                  <a:schemeClr val="bg1"/>
                </a:solidFill>
              </a:rPr>
              <a:t>2.  Deschideți pagina în contul Claude</a:t>
            </a:r>
            <a:endParaRPr lang="en-US" sz="1800" dirty="0"/>
          </a:p>
          <a:p>
            <a:pPr indent="0" marL="0">
              <a:spcAft>
                <a:spcPts val="1000"/>
              </a:spcAft>
              <a:buNone/>
            </a:pPr>
            <a:r>
              <a:rPr lang="en-US" sz="1800" dirty="0">
                <a:solidFill>
                  <a:schemeClr val="bg1"/>
                </a:solidFill>
              </a:rPr>
              <a:t>3.  Așteptați prima întrebare</a:t>
            </a:r>
            <a:endParaRPr lang="en-US" sz="1800" dirty="0"/>
          </a:p>
        </p:txBody>
      </p:sp>
      <p:sp>
        <p:nvSpPr>
          <p:cNvPr id="4" name="Text 2"/>
          <p:cNvSpPr txBox="1"/>
          <p:nvPr/>
        </p:nvSpPr>
        <p:spPr>
          <a:xfrm>
            <a:off x="548640" y="3383280"/>
            <a:ext cx="4572000" cy="731520"/>
          </a:xfrm>
          <a:prstGeom prst="rect">
            <a:avLst/>
          </a:prstGeom>
          <a:noFill/>
          <a:ln/>
        </p:spPr>
        <p:txBody>
          <a:bodyPr wrap="square" lIns="0" tIns="0" rIns="0" bIns="0" rtlCol="0" anchor="t"/>
          <a:lstStyle/>
          <a:p>
            <a:pPr indent="0" marL="0">
              <a:buNone/>
            </a:pPr>
            <a:r>
              <a:rPr lang="en-US" sz="1300" dirty="0">
                <a:solidFill>
                  <a:schemeClr val="accent6"/>
                </a:solidFill>
              </a:rPr>
              <a:t>Rămâneți conectați: întrebările pornesc pe parcurs, iar rezultatele apar pe ecran.</a:t>
            </a:r>
            <a:endParaRPr lang="en-US" sz="1300" dirty="0"/>
          </a:p>
        </p:txBody>
      </p:sp>
      <p:sp>
        <p:nvSpPr>
          <p:cNvPr id="5" name="Text 3"/>
          <p:cNvSpPr txBox="1"/>
          <p:nvPr/>
        </p:nvSpPr>
        <p:spPr>
          <a:xfrm>
            <a:off x="548640" y="4206240"/>
            <a:ext cx="4754880" cy="274320"/>
          </a:xfrm>
          <a:prstGeom prst="rect">
            <a:avLst/>
          </a:prstGeom>
          <a:noFill/>
          <a:ln/>
        </p:spPr>
        <p:txBody>
          <a:bodyPr wrap="square" lIns="0" tIns="0" rIns="0" bIns="0" rtlCol="0" anchor="t"/>
          <a:lstStyle/>
          <a:p>
            <a:pPr indent="0" marL="0">
              <a:buNone/>
            </a:pPr>
            <a:r>
              <a:rPr lang="en-US" sz="1000" dirty="0">
                <a:solidFill>
                  <a:schemeClr val="accent1"/>
                </a:solidFill>
              </a:rPr>
              <a:t>claude.ai/artifact/GjZziNBVD3syivLtybZ2rT</a:t>
            </a:r>
            <a:endParaRPr lang="en-US" sz="1000" dirty="0"/>
          </a:p>
        </p:txBody>
      </p:sp>
      <p:sp>
        <p:nvSpPr>
          <p:cNvPr id="6" name="Fundal QR mare"/>
          <p:cNvSpPr/>
          <p:nvPr/>
        </p:nvSpPr>
        <p:spPr>
          <a:xfrm>
            <a:off x="5577840" y="868680"/>
            <a:ext cx="3108960" cy="3108960"/>
          </a:xfrm>
          <a:prstGeom prst="roundRect">
            <a:avLst>
              <a:gd name="adj" fmla="val 4412"/>
            </a:avLst>
          </a:prstGeom>
          <a:solidFill>
            <a:schemeClr val="bg1"/>
          </a:solidFill>
          <a:ln w="12700">
            <a:solidFill>
              <a:schemeClr val="bg1"/>
            </a:solidFill>
            <a:prstDash val="solid"/>
          </a:ln>
        </p:spPr>
      </p:sp>
      <p:pic>
        <p:nvPicPr>
          <p:cNvPr id="7" name="Cod QR mare" descr="preencoded.png">    </p:cNvPr>
          <p:cNvPicPr>
            <a:picLocks noChangeAspect="1"/>
          </p:cNvPicPr>
          <p:nvPr/>
        </p:nvPicPr>
        <p:blipFill>
          <a:blip r:embed="rId1"/>
          <a:stretch>
            <a:fillRect/>
          </a:stretch>
        </p:blipFill>
        <p:spPr>
          <a:xfrm>
            <a:off x="5760720" y="1051560"/>
            <a:ext cx="2743200" cy="2743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200" b="1" dirty="0">
                <a:solidFill>
                  <a:schemeClr val="tx1"/>
                </a:solidFill>
              </a:rPr>
              <a:t>Cod impecabil, proiect pierdut?</a:t>
            </a:r>
            <a:endParaRPr lang="en-US" sz="2200" dirty="0"/>
          </a:p>
        </p:txBody>
      </p:sp>
      <p:sp>
        <p:nvSpPr>
          <p:cNvPr id="3" name="Chip prezentator"/>
          <p:cNvSpPr/>
          <p:nvPr/>
        </p:nvSpPr>
        <p:spPr>
          <a:xfrm>
            <a:off x="7589520" y="384048"/>
            <a:ext cx="1097280" cy="292608"/>
          </a:xfrm>
          <a:prstGeom prst="roundRect">
            <a:avLst>
              <a:gd name="adj" fmla="val 50000"/>
            </a:avLst>
          </a:prstGeom>
          <a:solidFill>
            <a:schemeClr val="accent4"/>
          </a:solidFill>
          <a:ln w="12700">
            <a:solidFill>
              <a:schemeClr val="accent4"/>
            </a:solidFill>
            <a:prstDash val="solid"/>
          </a:ln>
        </p:spPr>
      </p:sp>
      <p:sp>
        <p:nvSpPr>
          <p:cNvPr id="4" name="Text prezentator"/>
          <p:cNvSpPr txBox="1"/>
          <p:nvPr/>
        </p:nvSpPr>
        <p:spPr>
          <a:xfrm>
            <a:off x="7589520" y="384048"/>
            <a:ext cx="1097280" cy="292608"/>
          </a:xfrm>
          <a:prstGeom prst="rect">
            <a:avLst/>
          </a:prstGeom>
          <a:noFill/>
          <a:ln/>
        </p:spPr>
        <p:txBody>
          <a:bodyPr wrap="square" lIns="0" tIns="0" rIns="0" bIns="0" rtlCol="0" anchor="ctr"/>
          <a:lstStyle/>
          <a:p>
            <a:pPr algn="ctr" indent="0" marL="0">
              <a:buNone/>
            </a:pPr>
            <a:r>
              <a:rPr lang="en-US" sz="1100" b="1" dirty="0">
                <a:solidFill>
                  <a:schemeClr val="bg1"/>
                </a:solidFill>
              </a:rPr>
              <a:t>A  ·  2'</a:t>
            </a:r>
            <a:endParaRPr lang="en-US" sz="1100" dirty="0"/>
          </a:p>
        </p:txBody>
      </p:sp>
      <p:sp>
        <p:nvSpPr>
          <p:cNvPr id="6" name="Card scenariu 1"/>
          <p:cNvSpPr/>
          <p:nvPr/>
        </p:nvSpPr>
        <p:spPr>
          <a:xfrm>
            <a:off x="457200" y="1097280"/>
            <a:ext cx="2651760" cy="2606040"/>
          </a:xfrm>
          <a:prstGeom prst="roundRect">
            <a:avLst>
              <a:gd name="adj" fmla="val 3509"/>
            </a:avLst>
          </a:prstGeom>
          <a:solidFill>
            <a:schemeClr val="bg2"/>
          </a:solidFill>
          <a:ln w="12700">
            <a:solidFill>
              <a:schemeClr val="bg2"/>
            </a:solidFill>
            <a:prstDash val="solid"/>
          </a:ln>
        </p:spPr>
      </p:sp>
      <p:sp>
        <p:nvSpPr>
          <p:cNvPr id="7" name="Icon scenariu 1 cerc"/>
          <p:cNvSpPr/>
          <p:nvPr/>
        </p:nvSpPr>
        <p:spPr>
          <a:xfrm>
            <a:off x="640080" y="1371600"/>
            <a:ext cx="640080" cy="640080"/>
          </a:xfrm>
          <a:prstGeom prst="ellipse">
            <a:avLst/>
          </a:prstGeom>
          <a:solidFill>
            <a:schemeClr val="accent4"/>
          </a:solidFill>
          <a:ln w="12700">
            <a:solidFill>
              <a:schemeClr val="accent4"/>
            </a:solidFill>
            <a:prstDash val="solid"/>
          </a:ln>
        </p:spPr>
      </p:sp>
      <p:pic>
        <p:nvPicPr>
          <p:cNvPr id="8" name="Icon scenariu 1" descr="preencoded.png">    </p:cNvPr>
          <p:cNvPicPr>
            <a:picLocks noChangeAspect="1"/>
          </p:cNvPicPr>
          <p:nvPr/>
        </p:nvPicPr>
        <p:blipFill>
          <a:blip r:embed="rId1"/>
          <a:stretch>
            <a:fillRect/>
          </a:stretch>
        </p:blipFill>
        <p:spPr>
          <a:xfrm>
            <a:off x="806501" y="1538021"/>
            <a:ext cx="307238" cy="307238"/>
          </a:xfrm>
          <a:prstGeom prst="rect">
            <a:avLst/>
          </a:prstGeom>
        </p:spPr>
      </p:pic>
      <p:sp>
        <p:nvSpPr>
          <p:cNvPr id="9" name="Text 5"/>
          <p:cNvSpPr txBox="1"/>
          <p:nvPr/>
        </p:nvSpPr>
        <p:spPr>
          <a:xfrm>
            <a:off x="2468880" y="1325880"/>
            <a:ext cx="502920" cy="640080"/>
          </a:xfrm>
          <a:prstGeom prst="rect">
            <a:avLst/>
          </a:prstGeom>
          <a:noFill/>
          <a:ln/>
        </p:spPr>
        <p:txBody>
          <a:bodyPr wrap="square" lIns="0" tIns="0" rIns="0" bIns="0" rtlCol="0" anchor="t"/>
          <a:lstStyle/>
          <a:p>
            <a:pPr algn="r" indent="0" marL="0">
              <a:buNone/>
            </a:pPr>
            <a:r>
              <a:rPr lang="en-US" sz="4000" b="1" dirty="0">
                <a:solidFill>
                  <a:schemeClr val="accent6"/>
                </a:solidFill>
              </a:rPr>
              <a:t>1</a:t>
            </a:r>
            <a:endParaRPr lang="en-US" sz="4000" dirty="0"/>
          </a:p>
        </p:txBody>
      </p:sp>
      <p:sp>
        <p:nvSpPr>
          <p:cNvPr id="10" name="Text 6"/>
          <p:cNvSpPr txBox="1"/>
          <p:nvPr/>
        </p:nvSpPr>
        <p:spPr>
          <a:xfrm>
            <a:off x="640080" y="2194560"/>
            <a:ext cx="2286000" cy="320040"/>
          </a:xfrm>
          <a:prstGeom prst="rect">
            <a:avLst/>
          </a:prstGeom>
          <a:noFill/>
          <a:ln/>
        </p:spPr>
        <p:txBody>
          <a:bodyPr wrap="square" lIns="0" tIns="0" rIns="0" bIns="0" rtlCol="0" anchor="t"/>
          <a:lstStyle/>
          <a:p>
            <a:pPr indent="0" marL="0">
              <a:buNone/>
            </a:pPr>
            <a:r>
              <a:rPr lang="en-US" sz="1500" b="1" dirty="0">
                <a:solidFill>
                  <a:schemeClr val="tx1"/>
                </a:solidFill>
              </a:rPr>
              <a:t>Cerințe scrise perfect</a:t>
            </a:r>
            <a:endParaRPr lang="en-US" sz="1500" dirty="0"/>
          </a:p>
        </p:txBody>
      </p:sp>
      <p:sp>
        <p:nvSpPr>
          <p:cNvPr id="11" name="Text 7"/>
          <p:cNvSpPr txBox="1"/>
          <p:nvPr/>
        </p:nvSpPr>
        <p:spPr>
          <a:xfrm>
            <a:off x="640080" y="2560320"/>
            <a:ext cx="2286000" cy="1005840"/>
          </a:xfrm>
          <a:prstGeom prst="rect">
            <a:avLst/>
          </a:prstGeom>
          <a:noFill/>
          <a:ln/>
        </p:spPr>
        <p:txBody>
          <a:bodyPr wrap="square" lIns="0" tIns="0" rIns="0" bIns="0" rtlCol="0" anchor="t"/>
          <a:lstStyle/>
          <a:p>
            <a:pPr indent="0" marL="0">
              <a:buNone/>
            </a:pPr>
            <a:r>
              <a:rPr lang="en-US" sz="1200" dirty="0">
                <a:solidFill>
                  <a:schemeClr val="tx2"/>
                </a:solidFill>
              </a:rPr>
              <a:t>…dar nimeni nu controlează cum se acceptă și se urmăresc modificările.</a:t>
            </a:r>
            <a:endParaRPr lang="en-US" sz="1200" dirty="0"/>
          </a:p>
        </p:txBody>
      </p:sp>
      <p:sp>
        <p:nvSpPr>
          <p:cNvPr id="12" name="Card scenariu 2"/>
          <p:cNvSpPr/>
          <p:nvPr/>
        </p:nvSpPr>
        <p:spPr>
          <a:xfrm>
            <a:off x="3246120" y="1097280"/>
            <a:ext cx="2651760" cy="2606040"/>
          </a:xfrm>
          <a:prstGeom prst="roundRect">
            <a:avLst>
              <a:gd name="adj" fmla="val 3509"/>
            </a:avLst>
          </a:prstGeom>
          <a:solidFill>
            <a:schemeClr val="bg2"/>
          </a:solidFill>
          <a:ln w="12700">
            <a:solidFill>
              <a:schemeClr val="bg2"/>
            </a:solidFill>
            <a:prstDash val="solid"/>
          </a:ln>
        </p:spPr>
      </p:sp>
      <p:sp>
        <p:nvSpPr>
          <p:cNvPr id="13" name="Icon scenariu 2 cerc"/>
          <p:cNvSpPr/>
          <p:nvPr/>
        </p:nvSpPr>
        <p:spPr>
          <a:xfrm>
            <a:off x="3429000" y="1371600"/>
            <a:ext cx="640080" cy="640080"/>
          </a:xfrm>
          <a:prstGeom prst="ellipse">
            <a:avLst/>
          </a:prstGeom>
          <a:solidFill>
            <a:schemeClr val="accent3"/>
          </a:solidFill>
          <a:ln w="12700">
            <a:solidFill>
              <a:schemeClr val="accent3"/>
            </a:solidFill>
            <a:prstDash val="solid"/>
          </a:ln>
        </p:spPr>
      </p:sp>
      <p:pic>
        <p:nvPicPr>
          <p:cNvPr id="14" name="Icon scenariu 2" descr="preencoded.png">    </p:cNvPr>
          <p:cNvPicPr>
            <a:picLocks noChangeAspect="1"/>
          </p:cNvPicPr>
          <p:nvPr/>
        </p:nvPicPr>
        <p:blipFill>
          <a:blip r:embed="rId2"/>
          <a:stretch>
            <a:fillRect/>
          </a:stretch>
        </p:blipFill>
        <p:spPr>
          <a:xfrm>
            <a:off x="3595421" y="1538021"/>
            <a:ext cx="307238" cy="307238"/>
          </a:xfrm>
          <a:prstGeom prst="rect">
            <a:avLst/>
          </a:prstGeom>
        </p:spPr>
      </p:pic>
      <p:sp>
        <p:nvSpPr>
          <p:cNvPr id="15" name="Text 10"/>
          <p:cNvSpPr txBox="1"/>
          <p:nvPr/>
        </p:nvSpPr>
        <p:spPr>
          <a:xfrm>
            <a:off x="5257800" y="1325880"/>
            <a:ext cx="502920" cy="640080"/>
          </a:xfrm>
          <a:prstGeom prst="rect">
            <a:avLst/>
          </a:prstGeom>
          <a:noFill/>
          <a:ln/>
        </p:spPr>
        <p:txBody>
          <a:bodyPr wrap="square" lIns="0" tIns="0" rIns="0" bIns="0" rtlCol="0" anchor="t"/>
          <a:lstStyle/>
          <a:p>
            <a:pPr algn="r" indent="0" marL="0">
              <a:buNone/>
            </a:pPr>
            <a:r>
              <a:rPr lang="en-US" sz="4000" b="1" dirty="0">
                <a:solidFill>
                  <a:schemeClr val="accent6"/>
                </a:solidFill>
              </a:rPr>
              <a:t>2</a:t>
            </a:r>
            <a:endParaRPr lang="en-US" sz="4000" dirty="0"/>
          </a:p>
        </p:txBody>
      </p:sp>
      <p:sp>
        <p:nvSpPr>
          <p:cNvPr id="16" name="Text 11"/>
          <p:cNvSpPr txBox="1"/>
          <p:nvPr/>
        </p:nvSpPr>
        <p:spPr>
          <a:xfrm>
            <a:off x="3429000" y="2194560"/>
            <a:ext cx="2286000" cy="320040"/>
          </a:xfrm>
          <a:prstGeom prst="rect">
            <a:avLst/>
          </a:prstGeom>
          <a:noFill/>
          <a:ln/>
        </p:spPr>
        <p:txBody>
          <a:bodyPr wrap="square" lIns="0" tIns="0" rIns="0" bIns="0" rtlCol="0" anchor="t"/>
          <a:lstStyle/>
          <a:p>
            <a:pPr indent="0" marL="0">
              <a:buNone/>
            </a:pPr>
            <a:r>
              <a:rPr lang="en-US" sz="1500" b="1" dirty="0">
                <a:solidFill>
                  <a:schemeClr val="tx1"/>
                </a:solidFill>
              </a:rPr>
              <a:t>Teste excelente</a:t>
            </a:r>
            <a:endParaRPr lang="en-US" sz="1500" dirty="0"/>
          </a:p>
        </p:txBody>
      </p:sp>
      <p:sp>
        <p:nvSpPr>
          <p:cNvPr id="17" name="Text 12"/>
          <p:cNvSpPr txBox="1"/>
          <p:nvPr/>
        </p:nvSpPr>
        <p:spPr>
          <a:xfrm>
            <a:off x="3429000" y="2560320"/>
            <a:ext cx="2286000" cy="1005840"/>
          </a:xfrm>
          <a:prstGeom prst="rect">
            <a:avLst/>
          </a:prstGeom>
          <a:noFill/>
          <a:ln/>
        </p:spPr>
        <p:txBody>
          <a:bodyPr wrap="square" lIns="0" tIns="0" rIns="0" bIns="0" rtlCol="0" anchor="t"/>
          <a:lstStyle/>
          <a:p>
            <a:pPr indent="0" marL="0">
              <a:buNone/>
            </a:pPr>
            <a:r>
              <a:rPr lang="en-US" sz="1200" dirty="0">
                <a:solidFill>
                  <a:schemeClr val="tx2"/>
                </a:solidFill>
              </a:rPr>
              <a:t>…dar estimarea a fost prea optimistă, lansarea a întârziat și nu a mai rămas timp de testat.</a:t>
            </a:r>
            <a:endParaRPr lang="en-US" sz="1200" dirty="0"/>
          </a:p>
        </p:txBody>
      </p:sp>
      <p:sp>
        <p:nvSpPr>
          <p:cNvPr id="18" name="Card scenariu 3"/>
          <p:cNvSpPr/>
          <p:nvPr/>
        </p:nvSpPr>
        <p:spPr>
          <a:xfrm>
            <a:off x="6035040" y="1097280"/>
            <a:ext cx="2651760" cy="2606040"/>
          </a:xfrm>
          <a:prstGeom prst="roundRect">
            <a:avLst>
              <a:gd name="adj" fmla="val 3509"/>
            </a:avLst>
          </a:prstGeom>
          <a:solidFill>
            <a:schemeClr val="bg2"/>
          </a:solidFill>
          <a:ln w="12700">
            <a:solidFill>
              <a:schemeClr val="bg2"/>
            </a:solidFill>
            <a:prstDash val="solid"/>
          </a:ln>
        </p:spPr>
      </p:sp>
      <p:sp>
        <p:nvSpPr>
          <p:cNvPr id="19" name="Icon scenariu 3 cerc"/>
          <p:cNvSpPr/>
          <p:nvPr/>
        </p:nvSpPr>
        <p:spPr>
          <a:xfrm>
            <a:off x="6217920" y="1371600"/>
            <a:ext cx="640080" cy="640080"/>
          </a:xfrm>
          <a:prstGeom prst="ellipse">
            <a:avLst/>
          </a:prstGeom>
          <a:solidFill>
            <a:schemeClr val="accent2"/>
          </a:solidFill>
          <a:ln w="12700">
            <a:solidFill>
              <a:schemeClr val="accent2"/>
            </a:solidFill>
            <a:prstDash val="solid"/>
          </a:ln>
        </p:spPr>
      </p:sp>
      <p:pic>
        <p:nvPicPr>
          <p:cNvPr id="20" name="Icon scenariu 3" descr="preencoded.png">    </p:cNvPr>
          <p:cNvPicPr>
            <a:picLocks noChangeAspect="1"/>
          </p:cNvPicPr>
          <p:nvPr/>
        </p:nvPicPr>
        <p:blipFill>
          <a:blip r:embed="rId3"/>
          <a:stretch>
            <a:fillRect/>
          </a:stretch>
        </p:blipFill>
        <p:spPr>
          <a:xfrm>
            <a:off x="6384341" y="1538021"/>
            <a:ext cx="307238" cy="307238"/>
          </a:xfrm>
          <a:prstGeom prst="rect">
            <a:avLst/>
          </a:prstGeom>
        </p:spPr>
      </p:pic>
      <p:sp>
        <p:nvSpPr>
          <p:cNvPr id="21" name="Text 15"/>
          <p:cNvSpPr txBox="1"/>
          <p:nvPr/>
        </p:nvSpPr>
        <p:spPr>
          <a:xfrm>
            <a:off x="8046720" y="1325880"/>
            <a:ext cx="502920" cy="640080"/>
          </a:xfrm>
          <a:prstGeom prst="rect">
            <a:avLst/>
          </a:prstGeom>
          <a:noFill/>
          <a:ln/>
        </p:spPr>
        <p:txBody>
          <a:bodyPr wrap="square" lIns="0" tIns="0" rIns="0" bIns="0" rtlCol="0" anchor="t"/>
          <a:lstStyle/>
          <a:p>
            <a:pPr algn="r" indent="0" marL="0">
              <a:buNone/>
            </a:pPr>
            <a:r>
              <a:rPr lang="en-US" sz="4000" b="1" dirty="0">
                <a:solidFill>
                  <a:schemeClr val="accent6"/>
                </a:solidFill>
              </a:rPr>
              <a:t>3</a:t>
            </a:r>
            <a:endParaRPr lang="en-US" sz="4000" dirty="0"/>
          </a:p>
        </p:txBody>
      </p:sp>
      <p:sp>
        <p:nvSpPr>
          <p:cNvPr id="22" name="Text 16"/>
          <p:cNvSpPr txBox="1"/>
          <p:nvPr/>
        </p:nvSpPr>
        <p:spPr>
          <a:xfrm>
            <a:off x="6217920" y="2194560"/>
            <a:ext cx="2286000" cy="320040"/>
          </a:xfrm>
          <a:prstGeom prst="rect">
            <a:avLst/>
          </a:prstGeom>
          <a:noFill/>
          <a:ln/>
        </p:spPr>
        <p:txBody>
          <a:bodyPr wrap="square" lIns="0" tIns="0" rIns="0" bIns="0" rtlCol="0" anchor="t"/>
          <a:lstStyle/>
          <a:p>
            <a:pPr indent="0" marL="0">
              <a:buNone/>
            </a:pPr>
            <a:r>
              <a:rPr lang="en-US" sz="1500" b="1" dirty="0">
                <a:solidFill>
                  <a:schemeClr val="tx1"/>
                </a:solidFill>
              </a:rPr>
              <a:t>Muncă fără cod</a:t>
            </a:r>
            <a:endParaRPr lang="en-US" sz="1500" dirty="0"/>
          </a:p>
        </p:txBody>
      </p:sp>
      <p:sp>
        <p:nvSpPr>
          <p:cNvPr id="23" name="Text 17"/>
          <p:cNvSpPr txBox="1"/>
          <p:nvPr/>
        </p:nvSpPr>
        <p:spPr>
          <a:xfrm>
            <a:off x="6217920" y="2560320"/>
            <a:ext cx="2286000" cy="1005840"/>
          </a:xfrm>
          <a:prstGeom prst="rect">
            <a:avLst/>
          </a:prstGeom>
          <a:noFill/>
          <a:ln/>
        </p:spPr>
        <p:txBody>
          <a:bodyPr wrap="square" lIns="0" tIns="0" rIns="0" bIns="0" rtlCol="0" anchor="t"/>
          <a:lstStyle/>
          <a:p>
            <a:pPr indent="0" marL="0">
              <a:buNone/>
            </a:pPr>
            <a:r>
              <a:rPr lang="en-US" sz="1200" dirty="0">
                <a:solidFill>
                  <a:schemeClr val="tx2"/>
                </a:solidFill>
              </a:rPr>
              <a:t>Instruirea utilizatorilor, comunicarea, documentația: cineva trebuie să le planifice.</a:t>
            </a:r>
            <a:endParaRPr lang="en-US" sz="1200" dirty="0"/>
          </a:p>
        </p:txBody>
      </p:sp>
      <p:sp>
        <p:nvSpPr>
          <p:cNvPr id="24" name="Bara poll"/>
          <p:cNvSpPr/>
          <p:nvPr/>
        </p:nvSpPr>
        <p:spPr>
          <a:xfrm>
            <a:off x="457200" y="3886200"/>
            <a:ext cx="8229600" cy="731520"/>
          </a:xfrm>
          <a:prstGeom prst="roundRect">
            <a:avLst>
              <a:gd name="adj" fmla="val 12500"/>
            </a:avLst>
          </a:prstGeom>
          <a:solidFill>
            <a:schemeClr val="tx1"/>
          </a:solidFill>
          <a:ln w="12700">
            <a:solidFill>
              <a:schemeClr val="tx1"/>
            </a:solidFill>
            <a:prstDash val="solid"/>
          </a:ln>
        </p:spPr>
      </p:sp>
      <p:sp>
        <p:nvSpPr>
          <p:cNvPr id="25" name="Eticheta poll"/>
          <p:cNvSpPr txBox="1"/>
          <p:nvPr/>
        </p:nvSpPr>
        <p:spPr>
          <a:xfrm>
            <a:off x="640080" y="3886200"/>
            <a:ext cx="1188720" cy="731520"/>
          </a:xfrm>
          <a:prstGeom prst="rect">
            <a:avLst/>
          </a:prstGeom>
          <a:noFill/>
          <a:ln/>
        </p:spPr>
        <p:txBody>
          <a:bodyPr wrap="square" lIns="0" tIns="0" rIns="0" bIns="0" rtlCol="0" anchor="ctr"/>
          <a:lstStyle/>
          <a:p>
            <a:pPr indent="0" marL="0">
              <a:buNone/>
            </a:pPr>
            <a:r>
              <a:rPr lang="en-US" sz="1200" b="1" dirty="0">
                <a:solidFill>
                  <a:schemeClr val="accent1"/>
                </a:solidFill>
              </a:rPr>
              <a:t>POLL</a:t>
            </a:r>
            <a:endParaRPr lang="en-US" sz="1200" dirty="0"/>
          </a:p>
          <a:p>
            <a:pPr indent="0" marL="0">
              <a:buNone/>
            </a:pPr>
            <a:r>
              <a:rPr lang="en-US" sz="1000" dirty="0">
                <a:solidFill>
                  <a:schemeClr val="accent1"/>
                </a:solidFill>
              </a:rPr>
              <a:t>Întrebarea 1</a:t>
            </a:r>
            <a:endParaRPr lang="en-US" sz="1200" dirty="0"/>
          </a:p>
        </p:txBody>
      </p:sp>
      <p:sp>
        <p:nvSpPr>
          <p:cNvPr id="26" name="Text poll"/>
          <p:cNvSpPr txBox="1"/>
          <p:nvPr/>
        </p:nvSpPr>
        <p:spPr>
          <a:xfrm>
            <a:off x="1874520" y="3886200"/>
            <a:ext cx="6583680" cy="731520"/>
          </a:xfrm>
          <a:prstGeom prst="rect">
            <a:avLst/>
          </a:prstGeom>
          <a:noFill/>
          <a:ln/>
        </p:spPr>
        <p:txBody>
          <a:bodyPr wrap="square" lIns="0" tIns="0" rIns="0" bIns="0" rtlCol="0" anchor="ctr"/>
          <a:lstStyle/>
          <a:p>
            <a:pPr indent="0" marL="0">
              <a:buNone/>
            </a:pPr>
            <a:r>
              <a:rPr lang="en-US" sz="1400" dirty="0">
                <a:solidFill>
                  <a:schemeClr val="bg1"/>
                </a:solidFill>
              </a:rPr>
              <a:t>Care dintre cele trei strică cele mai multe proiecte reale?</a:t>
            </a:r>
            <a:endParaRPr lang="en-US" sz="1400" dirty="0"/>
          </a:p>
          <a:p>
            <a:pPr indent="0" marL="0">
              <a:buNone/>
            </a:pPr>
            <a:r>
              <a:rPr lang="en-US" sz="900" dirty="0">
                <a:solidFill>
                  <a:schemeClr val="accent6"/>
                </a:solidFill>
              </a:rPr>
              <a:t>Votați de pe telefon, în pagina de poll deschisă după scanarea codului</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200" b="1" dirty="0">
                <a:solidFill>
                  <a:schemeClr val="tx1"/>
                </a:solidFill>
              </a:rPr>
              <a:t>De ce e special software-ul?</a:t>
            </a:r>
            <a:endParaRPr lang="en-US" sz="2200" dirty="0"/>
          </a:p>
        </p:txBody>
      </p:sp>
      <p:sp>
        <p:nvSpPr>
          <p:cNvPr id="3" name="Chip prezentator"/>
          <p:cNvSpPr/>
          <p:nvPr/>
        </p:nvSpPr>
        <p:spPr>
          <a:xfrm>
            <a:off x="7589520" y="384048"/>
            <a:ext cx="1097280" cy="292608"/>
          </a:xfrm>
          <a:prstGeom prst="roundRect">
            <a:avLst>
              <a:gd name="adj" fmla="val 50000"/>
            </a:avLst>
          </a:prstGeom>
          <a:solidFill>
            <a:schemeClr val="accent4"/>
          </a:solidFill>
          <a:ln w="12700">
            <a:solidFill>
              <a:schemeClr val="accent4"/>
            </a:solidFill>
            <a:prstDash val="solid"/>
          </a:ln>
        </p:spPr>
      </p:sp>
      <p:sp>
        <p:nvSpPr>
          <p:cNvPr id="4" name="Text prezentator"/>
          <p:cNvSpPr txBox="1"/>
          <p:nvPr/>
        </p:nvSpPr>
        <p:spPr>
          <a:xfrm>
            <a:off x="7589520" y="384048"/>
            <a:ext cx="1097280" cy="292608"/>
          </a:xfrm>
          <a:prstGeom prst="rect">
            <a:avLst/>
          </a:prstGeom>
          <a:noFill/>
          <a:ln/>
        </p:spPr>
        <p:txBody>
          <a:bodyPr wrap="square" lIns="0" tIns="0" rIns="0" bIns="0" rtlCol="0" anchor="ctr"/>
          <a:lstStyle/>
          <a:p>
            <a:pPr algn="ctr" indent="0" marL="0">
              <a:buNone/>
            </a:pPr>
            <a:r>
              <a:rPr lang="en-US" sz="1100" b="1" dirty="0">
                <a:solidFill>
                  <a:schemeClr val="bg1"/>
                </a:solidFill>
              </a:rPr>
              <a:t>A  ·  2'</a:t>
            </a:r>
            <a:endParaRPr lang="en-US" sz="1100" dirty="0"/>
          </a:p>
        </p:txBody>
      </p:sp>
      <p:sp>
        <p:nvSpPr>
          <p:cNvPr id="6" name="Card caracteristica 1"/>
          <p:cNvSpPr/>
          <p:nvPr/>
        </p:nvSpPr>
        <p:spPr>
          <a:xfrm>
            <a:off x="457200" y="1188720"/>
            <a:ext cx="2651760" cy="1600200"/>
          </a:xfrm>
          <a:prstGeom prst="roundRect">
            <a:avLst>
              <a:gd name="adj" fmla="val 5714"/>
            </a:avLst>
          </a:prstGeom>
          <a:solidFill>
            <a:schemeClr val="bg2"/>
          </a:solidFill>
          <a:ln w="12700">
            <a:solidFill>
              <a:schemeClr val="bg2"/>
            </a:solidFill>
            <a:prstDash val="solid"/>
          </a:ln>
        </p:spPr>
      </p:sp>
      <p:sp>
        <p:nvSpPr>
          <p:cNvPr id="7" name="Icon caracteristica 1 cerc"/>
          <p:cNvSpPr/>
          <p:nvPr/>
        </p:nvSpPr>
        <p:spPr>
          <a:xfrm>
            <a:off x="640080" y="1371600"/>
            <a:ext cx="548640" cy="548640"/>
          </a:xfrm>
          <a:prstGeom prst="ellipse">
            <a:avLst/>
          </a:prstGeom>
          <a:solidFill>
            <a:schemeClr val="accent4"/>
          </a:solidFill>
          <a:ln w="12700">
            <a:solidFill>
              <a:schemeClr val="accent4"/>
            </a:solidFill>
            <a:prstDash val="solid"/>
          </a:ln>
        </p:spPr>
      </p:sp>
      <p:pic>
        <p:nvPicPr>
          <p:cNvPr id="8" name="Icon caracteristica 1" descr="preencoded.png">    </p:cNvPr>
          <p:cNvPicPr>
            <a:picLocks noChangeAspect="1"/>
          </p:cNvPicPr>
          <p:nvPr/>
        </p:nvPicPr>
        <p:blipFill>
          <a:blip r:embed="rId1"/>
          <a:stretch>
            <a:fillRect/>
          </a:stretch>
        </p:blipFill>
        <p:spPr>
          <a:xfrm>
            <a:off x="782726" y="1514246"/>
            <a:ext cx="263347" cy="263347"/>
          </a:xfrm>
          <a:prstGeom prst="rect">
            <a:avLst/>
          </a:prstGeom>
        </p:spPr>
      </p:pic>
      <p:sp>
        <p:nvSpPr>
          <p:cNvPr id="9" name="Text 5"/>
          <p:cNvSpPr txBox="1"/>
          <p:nvPr/>
        </p:nvSpPr>
        <p:spPr>
          <a:xfrm>
            <a:off x="640080" y="2011680"/>
            <a:ext cx="2286000" cy="274320"/>
          </a:xfrm>
          <a:prstGeom prst="rect">
            <a:avLst/>
          </a:prstGeom>
          <a:noFill/>
          <a:ln/>
        </p:spPr>
        <p:txBody>
          <a:bodyPr wrap="square" lIns="0" tIns="0" rIns="0" bIns="0" rtlCol="0" anchor="t"/>
          <a:lstStyle/>
          <a:p>
            <a:pPr indent="0" marL="0">
              <a:buNone/>
            </a:pPr>
            <a:r>
              <a:rPr lang="en-US" sz="1400" b="1" dirty="0">
                <a:solidFill>
                  <a:schemeClr val="tx1"/>
                </a:solidFill>
              </a:rPr>
              <a:t>Produs intangibil</a:t>
            </a:r>
            <a:endParaRPr lang="en-US" sz="1400" dirty="0"/>
          </a:p>
        </p:txBody>
      </p:sp>
      <p:sp>
        <p:nvSpPr>
          <p:cNvPr id="10" name="Text 6"/>
          <p:cNvSpPr txBox="1"/>
          <p:nvPr/>
        </p:nvSpPr>
        <p:spPr>
          <a:xfrm>
            <a:off x="640080" y="2286000"/>
            <a:ext cx="2331720" cy="457200"/>
          </a:xfrm>
          <a:prstGeom prst="rect">
            <a:avLst/>
          </a:prstGeom>
          <a:noFill/>
          <a:ln/>
        </p:spPr>
        <p:txBody>
          <a:bodyPr wrap="square" lIns="0" tIns="0" rIns="0" bIns="0" rtlCol="0" anchor="t"/>
          <a:lstStyle/>
          <a:p>
            <a:pPr indent="0" marL="0">
              <a:buNone/>
            </a:pPr>
            <a:r>
              <a:rPr lang="en-US" sz="1100" dirty="0">
                <a:solidFill>
                  <a:schemeClr val="tx2"/>
                </a:solidFill>
              </a:rPr>
              <a:t>Nu-l poți vedea sau atinge; progresul e greu de măsurat</a:t>
            </a:r>
            <a:endParaRPr lang="en-US" sz="1100" dirty="0"/>
          </a:p>
        </p:txBody>
      </p:sp>
      <p:sp>
        <p:nvSpPr>
          <p:cNvPr id="11" name="Card caracteristica 2"/>
          <p:cNvSpPr/>
          <p:nvPr/>
        </p:nvSpPr>
        <p:spPr>
          <a:xfrm>
            <a:off x="3246120" y="1188720"/>
            <a:ext cx="2651760" cy="1600200"/>
          </a:xfrm>
          <a:prstGeom prst="roundRect">
            <a:avLst>
              <a:gd name="adj" fmla="val 5714"/>
            </a:avLst>
          </a:prstGeom>
          <a:solidFill>
            <a:schemeClr val="bg2"/>
          </a:solidFill>
          <a:ln w="12700">
            <a:solidFill>
              <a:schemeClr val="bg2"/>
            </a:solidFill>
            <a:prstDash val="solid"/>
          </a:ln>
        </p:spPr>
      </p:sp>
      <p:sp>
        <p:nvSpPr>
          <p:cNvPr id="12" name="Icon caracteristica 2 cerc"/>
          <p:cNvSpPr/>
          <p:nvPr/>
        </p:nvSpPr>
        <p:spPr>
          <a:xfrm>
            <a:off x="3429000" y="1371600"/>
            <a:ext cx="548640" cy="548640"/>
          </a:xfrm>
          <a:prstGeom prst="ellipse">
            <a:avLst/>
          </a:prstGeom>
          <a:solidFill>
            <a:schemeClr val="accent2"/>
          </a:solidFill>
          <a:ln w="12700">
            <a:solidFill>
              <a:schemeClr val="accent2"/>
            </a:solidFill>
            <a:prstDash val="solid"/>
          </a:ln>
        </p:spPr>
      </p:sp>
      <p:pic>
        <p:nvPicPr>
          <p:cNvPr id="13" name="Icon caracteristica 2" descr="preencoded.png">    </p:cNvPr>
          <p:cNvPicPr>
            <a:picLocks noChangeAspect="1"/>
          </p:cNvPicPr>
          <p:nvPr/>
        </p:nvPicPr>
        <p:blipFill>
          <a:blip r:embed="rId2"/>
          <a:stretch>
            <a:fillRect/>
          </a:stretch>
        </p:blipFill>
        <p:spPr>
          <a:xfrm>
            <a:off x="3571646" y="1514246"/>
            <a:ext cx="263347" cy="263347"/>
          </a:xfrm>
          <a:prstGeom prst="rect">
            <a:avLst/>
          </a:prstGeom>
        </p:spPr>
      </p:pic>
      <p:sp>
        <p:nvSpPr>
          <p:cNvPr id="14" name="Text 9"/>
          <p:cNvSpPr txBox="1"/>
          <p:nvPr/>
        </p:nvSpPr>
        <p:spPr>
          <a:xfrm>
            <a:off x="3429000" y="2011680"/>
            <a:ext cx="2286000" cy="274320"/>
          </a:xfrm>
          <a:prstGeom prst="rect">
            <a:avLst/>
          </a:prstGeom>
          <a:noFill/>
          <a:ln/>
        </p:spPr>
        <p:txBody>
          <a:bodyPr wrap="square" lIns="0" tIns="0" rIns="0" bIns="0" rtlCol="0" anchor="t"/>
          <a:lstStyle/>
          <a:p>
            <a:pPr indent="0" marL="0">
              <a:buNone/>
            </a:pPr>
            <a:r>
              <a:rPr lang="en-US" sz="1400" b="1" dirty="0">
                <a:solidFill>
                  <a:schemeClr val="tx1"/>
                </a:solidFill>
              </a:rPr>
              <a:t>Produs flexibil</a:t>
            </a:r>
            <a:endParaRPr lang="en-US" sz="1400" dirty="0"/>
          </a:p>
        </p:txBody>
      </p:sp>
      <p:sp>
        <p:nvSpPr>
          <p:cNvPr id="15" name="Text 10"/>
          <p:cNvSpPr txBox="1"/>
          <p:nvPr/>
        </p:nvSpPr>
        <p:spPr>
          <a:xfrm>
            <a:off x="3429000" y="2286000"/>
            <a:ext cx="2331720" cy="457200"/>
          </a:xfrm>
          <a:prstGeom prst="rect">
            <a:avLst/>
          </a:prstGeom>
          <a:noFill/>
          <a:ln/>
        </p:spPr>
        <p:txBody>
          <a:bodyPr wrap="square" lIns="0" tIns="0" rIns="0" bIns="0" rtlCol="0" anchor="t"/>
          <a:lstStyle/>
          <a:p>
            <a:pPr indent="0" marL="0">
              <a:buNone/>
            </a:pPr>
            <a:r>
              <a:rPr lang="en-US" sz="1100" dirty="0">
                <a:solidFill>
                  <a:schemeClr val="tx2"/>
                </a:solidFill>
              </a:rPr>
              <a:t>Dimensiuni și constrângeri diferite de la caz la caz</a:t>
            </a:r>
            <a:endParaRPr lang="en-US" sz="1100" dirty="0"/>
          </a:p>
        </p:txBody>
      </p:sp>
      <p:sp>
        <p:nvSpPr>
          <p:cNvPr id="16" name="Card caracteristica 3"/>
          <p:cNvSpPr/>
          <p:nvPr/>
        </p:nvSpPr>
        <p:spPr>
          <a:xfrm>
            <a:off x="6035040" y="1188720"/>
            <a:ext cx="2651760" cy="1600200"/>
          </a:xfrm>
          <a:prstGeom prst="roundRect">
            <a:avLst>
              <a:gd name="adj" fmla="val 5714"/>
            </a:avLst>
          </a:prstGeom>
          <a:solidFill>
            <a:schemeClr val="bg2"/>
          </a:solidFill>
          <a:ln w="12700">
            <a:solidFill>
              <a:schemeClr val="bg2"/>
            </a:solidFill>
            <a:prstDash val="solid"/>
          </a:ln>
        </p:spPr>
      </p:sp>
      <p:sp>
        <p:nvSpPr>
          <p:cNvPr id="17" name="Icon caracteristica 3 cerc"/>
          <p:cNvSpPr/>
          <p:nvPr/>
        </p:nvSpPr>
        <p:spPr>
          <a:xfrm>
            <a:off x="6217920" y="1371600"/>
            <a:ext cx="548640" cy="548640"/>
          </a:xfrm>
          <a:prstGeom prst="ellipse">
            <a:avLst/>
          </a:prstGeom>
          <a:solidFill>
            <a:schemeClr val="accent5"/>
          </a:solidFill>
          <a:ln w="12700">
            <a:solidFill>
              <a:schemeClr val="accent5"/>
            </a:solidFill>
            <a:prstDash val="solid"/>
          </a:ln>
        </p:spPr>
      </p:sp>
      <p:pic>
        <p:nvPicPr>
          <p:cNvPr id="18" name="Icon caracteristica 3" descr="preencoded.png">    </p:cNvPr>
          <p:cNvPicPr>
            <a:picLocks noChangeAspect="1"/>
          </p:cNvPicPr>
          <p:nvPr/>
        </p:nvPicPr>
        <p:blipFill>
          <a:blip r:embed="rId3"/>
          <a:stretch>
            <a:fillRect/>
          </a:stretch>
        </p:blipFill>
        <p:spPr>
          <a:xfrm>
            <a:off x="6360566" y="1514246"/>
            <a:ext cx="263347" cy="263347"/>
          </a:xfrm>
          <a:prstGeom prst="rect">
            <a:avLst/>
          </a:prstGeom>
        </p:spPr>
      </p:pic>
      <p:sp>
        <p:nvSpPr>
          <p:cNvPr id="19" name="Text 13"/>
          <p:cNvSpPr txBox="1"/>
          <p:nvPr/>
        </p:nvSpPr>
        <p:spPr>
          <a:xfrm>
            <a:off x="6217920" y="2011680"/>
            <a:ext cx="2286000" cy="274320"/>
          </a:xfrm>
          <a:prstGeom prst="rect">
            <a:avLst/>
          </a:prstGeom>
          <a:noFill/>
          <a:ln/>
        </p:spPr>
        <p:txBody>
          <a:bodyPr wrap="square" lIns="0" tIns="0" rIns="0" bIns="0" rtlCol="0" anchor="t"/>
          <a:lstStyle/>
          <a:p>
            <a:pPr indent="0" marL="0">
              <a:buNone/>
            </a:pPr>
            <a:r>
              <a:rPr lang="en-US" sz="1400" b="1" dirty="0">
                <a:solidFill>
                  <a:schemeClr val="tx1"/>
                </a:solidFill>
              </a:rPr>
              <a:t>Adesea irepetabil</a:t>
            </a:r>
            <a:endParaRPr lang="en-US" sz="1400" dirty="0"/>
          </a:p>
        </p:txBody>
      </p:sp>
      <p:sp>
        <p:nvSpPr>
          <p:cNvPr id="20" name="Text 14"/>
          <p:cNvSpPr txBox="1"/>
          <p:nvPr/>
        </p:nvSpPr>
        <p:spPr>
          <a:xfrm>
            <a:off x="6217920" y="2286000"/>
            <a:ext cx="2331720" cy="457200"/>
          </a:xfrm>
          <a:prstGeom prst="rect">
            <a:avLst/>
          </a:prstGeom>
          <a:noFill/>
          <a:ln/>
        </p:spPr>
        <p:txBody>
          <a:bodyPr wrap="square" lIns="0" tIns="0" rIns="0" bIns="0" rtlCol="0" anchor="t"/>
          <a:lstStyle/>
          <a:p>
            <a:pPr indent="0" marL="0">
              <a:buNone/>
            </a:pPr>
            <a:r>
              <a:rPr lang="en-US" sz="1100" dirty="0">
                <a:solidFill>
                  <a:schemeClr val="tx2"/>
                </a:solidFill>
              </a:rPr>
              <a:t>Multe proiecte pot fi făcute o singură dată</a:t>
            </a:r>
            <a:endParaRPr lang="en-US" sz="1100" dirty="0"/>
          </a:p>
        </p:txBody>
      </p:sp>
      <p:sp>
        <p:nvSpPr>
          <p:cNvPr id="21" name="Card caracteristica 4"/>
          <p:cNvSpPr/>
          <p:nvPr/>
        </p:nvSpPr>
        <p:spPr>
          <a:xfrm>
            <a:off x="457200" y="2926080"/>
            <a:ext cx="2651760" cy="1600200"/>
          </a:xfrm>
          <a:prstGeom prst="roundRect">
            <a:avLst>
              <a:gd name="adj" fmla="val 5714"/>
            </a:avLst>
          </a:prstGeom>
          <a:solidFill>
            <a:schemeClr val="bg2"/>
          </a:solidFill>
          <a:ln w="12700">
            <a:solidFill>
              <a:schemeClr val="bg2"/>
            </a:solidFill>
            <a:prstDash val="solid"/>
          </a:ln>
        </p:spPr>
      </p:sp>
      <p:sp>
        <p:nvSpPr>
          <p:cNvPr id="22" name="Icon caracteristica 4 cerc"/>
          <p:cNvSpPr/>
          <p:nvPr/>
        </p:nvSpPr>
        <p:spPr>
          <a:xfrm>
            <a:off x="640080" y="3108960"/>
            <a:ext cx="548640" cy="548640"/>
          </a:xfrm>
          <a:prstGeom prst="ellipse">
            <a:avLst/>
          </a:prstGeom>
          <a:solidFill>
            <a:schemeClr val="accent4"/>
          </a:solidFill>
          <a:ln w="12700">
            <a:solidFill>
              <a:schemeClr val="accent4"/>
            </a:solidFill>
            <a:prstDash val="solid"/>
          </a:ln>
        </p:spPr>
      </p:sp>
      <p:pic>
        <p:nvPicPr>
          <p:cNvPr id="23" name="Icon caracteristica 4" descr="preencoded.png">    </p:cNvPr>
          <p:cNvPicPr>
            <a:picLocks noChangeAspect="1"/>
          </p:cNvPicPr>
          <p:nvPr/>
        </p:nvPicPr>
        <p:blipFill>
          <a:blip r:embed="rId4"/>
          <a:stretch>
            <a:fillRect/>
          </a:stretch>
        </p:blipFill>
        <p:spPr>
          <a:xfrm>
            <a:off x="782726" y="3251606"/>
            <a:ext cx="263347" cy="263347"/>
          </a:xfrm>
          <a:prstGeom prst="rect">
            <a:avLst/>
          </a:prstGeom>
        </p:spPr>
      </p:pic>
      <p:sp>
        <p:nvSpPr>
          <p:cNvPr id="24" name="Text 17"/>
          <p:cNvSpPr txBox="1"/>
          <p:nvPr/>
        </p:nvSpPr>
        <p:spPr>
          <a:xfrm>
            <a:off x="640080" y="3749040"/>
            <a:ext cx="2286000" cy="274320"/>
          </a:xfrm>
          <a:prstGeom prst="rect">
            <a:avLst/>
          </a:prstGeom>
          <a:noFill/>
          <a:ln/>
        </p:spPr>
        <p:txBody>
          <a:bodyPr wrap="square" lIns="0" tIns="0" rIns="0" bIns="0" rtlCol="0" anchor="t"/>
          <a:lstStyle/>
          <a:p>
            <a:pPr indent="0" marL="0">
              <a:buNone/>
            </a:pPr>
            <a:r>
              <a:rPr lang="en-US" sz="1400" b="1" dirty="0">
                <a:solidFill>
                  <a:schemeClr val="tx1"/>
                </a:solidFill>
              </a:rPr>
              <a:t>Proces flexibil</a:t>
            </a:r>
            <a:endParaRPr lang="en-US" sz="1400" dirty="0"/>
          </a:p>
        </p:txBody>
      </p:sp>
      <p:sp>
        <p:nvSpPr>
          <p:cNvPr id="25" name="Text 18"/>
          <p:cNvSpPr txBox="1"/>
          <p:nvPr/>
        </p:nvSpPr>
        <p:spPr>
          <a:xfrm>
            <a:off x="640080" y="4023360"/>
            <a:ext cx="2331720" cy="457200"/>
          </a:xfrm>
          <a:prstGeom prst="rect">
            <a:avLst/>
          </a:prstGeom>
          <a:noFill/>
          <a:ln/>
        </p:spPr>
        <p:txBody>
          <a:bodyPr wrap="square" lIns="0" tIns="0" rIns="0" bIns="0" rtlCol="0" anchor="t"/>
          <a:lstStyle/>
          <a:p>
            <a:pPr indent="0" marL="0">
              <a:buNone/>
            </a:pPr>
            <a:r>
              <a:rPr lang="en-US" sz="1100" dirty="0">
                <a:solidFill>
                  <a:schemeClr val="tx2"/>
                </a:solidFill>
              </a:rPr>
              <a:t>Nu există o singură rețetă de dezvoltare</a:t>
            </a:r>
            <a:endParaRPr lang="en-US" sz="1100" dirty="0"/>
          </a:p>
        </p:txBody>
      </p:sp>
      <p:sp>
        <p:nvSpPr>
          <p:cNvPr id="26" name="Card caracteristica 5"/>
          <p:cNvSpPr/>
          <p:nvPr/>
        </p:nvSpPr>
        <p:spPr>
          <a:xfrm>
            <a:off x="3246120" y="2926080"/>
            <a:ext cx="2651760" cy="1600200"/>
          </a:xfrm>
          <a:prstGeom prst="roundRect">
            <a:avLst>
              <a:gd name="adj" fmla="val 5714"/>
            </a:avLst>
          </a:prstGeom>
          <a:solidFill>
            <a:schemeClr val="bg2"/>
          </a:solidFill>
          <a:ln w="12700">
            <a:solidFill>
              <a:schemeClr val="bg2"/>
            </a:solidFill>
            <a:prstDash val="solid"/>
          </a:ln>
        </p:spPr>
      </p:sp>
      <p:sp>
        <p:nvSpPr>
          <p:cNvPr id="27" name="Icon caracteristica 5 cerc"/>
          <p:cNvSpPr/>
          <p:nvPr/>
        </p:nvSpPr>
        <p:spPr>
          <a:xfrm>
            <a:off x="3429000" y="3108960"/>
            <a:ext cx="548640" cy="548640"/>
          </a:xfrm>
          <a:prstGeom prst="ellipse">
            <a:avLst/>
          </a:prstGeom>
          <a:solidFill>
            <a:schemeClr val="accent3"/>
          </a:solidFill>
          <a:ln w="12700">
            <a:solidFill>
              <a:schemeClr val="accent3"/>
            </a:solidFill>
            <a:prstDash val="solid"/>
          </a:ln>
        </p:spPr>
      </p:sp>
      <p:pic>
        <p:nvPicPr>
          <p:cNvPr id="28" name="Icon caracteristica 5" descr="preencoded.png">    </p:cNvPr>
          <p:cNvPicPr>
            <a:picLocks noChangeAspect="1"/>
          </p:cNvPicPr>
          <p:nvPr/>
        </p:nvPicPr>
        <p:blipFill>
          <a:blip r:embed="rId5"/>
          <a:stretch>
            <a:fillRect/>
          </a:stretch>
        </p:blipFill>
        <p:spPr>
          <a:xfrm>
            <a:off x="3571646" y="3251606"/>
            <a:ext cx="263347" cy="263347"/>
          </a:xfrm>
          <a:prstGeom prst="rect">
            <a:avLst/>
          </a:prstGeom>
        </p:spPr>
      </p:pic>
      <p:sp>
        <p:nvSpPr>
          <p:cNvPr id="29" name="Text 21"/>
          <p:cNvSpPr txBox="1"/>
          <p:nvPr/>
        </p:nvSpPr>
        <p:spPr>
          <a:xfrm>
            <a:off x="3429000" y="3749040"/>
            <a:ext cx="2286000" cy="274320"/>
          </a:xfrm>
          <a:prstGeom prst="rect">
            <a:avLst/>
          </a:prstGeom>
          <a:noFill/>
          <a:ln/>
        </p:spPr>
        <p:txBody>
          <a:bodyPr wrap="square" lIns="0" tIns="0" rIns="0" bIns="0" rtlCol="0" anchor="t"/>
          <a:lstStyle/>
          <a:p>
            <a:pPr indent="0" marL="0">
              <a:buNone/>
            </a:pPr>
            <a:r>
              <a:rPr lang="en-US" sz="1400" b="1" dirty="0">
                <a:solidFill>
                  <a:schemeClr val="tx1"/>
                </a:solidFill>
              </a:rPr>
              <a:t>Complexitate exponențială</a:t>
            </a:r>
            <a:endParaRPr lang="en-US" sz="1400" dirty="0"/>
          </a:p>
        </p:txBody>
      </p:sp>
      <p:sp>
        <p:nvSpPr>
          <p:cNvPr id="30" name="Text 22"/>
          <p:cNvSpPr txBox="1"/>
          <p:nvPr/>
        </p:nvSpPr>
        <p:spPr>
          <a:xfrm>
            <a:off x="3429000" y="4023360"/>
            <a:ext cx="2331720" cy="457200"/>
          </a:xfrm>
          <a:prstGeom prst="rect">
            <a:avLst/>
          </a:prstGeom>
          <a:noFill/>
          <a:ln/>
        </p:spPr>
        <p:txBody>
          <a:bodyPr wrap="square" lIns="0" tIns="0" rIns="0" bIns="0" rtlCol="0" anchor="t"/>
          <a:lstStyle/>
          <a:p>
            <a:pPr indent="0" marL="0">
              <a:buNone/>
            </a:pPr>
            <a:r>
              <a:rPr lang="en-US" sz="1100" dirty="0">
                <a:solidFill>
                  <a:schemeClr val="tx2"/>
                </a:solidFill>
              </a:rPr>
              <a:t>Dimensiunea și legăturile cresc mai repede decât echipa</a:t>
            </a:r>
            <a:endParaRPr lang="en-US" sz="1100" dirty="0"/>
          </a:p>
        </p:txBody>
      </p:sp>
      <p:sp>
        <p:nvSpPr>
          <p:cNvPr id="31" name="Card caracteristica 6"/>
          <p:cNvSpPr/>
          <p:nvPr/>
        </p:nvSpPr>
        <p:spPr>
          <a:xfrm>
            <a:off x="6035040" y="2926080"/>
            <a:ext cx="2651760" cy="1600200"/>
          </a:xfrm>
          <a:prstGeom prst="roundRect">
            <a:avLst>
              <a:gd name="adj" fmla="val 5714"/>
            </a:avLst>
          </a:prstGeom>
          <a:solidFill>
            <a:schemeClr val="bg2"/>
          </a:solidFill>
          <a:ln w="12700">
            <a:solidFill>
              <a:schemeClr val="bg2"/>
            </a:solidFill>
            <a:prstDash val="solid"/>
          </a:ln>
        </p:spPr>
      </p:sp>
      <p:sp>
        <p:nvSpPr>
          <p:cNvPr id="32" name="Icon caracteristica 6 cerc"/>
          <p:cNvSpPr/>
          <p:nvPr/>
        </p:nvSpPr>
        <p:spPr>
          <a:xfrm>
            <a:off x="6217920" y="3108960"/>
            <a:ext cx="548640" cy="548640"/>
          </a:xfrm>
          <a:prstGeom prst="ellipse">
            <a:avLst/>
          </a:prstGeom>
          <a:solidFill>
            <a:schemeClr val="accent3"/>
          </a:solidFill>
          <a:ln w="12700">
            <a:solidFill>
              <a:schemeClr val="accent3"/>
            </a:solidFill>
            <a:prstDash val="solid"/>
          </a:ln>
        </p:spPr>
      </p:sp>
      <p:pic>
        <p:nvPicPr>
          <p:cNvPr id="33" name="Icon caracteristica 6" descr="preencoded.png">    </p:cNvPr>
          <p:cNvPicPr>
            <a:picLocks noChangeAspect="1"/>
          </p:cNvPicPr>
          <p:nvPr/>
        </p:nvPicPr>
        <p:blipFill>
          <a:blip r:embed="rId6"/>
          <a:stretch>
            <a:fillRect/>
          </a:stretch>
        </p:blipFill>
        <p:spPr>
          <a:xfrm>
            <a:off x="6360566" y="3251606"/>
            <a:ext cx="263347" cy="263347"/>
          </a:xfrm>
          <a:prstGeom prst="rect">
            <a:avLst/>
          </a:prstGeom>
        </p:spPr>
      </p:pic>
      <p:sp>
        <p:nvSpPr>
          <p:cNvPr id="34" name="Text 25"/>
          <p:cNvSpPr txBox="1"/>
          <p:nvPr/>
        </p:nvSpPr>
        <p:spPr>
          <a:xfrm>
            <a:off x="6217920" y="3749040"/>
            <a:ext cx="2286000" cy="274320"/>
          </a:xfrm>
          <a:prstGeom prst="rect">
            <a:avLst/>
          </a:prstGeom>
          <a:noFill/>
          <a:ln/>
        </p:spPr>
        <p:txBody>
          <a:bodyPr wrap="square" lIns="0" tIns="0" rIns="0" bIns="0" rtlCol="0" anchor="t"/>
          <a:lstStyle/>
          <a:p>
            <a:pPr indent="0" marL="0">
              <a:buNone/>
            </a:pPr>
            <a:r>
              <a:rPr lang="en-US" sz="1400" b="1" dirty="0">
                <a:solidFill>
                  <a:schemeClr val="tx1"/>
                </a:solidFill>
              </a:rPr>
              <a:t>Vieți în joc</a:t>
            </a:r>
            <a:endParaRPr lang="en-US" sz="1400" dirty="0"/>
          </a:p>
        </p:txBody>
      </p:sp>
      <p:sp>
        <p:nvSpPr>
          <p:cNvPr id="35" name="Text 26"/>
          <p:cNvSpPr txBox="1"/>
          <p:nvPr/>
        </p:nvSpPr>
        <p:spPr>
          <a:xfrm>
            <a:off x="6217920" y="4023360"/>
            <a:ext cx="2331720" cy="457200"/>
          </a:xfrm>
          <a:prstGeom prst="rect">
            <a:avLst/>
          </a:prstGeom>
          <a:noFill/>
          <a:ln/>
        </p:spPr>
        <p:txBody>
          <a:bodyPr wrap="square" lIns="0" tIns="0" rIns="0" bIns="0" rtlCol="0" anchor="t"/>
          <a:lstStyle/>
          <a:p>
            <a:pPr indent="0" marL="0">
              <a:buNone/>
            </a:pPr>
            <a:r>
              <a:rPr lang="en-US" sz="1100" dirty="0">
                <a:solidFill>
                  <a:schemeClr val="tx2"/>
                </a:solidFill>
              </a:rPr>
              <a:t>Sisteme critice: controlul unei aeronave, frânarea unui tren</a:t>
            </a:r>
            <a:endParaRPr lang="en-US" sz="1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200" b="1" dirty="0">
                <a:solidFill>
                  <a:schemeClr val="tx1"/>
                </a:solidFill>
              </a:rPr>
              <a:t>Scurtă istorie a managementului de proiect</a:t>
            </a:r>
            <a:endParaRPr lang="en-US" sz="2200" dirty="0"/>
          </a:p>
        </p:txBody>
      </p:sp>
      <p:sp>
        <p:nvSpPr>
          <p:cNvPr id="3" name="Chip prezentator"/>
          <p:cNvSpPr/>
          <p:nvPr/>
        </p:nvSpPr>
        <p:spPr>
          <a:xfrm>
            <a:off x="7589520" y="384048"/>
            <a:ext cx="1097280" cy="292608"/>
          </a:xfrm>
          <a:prstGeom prst="roundRect">
            <a:avLst>
              <a:gd name="adj" fmla="val 50000"/>
            </a:avLst>
          </a:prstGeom>
          <a:solidFill>
            <a:schemeClr val="accent4"/>
          </a:solidFill>
          <a:ln w="12700">
            <a:solidFill>
              <a:schemeClr val="accent4"/>
            </a:solidFill>
            <a:prstDash val="solid"/>
          </a:ln>
        </p:spPr>
      </p:sp>
      <p:sp>
        <p:nvSpPr>
          <p:cNvPr id="4" name="Text prezentator"/>
          <p:cNvSpPr txBox="1"/>
          <p:nvPr/>
        </p:nvSpPr>
        <p:spPr>
          <a:xfrm>
            <a:off x="7589520" y="384048"/>
            <a:ext cx="1097280" cy="292608"/>
          </a:xfrm>
          <a:prstGeom prst="rect">
            <a:avLst/>
          </a:prstGeom>
          <a:noFill/>
          <a:ln/>
        </p:spPr>
        <p:txBody>
          <a:bodyPr wrap="square" lIns="0" tIns="0" rIns="0" bIns="0" rtlCol="0" anchor="ctr"/>
          <a:lstStyle/>
          <a:p>
            <a:pPr algn="ctr" indent="0" marL="0">
              <a:buNone/>
            </a:pPr>
            <a:r>
              <a:rPr lang="en-US" sz="1100" b="1" dirty="0">
                <a:solidFill>
                  <a:schemeClr val="bg1"/>
                </a:solidFill>
              </a:rPr>
              <a:t>A  ·  2'</a:t>
            </a:r>
            <a:endParaRPr lang="en-US" sz="1100" dirty="0"/>
          </a:p>
        </p:txBody>
      </p:sp>
      <p:sp>
        <p:nvSpPr>
          <p:cNvPr id="6" name="Axa timp"/>
          <p:cNvSpPr/>
          <p:nvPr/>
        </p:nvSpPr>
        <p:spPr>
          <a:xfrm>
            <a:off x="457200" y="2788920"/>
            <a:ext cx="8229600" cy="0"/>
          </a:xfrm>
          <a:prstGeom prst="line">
            <a:avLst/>
          </a:prstGeom>
          <a:noFill/>
          <a:ln w="25400">
            <a:solidFill>
              <a:schemeClr val="accent6"/>
            </a:solidFill>
            <a:prstDash val="solid"/>
          </a:ln>
        </p:spPr>
      </p:sp>
      <p:sp>
        <p:nvSpPr>
          <p:cNvPr id="7" name="Marcaj 1900s"/>
          <p:cNvSpPr/>
          <p:nvPr/>
        </p:nvSpPr>
        <p:spPr>
          <a:xfrm>
            <a:off x="1088136" y="2688336"/>
            <a:ext cx="201168" cy="201168"/>
          </a:xfrm>
          <a:prstGeom prst="ellipse">
            <a:avLst/>
          </a:prstGeom>
          <a:solidFill>
            <a:schemeClr val="accent3"/>
          </a:solidFill>
          <a:ln w="25400">
            <a:solidFill>
              <a:schemeClr val="bg1"/>
            </a:solidFill>
            <a:prstDash val="solid"/>
          </a:ln>
        </p:spPr>
      </p:sp>
      <p:sp>
        <p:nvSpPr>
          <p:cNvPr id="8" name="Text 5"/>
          <p:cNvSpPr txBox="1"/>
          <p:nvPr/>
        </p:nvSpPr>
        <p:spPr>
          <a:xfrm>
            <a:off x="411480" y="1005840"/>
            <a:ext cx="1554480" cy="1600200"/>
          </a:xfrm>
          <a:prstGeom prst="rect">
            <a:avLst/>
          </a:prstGeom>
          <a:noFill/>
          <a:ln/>
        </p:spPr>
        <p:txBody>
          <a:bodyPr wrap="square" lIns="0" tIns="0" rIns="0" bIns="0" rtlCol="0" anchor="b"/>
          <a:lstStyle/>
          <a:p>
            <a:pPr algn="ctr" indent="0" marL="0">
              <a:buNone/>
            </a:pPr>
            <a:r>
              <a:rPr lang="en-US" sz="2000" b="1" dirty="0">
                <a:solidFill>
                  <a:schemeClr val="accent3"/>
                </a:solidFill>
              </a:rPr>
              <a:t>1900s</a:t>
            </a:r>
            <a:endParaRPr lang="en-US" sz="2000" dirty="0"/>
          </a:p>
          <a:p>
            <a:pPr algn="ctr" indent="0" marL="0">
              <a:buNone/>
            </a:pPr>
            <a:r>
              <a:rPr lang="en-US" sz="1300" b="1" dirty="0">
                <a:solidFill>
                  <a:schemeClr val="tx1"/>
                </a:solidFill>
              </a:rPr>
              <a:t>Taylor</a:t>
            </a:r>
            <a:endParaRPr lang="en-US" sz="2000" dirty="0"/>
          </a:p>
          <a:p>
            <a:pPr algn="ctr" indent="0" marL="0">
              <a:buNone/>
            </a:pPr>
            <a:r>
              <a:rPr lang="en-US" sz="1100" dirty="0">
                <a:solidFill>
                  <a:schemeClr val="tx2"/>
                </a:solidFill>
              </a:rPr>
              <a:t>Scientific Management: prima teorie despre muncă și management</a:t>
            </a:r>
            <a:endParaRPr lang="en-US" sz="2000" dirty="0"/>
          </a:p>
        </p:txBody>
      </p:sp>
      <p:sp>
        <p:nvSpPr>
          <p:cNvPr id="9" name="Marcaj 1910s"/>
          <p:cNvSpPr/>
          <p:nvPr/>
        </p:nvSpPr>
        <p:spPr>
          <a:xfrm>
            <a:off x="2048256" y="2688336"/>
            <a:ext cx="201168" cy="201168"/>
          </a:xfrm>
          <a:prstGeom prst="ellipse">
            <a:avLst/>
          </a:prstGeom>
          <a:solidFill>
            <a:schemeClr val="accent4"/>
          </a:solidFill>
          <a:ln w="25400">
            <a:solidFill>
              <a:schemeClr val="bg1"/>
            </a:solidFill>
            <a:prstDash val="solid"/>
          </a:ln>
        </p:spPr>
      </p:sp>
      <p:sp>
        <p:nvSpPr>
          <p:cNvPr id="10" name="Text 7"/>
          <p:cNvSpPr txBox="1"/>
          <p:nvPr/>
        </p:nvSpPr>
        <p:spPr>
          <a:xfrm>
            <a:off x="1371600" y="3108960"/>
            <a:ext cx="1554480" cy="1600200"/>
          </a:xfrm>
          <a:prstGeom prst="rect">
            <a:avLst/>
          </a:prstGeom>
          <a:noFill/>
          <a:ln/>
        </p:spPr>
        <p:txBody>
          <a:bodyPr wrap="square" lIns="0" tIns="0" rIns="0" bIns="0" rtlCol="0" anchor="t"/>
          <a:lstStyle/>
          <a:p>
            <a:pPr algn="ctr" indent="0" marL="0">
              <a:buNone/>
            </a:pPr>
            <a:r>
              <a:rPr lang="en-US" sz="2000" b="1" dirty="0">
                <a:solidFill>
                  <a:schemeClr val="accent4"/>
                </a:solidFill>
              </a:rPr>
              <a:t>1910s</a:t>
            </a:r>
            <a:endParaRPr lang="en-US" sz="2000" dirty="0"/>
          </a:p>
          <a:p>
            <a:pPr algn="ctr" indent="0" marL="0">
              <a:buNone/>
            </a:pPr>
            <a:r>
              <a:rPr lang="en-US" sz="1300" b="1" dirty="0">
                <a:solidFill>
                  <a:schemeClr val="tx1"/>
                </a:solidFill>
              </a:rPr>
              <a:t>Gantt</a:t>
            </a:r>
            <a:endParaRPr lang="en-US" sz="2000" dirty="0"/>
          </a:p>
          <a:p>
            <a:pPr algn="ctr" indent="0" marL="0">
              <a:buNone/>
            </a:pPr>
            <a:r>
              <a:rPr lang="en-US" sz="1100" dirty="0">
                <a:solidFill>
                  <a:schemeClr val="tx2"/>
                </a:solidFill>
              </a:rPr>
              <a:t>Planificarea separă munca planificată de progres (șantiere navale)</a:t>
            </a:r>
            <a:endParaRPr lang="en-US" sz="2000" dirty="0"/>
          </a:p>
        </p:txBody>
      </p:sp>
      <p:sp>
        <p:nvSpPr>
          <p:cNvPr id="11" name="Marcaj 1957-58"/>
          <p:cNvSpPr/>
          <p:nvPr/>
        </p:nvSpPr>
        <p:spPr>
          <a:xfrm>
            <a:off x="3008376" y="2688336"/>
            <a:ext cx="201168" cy="201168"/>
          </a:xfrm>
          <a:prstGeom prst="ellipse">
            <a:avLst/>
          </a:prstGeom>
          <a:solidFill>
            <a:schemeClr val="accent2"/>
          </a:solidFill>
          <a:ln w="25400">
            <a:solidFill>
              <a:schemeClr val="bg1"/>
            </a:solidFill>
            <a:prstDash val="solid"/>
          </a:ln>
        </p:spPr>
      </p:sp>
      <p:sp>
        <p:nvSpPr>
          <p:cNvPr id="12" name="Text 9"/>
          <p:cNvSpPr txBox="1"/>
          <p:nvPr/>
        </p:nvSpPr>
        <p:spPr>
          <a:xfrm>
            <a:off x="2331720" y="1005840"/>
            <a:ext cx="1554480" cy="1600200"/>
          </a:xfrm>
          <a:prstGeom prst="rect">
            <a:avLst/>
          </a:prstGeom>
          <a:noFill/>
          <a:ln/>
        </p:spPr>
        <p:txBody>
          <a:bodyPr wrap="square" lIns="0" tIns="0" rIns="0" bIns="0" rtlCol="0" anchor="b"/>
          <a:lstStyle/>
          <a:p>
            <a:pPr algn="ctr" indent="0" marL="0">
              <a:buNone/>
            </a:pPr>
            <a:r>
              <a:rPr lang="en-US" sz="2000" b="1" dirty="0">
                <a:solidFill>
                  <a:schemeClr val="accent2"/>
                </a:solidFill>
              </a:rPr>
              <a:t>1957-58</a:t>
            </a:r>
            <a:endParaRPr lang="en-US" sz="2000" dirty="0"/>
          </a:p>
          <a:p>
            <a:pPr algn="ctr" indent="0" marL="0">
              <a:buNone/>
            </a:pPr>
            <a:r>
              <a:rPr lang="en-US" sz="1300" b="1" dirty="0">
                <a:solidFill>
                  <a:schemeClr val="tx1"/>
                </a:solidFill>
              </a:rPr>
              <a:t>CPM și PERT</a:t>
            </a:r>
            <a:endParaRPr lang="en-US" sz="2000" dirty="0"/>
          </a:p>
          <a:p>
            <a:pPr algn="ctr" indent="0" marL="0">
              <a:buNone/>
            </a:pPr>
            <a:r>
              <a:rPr lang="en-US" sz="1100" dirty="0">
                <a:solidFill>
                  <a:schemeClr val="tx2"/>
                </a:solidFill>
              </a:rPr>
              <a:t>Drumul critic (fabrici) și PERT (rachetele Polaris)</a:t>
            </a:r>
            <a:endParaRPr lang="en-US" sz="2000" dirty="0"/>
          </a:p>
        </p:txBody>
      </p:sp>
      <p:sp>
        <p:nvSpPr>
          <p:cNvPr id="13" name="Marcaj 1960s"/>
          <p:cNvSpPr/>
          <p:nvPr/>
        </p:nvSpPr>
        <p:spPr>
          <a:xfrm>
            <a:off x="3968496" y="2688336"/>
            <a:ext cx="201168" cy="201168"/>
          </a:xfrm>
          <a:prstGeom prst="ellipse">
            <a:avLst/>
          </a:prstGeom>
          <a:solidFill>
            <a:schemeClr val="accent5"/>
          </a:solidFill>
          <a:ln w="25400">
            <a:solidFill>
              <a:schemeClr val="bg1"/>
            </a:solidFill>
            <a:prstDash val="solid"/>
          </a:ln>
        </p:spPr>
      </p:sp>
      <p:sp>
        <p:nvSpPr>
          <p:cNvPr id="14" name="Text 11"/>
          <p:cNvSpPr txBox="1"/>
          <p:nvPr/>
        </p:nvSpPr>
        <p:spPr>
          <a:xfrm>
            <a:off x="3291840" y="3108960"/>
            <a:ext cx="1554480" cy="1600200"/>
          </a:xfrm>
          <a:prstGeom prst="rect">
            <a:avLst/>
          </a:prstGeom>
          <a:noFill/>
          <a:ln/>
        </p:spPr>
        <p:txBody>
          <a:bodyPr wrap="square" lIns="0" tIns="0" rIns="0" bIns="0" rtlCol="0" anchor="t"/>
          <a:lstStyle/>
          <a:p>
            <a:pPr algn="ctr" indent="0" marL="0">
              <a:buNone/>
            </a:pPr>
            <a:r>
              <a:rPr lang="en-US" sz="2000" b="1" dirty="0">
                <a:solidFill>
                  <a:schemeClr val="accent5"/>
                </a:solidFill>
              </a:rPr>
              <a:t>1960s</a:t>
            </a:r>
            <a:endParaRPr lang="en-US" sz="2000" dirty="0"/>
          </a:p>
          <a:p>
            <a:pPr algn="ctr" indent="0" marL="0">
              <a:buNone/>
            </a:pPr>
            <a:r>
              <a:rPr lang="en-US" sz="1300" b="1" dirty="0">
                <a:solidFill>
                  <a:schemeClr val="tx1"/>
                </a:solidFill>
              </a:rPr>
              <a:t>Standardizare</a:t>
            </a:r>
            <a:endParaRPr lang="en-US" sz="2000" dirty="0"/>
          </a:p>
          <a:p>
            <a:pPr algn="ctr" indent="0" marL="0">
              <a:buNone/>
            </a:pPr>
            <a:r>
              <a:rPr lang="en-US" sz="1100" dirty="0">
                <a:solidFill>
                  <a:schemeClr val="tx2"/>
                </a:solidFill>
              </a:rPr>
              <a:t>WBS și PERT/COST obligatorii; apare EVA; PMI și IPMA</a:t>
            </a:r>
            <a:endParaRPr lang="en-US" sz="2000" dirty="0"/>
          </a:p>
        </p:txBody>
      </p:sp>
      <p:sp>
        <p:nvSpPr>
          <p:cNvPr id="15" name="Marcaj 1970s"/>
          <p:cNvSpPr/>
          <p:nvPr/>
        </p:nvSpPr>
        <p:spPr>
          <a:xfrm>
            <a:off x="4928616" y="2688336"/>
            <a:ext cx="201168" cy="201168"/>
          </a:xfrm>
          <a:prstGeom prst="ellipse">
            <a:avLst/>
          </a:prstGeom>
          <a:solidFill>
            <a:schemeClr val="accent3"/>
          </a:solidFill>
          <a:ln w="25400">
            <a:solidFill>
              <a:schemeClr val="bg1"/>
            </a:solidFill>
            <a:prstDash val="solid"/>
          </a:ln>
        </p:spPr>
      </p:sp>
      <p:sp>
        <p:nvSpPr>
          <p:cNvPr id="16" name="Text 13"/>
          <p:cNvSpPr txBox="1"/>
          <p:nvPr/>
        </p:nvSpPr>
        <p:spPr>
          <a:xfrm>
            <a:off x="4251960" y="1005840"/>
            <a:ext cx="1554480" cy="1600200"/>
          </a:xfrm>
          <a:prstGeom prst="rect">
            <a:avLst/>
          </a:prstGeom>
          <a:noFill/>
          <a:ln/>
        </p:spPr>
        <p:txBody>
          <a:bodyPr wrap="square" lIns="0" tIns="0" rIns="0" bIns="0" rtlCol="0" anchor="b"/>
          <a:lstStyle/>
          <a:p>
            <a:pPr algn="ctr" indent="0" marL="0">
              <a:buNone/>
            </a:pPr>
            <a:r>
              <a:rPr lang="en-US" sz="2000" b="1" dirty="0">
                <a:solidFill>
                  <a:schemeClr val="accent3"/>
                </a:solidFill>
              </a:rPr>
              <a:t>1970s</a:t>
            </a:r>
            <a:endParaRPr lang="en-US" sz="2000" dirty="0"/>
          </a:p>
          <a:p>
            <a:pPr algn="ctr" indent="0" marL="0">
              <a:buNone/>
            </a:pPr>
            <a:r>
              <a:rPr lang="en-US" sz="1300" b="1" dirty="0">
                <a:solidFill>
                  <a:schemeClr val="tx1"/>
                </a:solidFill>
              </a:rPr>
              <a:t>Intră software-ul</a:t>
            </a:r>
            <a:endParaRPr lang="en-US" sz="2000" dirty="0"/>
          </a:p>
          <a:p>
            <a:pPr algn="ctr" indent="0" marL="0">
              <a:buNone/>
            </a:pPr>
            <a:r>
              <a:rPr lang="en-US" sz="1100" dirty="0">
                <a:solidFill>
                  <a:schemeClr val="tx2"/>
                </a:solidFill>
              </a:rPr>
              <a:t>Modelul cascadă și The Mythical Man-Month</a:t>
            </a:r>
            <a:endParaRPr lang="en-US" sz="2000" dirty="0"/>
          </a:p>
        </p:txBody>
      </p:sp>
      <p:sp>
        <p:nvSpPr>
          <p:cNvPr id="17" name="Marcaj 1980s"/>
          <p:cNvSpPr/>
          <p:nvPr/>
        </p:nvSpPr>
        <p:spPr>
          <a:xfrm>
            <a:off x="5888736" y="2688336"/>
            <a:ext cx="201168" cy="201168"/>
          </a:xfrm>
          <a:prstGeom prst="ellipse">
            <a:avLst/>
          </a:prstGeom>
          <a:solidFill>
            <a:schemeClr val="accent4"/>
          </a:solidFill>
          <a:ln w="25400">
            <a:solidFill>
              <a:schemeClr val="bg1"/>
            </a:solidFill>
            <a:prstDash val="solid"/>
          </a:ln>
        </p:spPr>
      </p:sp>
      <p:sp>
        <p:nvSpPr>
          <p:cNvPr id="18" name="Text 15"/>
          <p:cNvSpPr txBox="1"/>
          <p:nvPr/>
        </p:nvSpPr>
        <p:spPr>
          <a:xfrm>
            <a:off x="5212080" y="3108960"/>
            <a:ext cx="1554480" cy="1600200"/>
          </a:xfrm>
          <a:prstGeom prst="rect">
            <a:avLst/>
          </a:prstGeom>
          <a:noFill/>
          <a:ln/>
        </p:spPr>
        <p:txBody>
          <a:bodyPr wrap="square" lIns="0" tIns="0" rIns="0" bIns="0" rtlCol="0" anchor="t"/>
          <a:lstStyle/>
          <a:p>
            <a:pPr algn="ctr" indent="0" marL="0">
              <a:buNone/>
            </a:pPr>
            <a:r>
              <a:rPr lang="en-US" sz="2000" b="1" dirty="0">
                <a:solidFill>
                  <a:schemeClr val="accent4"/>
                </a:solidFill>
              </a:rPr>
              <a:t>1980s</a:t>
            </a:r>
            <a:endParaRPr lang="en-US" sz="2000" dirty="0"/>
          </a:p>
          <a:p>
            <a:pPr algn="ctr" indent="0" marL="0">
              <a:buNone/>
            </a:pPr>
            <a:r>
              <a:rPr lang="en-US" sz="1300" b="1" dirty="0">
                <a:solidFill>
                  <a:schemeClr val="tx1"/>
                </a:solidFill>
              </a:rPr>
              <a:t>Estimare</a:t>
            </a:r>
            <a:endParaRPr lang="en-US" sz="2000" dirty="0"/>
          </a:p>
          <a:p>
            <a:pPr algn="ctr" indent="0" marL="0">
              <a:buNone/>
            </a:pPr>
            <a:r>
              <a:rPr lang="en-US" sz="1100" dirty="0">
                <a:solidFill>
                  <a:schemeClr val="tx2"/>
                </a:solidFill>
              </a:rPr>
              <a:t>Function Points și COCOMO; tool-uri PM pentru firme mici</a:t>
            </a:r>
            <a:endParaRPr lang="en-US" sz="2000" dirty="0"/>
          </a:p>
        </p:txBody>
      </p:sp>
      <p:sp>
        <p:nvSpPr>
          <p:cNvPr id="19" name="Marcaj 1990s"/>
          <p:cNvSpPr/>
          <p:nvPr/>
        </p:nvSpPr>
        <p:spPr>
          <a:xfrm>
            <a:off x="6848856" y="2688336"/>
            <a:ext cx="201168" cy="201168"/>
          </a:xfrm>
          <a:prstGeom prst="ellipse">
            <a:avLst/>
          </a:prstGeom>
          <a:solidFill>
            <a:schemeClr val="accent2"/>
          </a:solidFill>
          <a:ln w="25400">
            <a:solidFill>
              <a:schemeClr val="bg1"/>
            </a:solidFill>
            <a:prstDash val="solid"/>
          </a:ln>
        </p:spPr>
      </p:sp>
      <p:sp>
        <p:nvSpPr>
          <p:cNvPr id="20" name="Text 17"/>
          <p:cNvSpPr txBox="1"/>
          <p:nvPr/>
        </p:nvSpPr>
        <p:spPr>
          <a:xfrm>
            <a:off x="6172200" y="1005840"/>
            <a:ext cx="1554480" cy="1600200"/>
          </a:xfrm>
          <a:prstGeom prst="rect">
            <a:avLst/>
          </a:prstGeom>
          <a:noFill/>
          <a:ln/>
        </p:spPr>
        <p:txBody>
          <a:bodyPr wrap="square" lIns="0" tIns="0" rIns="0" bIns="0" rtlCol="0" anchor="b"/>
          <a:lstStyle/>
          <a:p>
            <a:pPr algn="ctr" indent="0" marL="0">
              <a:buNone/>
            </a:pPr>
            <a:r>
              <a:rPr lang="en-US" sz="2000" b="1" dirty="0">
                <a:solidFill>
                  <a:schemeClr val="accent2"/>
                </a:solidFill>
              </a:rPr>
              <a:t>1990s</a:t>
            </a:r>
            <a:endParaRPr lang="en-US" sz="2000" dirty="0"/>
          </a:p>
          <a:p>
            <a:pPr algn="ctr" indent="0" marL="0">
              <a:buNone/>
            </a:pPr>
            <a:r>
              <a:rPr lang="en-US" sz="1300" b="1" dirty="0">
                <a:solidFill>
                  <a:schemeClr val="tx1"/>
                </a:solidFill>
              </a:rPr>
              <a:t>Calitate totală</a:t>
            </a:r>
            <a:endParaRPr lang="en-US" sz="2000" dirty="0"/>
          </a:p>
          <a:p>
            <a:pPr algn="ctr" indent="0" marL="0">
              <a:buNone/>
            </a:pPr>
            <a:r>
              <a:rPr lang="en-US" sz="1100" dirty="0">
                <a:solidFill>
                  <a:schemeClr val="tx2"/>
                </a:solidFill>
              </a:rPr>
              <a:t>Organizații mai flexibile, mai rapide, mai receptive</a:t>
            </a:r>
            <a:endParaRPr lang="en-US" sz="2000" dirty="0"/>
          </a:p>
        </p:txBody>
      </p:sp>
      <p:sp>
        <p:nvSpPr>
          <p:cNvPr id="21" name="Marcaj Azi"/>
          <p:cNvSpPr/>
          <p:nvPr/>
        </p:nvSpPr>
        <p:spPr>
          <a:xfrm>
            <a:off x="7808976" y="2688336"/>
            <a:ext cx="201168" cy="201168"/>
          </a:xfrm>
          <a:prstGeom prst="ellipse">
            <a:avLst/>
          </a:prstGeom>
          <a:solidFill>
            <a:schemeClr val="accent1"/>
          </a:solidFill>
          <a:ln w="25400">
            <a:solidFill>
              <a:schemeClr val="bg1"/>
            </a:solidFill>
            <a:prstDash val="solid"/>
          </a:ln>
        </p:spPr>
      </p:sp>
      <p:sp>
        <p:nvSpPr>
          <p:cNvPr id="22" name="Text 19"/>
          <p:cNvSpPr txBox="1"/>
          <p:nvPr/>
        </p:nvSpPr>
        <p:spPr>
          <a:xfrm>
            <a:off x="7132320" y="3108960"/>
            <a:ext cx="1554480" cy="1600200"/>
          </a:xfrm>
          <a:prstGeom prst="rect">
            <a:avLst/>
          </a:prstGeom>
          <a:noFill/>
          <a:ln/>
        </p:spPr>
        <p:txBody>
          <a:bodyPr wrap="square" lIns="0" tIns="0" rIns="0" bIns="0" rtlCol="0" anchor="t"/>
          <a:lstStyle/>
          <a:p>
            <a:pPr algn="ctr" indent="0" marL="0">
              <a:buNone/>
            </a:pPr>
            <a:r>
              <a:rPr lang="en-US" sz="2000" b="1" dirty="0">
                <a:solidFill>
                  <a:schemeClr val="accent1"/>
                </a:solidFill>
              </a:rPr>
              <a:t>Azi</a:t>
            </a:r>
            <a:endParaRPr lang="en-US" sz="2000" dirty="0"/>
          </a:p>
          <a:p>
            <a:pPr algn="ctr" indent="0" marL="0">
              <a:buNone/>
            </a:pPr>
            <a:r>
              <a:rPr lang="en-US" sz="1300" b="1" dirty="0">
                <a:solidFill>
                  <a:schemeClr val="tx1"/>
                </a:solidFill>
              </a:rPr>
              <a:t>Agilitate</a:t>
            </a:r>
            <a:endParaRPr lang="en-US" sz="2000" dirty="0"/>
          </a:p>
          <a:p>
            <a:pPr algn="ctr" indent="0" marL="0">
              <a:buNone/>
            </a:pPr>
            <a:r>
              <a:rPr lang="en-US" sz="1100" dirty="0">
                <a:solidFill>
                  <a:schemeClr val="tx2"/>
                </a:solidFill>
              </a:rPr>
              <a:t>Web, componente și framework-uri, feedback constant</a:t>
            </a:r>
            <a:endParaRPr lang="en-US" sz="2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200" b="1" dirty="0">
                <a:solidFill>
                  <a:schemeClr val="tx1"/>
                </a:solidFill>
              </a:rPr>
              <a:t>Taylor vs. Gantt: control sau încredere?</a:t>
            </a:r>
            <a:endParaRPr lang="en-US" sz="2200" dirty="0"/>
          </a:p>
        </p:txBody>
      </p:sp>
      <p:sp>
        <p:nvSpPr>
          <p:cNvPr id="3" name="Chip prezentator"/>
          <p:cNvSpPr/>
          <p:nvPr/>
        </p:nvSpPr>
        <p:spPr>
          <a:xfrm>
            <a:off x="7589520" y="384048"/>
            <a:ext cx="1097280" cy="292608"/>
          </a:xfrm>
          <a:prstGeom prst="roundRect">
            <a:avLst>
              <a:gd name="adj" fmla="val 50000"/>
            </a:avLst>
          </a:prstGeom>
          <a:solidFill>
            <a:schemeClr val="accent4"/>
          </a:solidFill>
          <a:ln w="12700">
            <a:solidFill>
              <a:schemeClr val="accent4"/>
            </a:solidFill>
            <a:prstDash val="solid"/>
          </a:ln>
        </p:spPr>
      </p:sp>
      <p:sp>
        <p:nvSpPr>
          <p:cNvPr id="4" name="Text prezentator"/>
          <p:cNvSpPr txBox="1"/>
          <p:nvPr/>
        </p:nvSpPr>
        <p:spPr>
          <a:xfrm>
            <a:off x="7589520" y="384048"/>
            <a:ext cx="1097280" cy="292608"/>
          </a:xfrm>
          <a:prstGeom prst="rect">
            <a:avLst/>
          </a:prstGeom>
          <a:noFill/>
          <a:ln/>
        </p:spPr>
        <p:txBody>
          <a:bodyPr wrap="square" lIns="0" tIns="0" rIns="0" bIns="0" rtlCol="0" anchor="ctr"/>
          <a:lstStyle/>
          <a:p>
            <a:pPr algn="ctr" indent="0" marL="0">
              <a:buNone/>
            </a:pPr>
            <a:r>
              <a:rPr lang="en-US" sz="1100" b="1" dirty="0">
                <a:solidFill>
                  <a:schemeClr val="bg1"/>
                </a:solidFill>
              </a:rPr>
              <a:t>A  ·  2'</a:t>
            </a:r>
            <a:endParaRPr lang="en-US" sz="1100" dirty="0"/>
          </a:p>
        </p:txBody>
      </p:sp>
      <p:sp>
        <p:nvSpPr>
          <p:cNvPr id="6" name="Card Taylor"/>
          <p:cNvSpPr/>
          <p:nvPr/>
        </p:nvSpPr>
        <p:spPr>
          <a:xfrm>
            <a:off x="457200" y="1097280"/>
            <a:ext cx="4023360" cy="2697480"/>
          </a:xfrm>
          <a:prstGeom prst="roundRect">
            <a:avLst>
              <a:gd name="adj" fmla="val 3390"/>
            </a:avLst>
          </a:prstGeom>
          <a:solidFill>
            <a:schemeClr val="bg2"/>
          </a:solidFill>
          <a:ln w="12700">
            <a:solidFill>
              <a:schemeClr val="bg2"/>
            </a:solidFill>
            <a:prstDash val="solid"/>
          </a:ln>
        </p:spPr>
      </p:sp>
      <p:pic>
        <p:nvPicPr>
          <p:cNvPr id="7" name="Foto Taylor" descr="/home/user/PREZENTARE_MPS/build/assets/taylor.png">    </p:cNvPr>
          <p:cNvPicPr>
            <a:picLocks noChangeAspect="1"/>
          </p:cNvPicPr>
          <p:nvPr/>
        </p:nvPicPr>
        <p:blipFill>
          <a:blip r:embed="rId1"/>
          <a:stretch>
            <a:fillRect/>
          </a:stretch>
        </p:blipFill>
        <p:spPr>
          <a:xfrm>
            <a:off x="640080" y="1325880"/>
            <a:ext cx="868680" cy="1572768"/>
          </a:xfrm>
          <a:prstGeom prst="rect">
            <a:avLst/>
          </a:prstGeom>
        </p:spPr>
      </p:pic>
      <p:sp>
        <p:nvSpPr>
          <p:cNvPr id="8" name="Text 4"/>
          <p:cNvSpPr txBox="1"/>
          <p:nvPr/>
        </p:nvSpPr>
        <p:spPr>
          <a:xfrm>
            <a:off x="1691640" y="1325880"/>
            <a:ext cx="2651760" cy="640080"/>
          </a:xfrm>
          <a:prstGeom prst="rect">
            <a:avLst/>
          </a:prstGeom>
          <a:noFill/>
          <a:ln/>
        </p:spPr>
        <p:txBody>
          <a:bodyPr wrap="square" lIns="0" tIns="0" rIns="0" bIns="0" rtlCol="0" anchor="t"/>
          <a:lstStyle/>
          <a:p>
            <a:pPr indent="0" marL="0">
              <a:buNone/>
            </a:pPr>
            <a:r>
              <a:rPr lang="en-US" sz="1600" b="1" dirty="0">
                <a:solidFill>
                  <a:schemeClr val="tx1"/>
                </a:solidFill>
              </a:rPr>
              <a:t>F. W. Taylor</a:t>
            </a:r>
            <a:endParaRPr lang="en-US" sz="1600" dirty="0"/>
          </a:p>
          <a:p>
            <a:pPr indent="0" marL="0">
              <a:buNone/>
            </a:pPr>
            <a:r>
              <a:rPr lang="en-US" sz="1100" dirty="0">
                <a:solidFill>
                  <a:schemeClr val="tx2"/>
                </a:solidFill>
              </a:rPr>
              <a:t>Scientific Management, anii 1900</a:t>
            </a:r>
            <a:endParaRPr lang="en-US" sz="1600" dirty="0"/>
          </a:p>
        </p:txBody>
      </p:sp>
      <p:sp>
        <p:nvSpPr>
          <p:cNvPr id="9" name="Text 5"/>
          <p:cNvSpPr txBox="1"/>
          <p:nvPr/>
        </p:nvSpPr>
        <p:spPr>
          <a:xfrm>
            <a:off x="1691640" y="2057400"/>
            <a:ext cx="2651760" cy="17373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Definirea științifică a muncii</a:t>
            </a:r>
            <a:endParaRPr lang="en-US" sz="1300" dirty="0"/>
          </a:p>
          <a:p>
            <a:pPr marL="342900" indent="-342900">
              <a:spcAft>
                <a:spcPts val="500"/>
              </a:spcAft>
              <a:buSzPct val="100000"/>
              <a:buChar char="•"/>
            </a:pPr>
            <a:r>
              <a:rPr lang="en-US" sz="1300" dirty="0">
                <a:solidFill>
                  <a:schemeClr val="tx1"/>
                </a:solidFill>
              </a:rPr>
              <a:t>Selecția științifică a personalului</a:t>
            </a:r>
            <a:endParaRPr lang="en-US" sz="1300" dirty="0"/>
          </a:p>
          <a:p>
            <a:pPr marL="342900" indent="-342900">
              <a:spcAft>
                <a:spcPts val="500"/>
              </a:spcAft>
              <a:buSzPct val="100000"/>
              <a:buChar char="•"/>
            </a:pPr>
            <a:r>
              <a:rPr lang="en-US" sz="1300" dirty="0">
                <a:solidFill>
                  <a:schemeClr val="tx1"/>
                </a:solidFill>
              </a:rPr>
              <a:t>Stimulente și perioade de odihnă</a:t>
            </a:r>
            <a:endParaRPr lang="en-US" sz="1300" dirty="0"/>
          </a:p>
          <a:p>
            <a:pPr marL="342900" indent="-342900">
              <a:spcAft>
                <a:spcPts val="500"/>
              </a:spcAft>
              <a:buSzPct val="100000"/>
              <a:buChar char="•"/>
            </a:pPr>
            <a:r>
              <a:rPr lang="en-US" sz="1300" dirty="0">
                <a:solidFill>
                  <a:schemeClr val="tx1"/>
                </a:solidFill>
              </a:rPr>
              <a:t>Premisă: omul lucrează la minim dacă nu e controlat</a:t>
            </a:r>
            <a:endParaRPr lang="en-US" sz="1300" dirty="0"/>
          </a:p>
        </p:txBody>
      </p:sp>
      <p:sp>
        <p:nvSpPr>
          <p:cNvPr id="10" name="Card Gantt"/>
          <p:cNvSpPr/>
          <p:nvPr/>
        </p:nvSpPr>
        <p:spPr>
          <a:xfrm>
            <a:off x="4663440" y="1097280"/>
            <a:ext cx="4023360" cy="2697480"/>
          </a:xfrm>
          <a:prstGeom prst="roundRect">
            <a:avLst>
              <a:gd name="adj" fmla="val 3390"/>
            </a:avLst>
          </a:prstGeom>
          <a:solidFill>
            <a:schemeClr val="bg2"/>
          </a:solidFill>
          <a:ln w="12700">
            <a:solidFill>
              <a:schemeClr val="bg2"/>
            </a:solidFill>
            <a:prstDash val="solid"/>
          </a:ln>
        </p:spPr>
      </p:sp>
      <p:pic>
        <p:nvPicPr>
          <p:cNvPr id="11" name="Foto Gantt" descr="/home/user/PREZENTARE_MPS/build/assets/gantt.png">    </p:cNvPr>
          <p:cNvPicPr>
            <a:picLocks noChangeAspect="1"/>
          </p:cNvPicPr>
          <p:nvPr/>
        </p:nvPicPr>
        <p:blipFill>
          <a:blip r:embed="rId2"/>
          <a:stretch>
            <a:fillRect/>
          </a:stretch>
        </p:blipFill>
        <p:spPr>
          <a:xfrm>
            <a:off x="4846320" y="1325880"/>
            <a:ext cx="1097280" cy="1280160"/>
          </a:xfrm>
          <a:prstGeom prst="rect">
            <a:avLst/>
          </a:prstGeom>
        </p:spPr>
      </p:pic>
      <p:sp>
        <p:nvSpPr>
          <p:cNvPr id="12" name="Text 7"/>
          <p:cNvSpPr txBox="1"/>
          <p:nvPr/>
        </p:nvSpPr>
        <p:spPr>
          <a:xfrm>
            <a:off x="6126480" y="1325880"/>
            <a:ext cx="2468880" cy="640080"/>
          </a:xfrm>
          <a:prstGeom prst="rect">
            <a:avLst/>
          </a:prstGeom>
          <a:noFill/>
          <a:ln/>
        </p:spPr>
        <p:txBody>
          <a:bodyPr wrap="square" lIns="0" tIns="0" rIns="0" bIns="0" rtlCol="0" anchor="t"/>
          <a:lstStyle/>
          <a:p>
            <a:pPr indent="0" marL="0">
              <a:buNone/>
            </a:pPr>
            <a:r>
              <a:rPr lang="en-US" sz="1600" b="1" dirty="0">
                <a:solidFill>
                  <a:schemeClr val="tx1"/>
                </a:solidFill>
              </a:rPr>
              <a:t>Henry Gantt</a:t>
            </a:r>
            <a:endParaRPr lang="en-US" sz="1600" dirty="0"/>
          </a:p>
          <a:p>
            <a:pPr indent="0" marL="0">
              <a:buNone/>
            </a:pPr>
            <a:r>
              <a:rPr lang="en-US" sz="1100" dirty="0">
                <a:solidFill>
                  <a:schemeClr val="tx2"/>
                </a:solidFill>
              </a:rPr>
              <a:t>Diagrama Gantt, Primul Război Mondial</a:t>
            </a:r>
            <a:endParaRPr lang="en-US" sz="1600" dirty="0"/>
          </a:p>
        </p:txBody>
      </p:sp>
      <p:sp>
        <p:nvSpPr>
          <p:cNvPr id="13" name="Text 8"/>
          <p:cNvSpPr txBox="1"/>
          <p:nvPr/>
        </p:nvSpPr>
        <p:spPr>
          <a:xfrm>
            <a:off x="6126480" y="2057400"/>
            <a:ext cx="2468880" cy="13716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Vizualizează planul pe axa timpului</a:t>
            </a:r>
            <a:endParaRPr lang="en-US" sz="1300" dirty="0"/>
          </a:p>
          <a:p>
            <a:pPr marL="342900" indent="-342900">
              <a:spcAft>
                <a:spcPts val="500"/>
              </a:spcAft>
              <a:buSzPct val="100000"/>
              <a:buChar char="•"/>
            </a:pPr>
            <a:r>
              <a:rPr lang="en-US" sz="1300" dirty="0">
                <a:solidFill>
                  <a:schemeClr val="tx1"/>
                </a:solidFill>
              </a:rPr>
              <a:t>Distinge munca planificată de progres</a:t>
            </a:r>
            <a:endParaRPr lang="en-US" sz="1300" dirty="0"/>
          </a:p>
          <a:p>
            <a:pPr marL="342900" indent="-342900">
              <a:spcAft>
                <a:spcPts val="500"/>
              </a:spcAft>
              <a:buSzPct val="100000"/>
              <a:buChar char="•"/>
            </a:pPr>
            <a:r>
              <a:rPr lang="en-US" sz="1300" dirty="0">
                <a:solidFill>
                  <a:schemeClr val="tx1"/>
                </a:solidFill>
              </a:rPr>
              <a:t>Folosită și azi în planificare</a:t>
            </a:r>
            <a:endParaRPr lang="en-US" sz="1300" dirty="0"/>
          </a:p>
        </p:txBody>
      </p:sp>
      <p:sp>
        <p:nvSpPr>
          <p:cNvPr id="14" name="Text 9"/>
          <p:cNvSpPr txBox="1"/>
          <p:nvPr/>
        </p:nvSpPr>
        <p:spPr>
          <a:xfrm>
            <a:off x="4846320" y="3337560"/>
            <a:ext cx="3657600" cy="365760"/>
          </a:xfrm>
          <a:prstGeom prst="rect">
            <a:avLst/>
          </a:prstGeom>
          <a:noFill/>
          <a:ln/>
        </p:spPr>
        <p:txBody>
          <a:bodyPr wrap="square" lIns="0" tIns="0" rIns="0" bIns="0" rtlCol="0" anchor="t"/>
          <a:lstStyle/>
          <a:p>
            <a:pPr indent="0" marL="0">
              <a:buNone/>
            </a:pPr>
            <a:r>
              <a:rPr lang="en-US" sz="1000" i="1" dirty="0">
                <a:solidFill>
                  <a:schemeClr val="tx2"/>
                </a:solidFill>
              </a:rPr>
              <a:t>Instrumentul lui Gantt la lucru în șantierele navale</a:t>
            </a:r>
            <a:endParaRPr lang="en-US" sz="1000" dirty="0"/>
          </a:p>
        </p:txBody>
      </p:sp>
      <p:sp>
        <p:nvSpPr>
          <p:cNvPr id="15" name="Bara poll"/>
          <p:cNvSpPr/>
          <p:nvPr/>
        </p:nvSpPr>
        <p:spPr>
          <a:xfrm>
            <a:off x="457200" y="3931920"/>
            <a:ext cx="8229600" cy="731520"/>
          </a:xfrm>
          <a:prstGeom prst="roundRect">
            <a:avLst>
              <a:gd name="adj" fmla="val 12500"/>
            </a:avLst>
          </a:prstGeom>
          <a:solidFill>
            <a:schemeClr val="tx1"/>
          </a:solidFill>
          <a:ln w="12700">
            <a:solidFill>
              <a:schemeClr val="tx1"/>
            </a:solidFill>
            <a:prstDash val="solid"/>
          </a:ln>
        </p:spPr>
      </p:sp>
      <p:sp>
        <p:nvSpPr>
          <p:cNvPr id="16" name="Eticheta poll"/>
          <p:cNvSpPr txBox="1"/>
          <p:nvPr/>
        </p:nvSpPr>
        <p:spPr>
          <a:xfrm>
            <a:off x="640080" y="3931920"/>
            <a:ext cx="1188720" cy="731520"/>
          </a:xfrm>
          <a:prstGeom prst="rect">
            <a:avLst/>
          </a:prstGeom>
          <a:noFill/>
          <a:ln/>
        </p:spPr>
        <p:txBody>
          <a:bodyPr wrap="square" lIns="0" tIns="0" rIns="0" bIns="0" rtlCol="0" anchor="ctr"/>
          <a:lstStyle/>
          <a:p>
            <a:pPr indent="0" marL="0">
              <a:buNone/>
            </a:pPr>
            <a:r>
              <a:rPr lang="en-US" sz="1200" b="1" dirty="0">
                <a:solidFill>
                  <a:schemeClr val="accent1"/>
                </a:solidFill>
              </a:rPr>
              <a:t>POLL</a:t>
            </a:r>
            <a:endParaRPr lang="en-US" sz="1200" dirty="0"/>
          </a:p>
          <a:p>
            <a:pPr indent="0" marL="0">
              <a:buNone/>
            </a:pPr>
            <a:r>
              <a:rPr lang="en-US" sz="1000" dirty="0">
                <a:solidFill>
                  <a:schemeClr val="accent1"/>
                </a:solidFill>
              </a:rPr>
              <a:t>Întrebarea 2</a:t>
            </a:r>
            <a:endParaRPr lang="en-US" sz="1200" dirty="0"/>
          </a:p>
        </p:txBody>
      </p:sp>
      <p:sp>
        <p:nvSpPr>
          <p:cNvPr id="17" name="Text poll"/>
          <p:cNvSpPr txBox="1"/>
          <p:nvPr/>
        </p:nvSpPr>
        <p:spPr>
          <a:xfrm>
            <a:off x="1874520" y="3931920"/>
            <a:ext cx="6583680" cy="731520"/>
          </a:xfrm>
          <a:prstGeom prst="rect">
            <a:avLst/>
          </a:prstGeom>
          <a:noFill/>
          <a:ln/>
        </p:spPr>
        <p:txBody>
          <a:bodyPr wrap="square" lIns="0" tIns="0" rIns="0" bIns="0" rtlCol="0" anchor="ctr"/>
          <a:lstStyle/>
          <a:p>
            <a:pPr indent="0" marL="0">
              <a:buNone/>
            </a:pPr>
            <a:r>
              <a:rPr lang="en-US" sz="1400" dirty="0">
                <a:solidFill>
                  <a:schemeClr val="bg1"/>
                </a:solidFill>
              </a:rPr>
              <a:t>Time tracking-ul și KPI-urile de azi sunt Taylor în variantă digitală?</a:t>
            </a:r>
            <a:endParaRPr lang="en-US" sz="1400" dirty="0"/>
          </a:p>
          <a:p>
            <a:pPr indent="0" marL="0">
              <a:buNone/>
            </a:pPr>
            <a:r>
              <a:rPr lang="en-US" sz="900" dirty="0">
                <a:solidFill>
                  <a:schemeClr val="accent6"/>
                </a:solidFill>
              </a:rPr>
              <a:t>Votați de pe telefon, în pagina de poll deschisă după scanarea codului</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200" b="1" dirty="0">
                <a:solidFill>
                  <a:schemeClr val="tx1"/>
                </a:solidFill>
              </a:rPr>
              <a:t>Gantt: planul vizibil dintr-o privire</a:t>
            </a:r>
            <a:endParaRPr lang="en-US" sz="2200" dirty="0"/>
          </a:p>
        </p:txBody>
      </p:sp>
      <p:sp>
        <p:nvSpPr>
          <p:cNvPr id="3" name="Chip prezentator"/>
          <p:cNvSpPr/>
          <p:nvPr/>
        </p:nvSpPr>
        <p:spPr>
          <a:xfrm>
            <a:off x="7589520" y="384048"/>
            <a:ext cx="1097280" cy="292608"/>
          </a:xfrm>
          <a:prstGeom prst="roundRect">
            <a:avLst>
              <a:gd name="adj" fmla="val 50000"/>
            </a:avLst>
          </a:prstGeom>
          <a:solidFill>
            <a:schemeClr val="accent4"/>
          </a:solidFill>
          <a:ln w="12700">
            <a:solidFill>
              <a:schemeClr val="accent4"/>
            </a:solidFill>
            <a:prstDash val="solid"/>
          </a:ln>
        </p:spPr>
      </p:sp>
      <p:sp>
        <p:nvSpPr>
          <p:cNvPr id="4" name="Text prezentator"/>
          <p:cNvSpPr txBox="1"/>
          <p:nvPr/>
        </p:nvSpPr>
        <p:spPr>
          <a:xfrm>
            <a:off x="7589520" y="384048"/>
            <a:ext cx="1097280" cy="292608"/>
          </a:xfrm>
          <a:prstGeom prst="rect">
            <a:avLst/>
          </a:prstGeom>
          <a:noFill/>
          <a:ln/>
        </p:spPr>
        <p:txBody>
          <a:bodyPr wrap="square" lIns="0" tIns="0" rIns="0" bIns="0" rtlCol="0" anchor="ctr"/>
          <a:lstStyle/>
          <a:p>
            <a:pPr algn="ctr" indent="0" marL="0">
              <a:buNone/>
            </a:pPr>
            <a:r>
              <a:rPr lang="en-US" sz="1100" b="1" dirty="0">
                <a:solidFill>
                  <a:schemeClr val="bg1"/>
                </a:solidFill>
              </a:rPr>
              <a:t>A  ·  1,5'</a:t>
            </a:r>
            <a:endParaRPr lang="en-US" sz="1100" dirty="0"/>
          </a:p>
        </p:txBody>
      </p:sp>
      <p:sp>
        <p:nvSpPr>
          <p:cNvPr id="6" name="Grila sapt 0"/>
          <p:cNvSpPr/>
          <p:nvPr/>
        </p:nvSpPr>
        <p:spPr>
          <a:xfrm>
            <a:off x="1828800" y="1417320"/>
            <a:ext cx="0" cy="2743200"/>
          </a:xfrm>
          <a:prstGeom prst="line">
            <a:avLst/>
          </a:prstGeom>
          <a:noFill/>
          <a:ln w="12700">
            <a:solidFill>
              <a:schemeClr val="bg2"/>
            </a:solidFill>
            <a:prstDash val="solid"/>
          </a:ln>
        </p:spPr>
      </p:sp>
      <p:sp>
        <p:nvSpPr>
          <p:cNvPr id="7" name="Text 4"/>
          <p:cNvSpPr txBox="1"/>
          <p:nvPr/>
        </p:nvSpPr>
        <p:spPr>
          <a:xfrm>
            <a:off x="1828800" y="1161288"/>
            <a:ext cx="274320" cy="201168"/>
          </a:xfrm>
          <a:prstGeom prst="rect">
            <a:avLst/>
          </a:prstGeom>
          <a:noFill/>
          <a:ln/>
        </p:spPr>
        <p:txBody>
          <a:bodyPr wrap="square" lIns="0" tIns="0" rIns="0" bIns="0" rtlCol="0" anchor="t"/>
          <a:lstStyle/>
          <a:p>
            <a:pPr algn="ctr" indent="0" marL="0">
              <a:buNone/>
            </a:pPr>
            <a:r>
              <a:rPr lang="en-US" sz="900" dirty="0">
                <a:solidFill>
                  <a:schemeClr val="tx2"/>
                </a:solidFill>
              </a:rPr>
              <a:t>1</a:t>
            </a:r>
            <a:endParaRPr lang="en-US" sz="900" dirty="0"/>
          </a:p>
        </p:txBody>
      </p:sp>
      <p:sp>
        <p:nvSpPr>
          <p:cNvPr id="8" name="Grila sapt 1"/>
          <p:cNvSpPr/>
          <p:nvPr/>
        </p:nvSpPr>
        <p:spPr>
          <a:xfrm>
            <a:off x="2103120" y="1417320"/>
            <a:ext cx="0" cy="2743200"/>
          </a:xfrm>
          <a:prstGeom prst="line">
            <a:avLst/>
          </a:prstGeom>
          <a:noFill/>
          <a:ln w="12700">
            <a:solidFill>
              <a:schemeClr val="bg2"/>
            </a:solidFill>
            <a:prstDash val="solid"/>
          </a:ln>
        </p:spPr>
      </p:sp>
      <p:sp>
        <p:nvSpPr>
          <p:cNvPr id="9" name="Text 6"/>
          <p:cNvSpPr txBox="1"/>
          <p:nvPr/>
        </p:nvSpPr>
        <p:spPr>
          <a:xfrm>
            <a:off x="2103120" y="1161288"/>
            <a:ext cx="274320" cy="201168"/>
          </a:xfrm>
          <a:prstGeom prst="rect">
            <a:avLst/>
          </a:prstGeom>
          <a:noFill/>
          <a:ln/>
        </p:spPr>
        <p:txBody>
          <a:bodyPr wrap="square" lIns="0" tIns="0" rIns="0" bIns="0" rtlCol="0" anchor="t"/>
          <a:lstStyle/>
          <a:p>
            <a:pPr algn="ctr" indent="0" marL="0">
              <a:buNone/>
            </a:pPr>
            <a:r>
              <a:rPr lang="en-US" sz="900" dirty="0">
                <a:solidFill>
                  <a:schemeClr val="tx2"/>
                </a:solidFill>
              </a:rPr>
              <a:t>2</a:t>
            </a:r>
            <a:endParaRPr lang="en-US" sz="900" dirty="0"/>
          </a:p>
        </p:txBody>
      </p:sp>
      <p:sp>
        <p:nvSpPr>
          <p:cNvPr id="10" name="Grila sapt 2"/>
          <p:cNvSpPr/>
          <p:nvPr/>
        </p:nvSpPr>
        <p:spPr>
          <a:xfrm>
            <a:off x="2377440" y="1417320"/>
            <a:ext cx="0" cy="2743200"/>
          </a:xfrm>
          <a:prstGeom prst="line">
            <a:avLst/>
          </a:prstGeom>
          <a:noFill/>
          <a:ln w="12700">
            <a:solidFill>
              <a:schemeClr val="bg2"/>
            </a:solidFill>
            <a:prstDash val="solid"/>
          </a:ln>
        </p:spPr>
      </p:sp>
      <p:sp>
        <p:nvSpPr>
          <p:cNvPr id="11" name="Text 8"/>
          <p:cNvSpPr txBox="1"/>
          <p:nvPr/>
        </p:nvSpPr>
        <p:spPr>
          <a:xfrm>
            <a:off x="2377440" y="1161288"/>
            <a:ext cx="274320" cy="201168"/>
          </a:xfrm>
          <a:prstGeom prst="rect">
            <a:avLst/>
          </a:prstGeom>
          <a:noFill/>
          <a:ln/>
        </p:spPr>
        <p:txBody>
          <a:bodyPr wrap="square" lIns="0" tIns="0" rIns="0" bIns="0" rtlCol="0" anchor="t"/>
          <a:lstStyle/>
          <a:p>
            <a:pPr algn="ctr" indent="0" marL="0">
              <a:buNone/>
            </a:pPr>
            <a:r>
              <a:rPr lang="en-US" sz="900" dirty="0">
                <a:solidFill>
                  <a:schemeClr val="tx2"/>
                </a:solidFill>
              </a:rPr>
              <a:t>3</a:t>
            </a:r>
            <a:endParaRPr lang="en-US" sz="900" dirty="0"/>
          </a:p>
        </p:txBody>
      </p:sp>
      <p:sp>
        <p:nvSpPr>
          <p:cNvPr id="12" name="Grila sapt 3"/>
          <p:cNvSpPr/>
          <p:nvPr/>
        </p:nvSpPr>
        <p:spPr>
          <a:xfrm>
            <a:off x="2651760" y="1417320"/>
            <a:ext cx="0" cy="2743200"/>
          </a:xfrm>
          <a:prstGeom prst="line">
            <a:avLst/>
          </a:prstGeom>
          <a:noFill/>
          <a:ln w="12700">
            <a:solidFill>
              <a:schemeClr val="bg2"/>
            </a:solidFill>
            <a:prstDash val="solid"/>
          </a:ln>
        </p:spPr>
      </p:sp>
      <p:sp>
        <p:nvSpPr>
          <p:cNvPr id="13" name="Text 10"/>
          <p:cNvSpPr txBox="1"/>
          <p:nvPr/>
        </p:nvSpPr>
        <p:spPr>
          <a:xfrm>
            <a:off x="2651760" y="1161288"/>
            <a:ext cx="274320" cy="201168"/>
          </a:xfrm>
          <a:prstGeom prst="rect">
            <a:avLst/>
          </a:prstGeom>
          <a:noFill/>
          <a:ln/>
        </p:spPr>
        <p:txBody>
          <a:bodyPr wrap="square" lIns="0" tIns="0" rIns="0" bIns="0" rtlCol="0" anchor="t"/>
          <a:lstStyle/>
          <a:p>
            <a:pPr algn="ctr" indent="0" marL="0">
              <a:buNone/>
            </a:pPr>
            <a:r>
              <a:rPr lang="en-US" sz="900" dirty="0">
                <a:solidFill>
                  <a:schemeClr val="tx2"/>
                </a:solidFill>
              </a:rPr>
              <a:t>4</a:t>
            </a:r>
            <a:endParaRPr lang="en-US" sz="900" dirty="0"/>
          </a:p>
        </p:txBody>
      </p:sp>
      <p:sp>
        <p:nvSpPr>
          <p:cNvPr id="14" name="Grila sapt 4"/>
          <p:cNvSpPr/>
          <p:nvPr/>
        </p:nvSpPr>
        <p:spPr>
          <a:xfrm>
            <a:off x="2926080" y="1417320"/>
            <a:ext cx="0" cy="2743200"/>
          </a:xfrm>
          <a:prstGeom prst="line">
            <a:avLst/>
          </a:prstGeom>
          <a:noFill/>
          <a:ln w="12700">
            <a:solidFill>
              <a:schemeClr val="bg2"/>
            </a:solidFill>
            <a:prstDash val="solid"/>
          </a:ln>
        </p:spPr>
      </p:sp>
      <p:sp>
        <p:nvSpPr>
          <p:cNvPr id="15" name="Text 12"/>
          <p:cNvSpPr txBox="1"/>
          <p:nvPr/>
        </p:nvSpPr>
        <p:spPr>
          <a:xfrm>
            <a:off x="2926080" y="1161288"/>
            <a:ext cx="274320" cy="201168"/>
          </a:xfrm>
          <a:prstGeom prst="rect">
            <a:avLst/>
          </a:prstGeom>
          <a:noFill/>
          <a:ln/>
        </p:spPr>
        <p:txBody>
          <a:bodyPr wrap="square" lIns="0" tIns="0" rIns="0" bIns="0" rtlCol="0" anchor="t"/>
          <a:lstStyle/>
          <a:p>
            <a:pPr algn="ctr" indent="0" marL="0">
              <a:buNone/>
            </a:pPr>
            <a:r>
              <a:rPr lang="en-US" sz="900" dirty="0">
                <a:solidFill>
                  <a:schemeClr val="tx2"/>
                </a:solidFill>
              </a:rPr>
              <a:t>5</a:t>
            </a:r>
            <a:endParaRPr lang="en-US" sz="900" dirty="0"/>
          </a:p>
        </p:txBody>
      </p:sp>
      <p:sp>
        <p:nvSpPr>
          <p:cNvPr id="16" name="Grila sapt 5"/>
          <p:cNvSpPr/>
          <p:nvPr/>
        </p:nvSpPr>
        <p:spPr>
          <a:xfrm>
            <a:off x="3200400" y="1417320"/>
            <a:ext cx="0" cy="2743200"/>
          </a:xfrm>
          <a:prstGeom prst="line">
            <a:avLst/>
          </a:prstGeom>
          <a:noFill/>
          <a:ln w="12700">
            <a:solidFill>
              <a:schemeClr val="bg2"/>
            </a:solidFill>
            <a:prstDash val="solid"/>
          </a:ln>
        </p:spPr>
      </p:sp>
      <p:sp>
        <p:nvSpPr>
          <p:cNvPr id="17" name="Text 14"/>
          <p:cNvSpPr txBox="1"/>
          <p:nvPr/>
        </p:nvSpPr>
        <p:spPr>
          <a:xfrm>
            <a:off x="3200400" y="1161288"/>
            <a:ext cx="274320" cy="201168"/>
          </a:xfrm>
          <a:prstGeom prst="rect">
            <a:avLst/>
          </a:prstGeom>
          <a:noFill/>
          <a:ln/>
        </p:spPr>
        <p:txBody>
          <a:bodyPr wrap="square" lIns="0" tIns="0" rIns="0" bIns="0" rtlCol="0" anchor="t"/>
          <a:lstStyle/>
          <a:p>
            <a:pPr algn="ctr" indent="0" marL="0">
              <a:buNone/>
            </a:pPr>
            <a:r>
              <a:rPr lang="en-US" sz="900" dirty="0">
                <a:solidFill>
                  <a:schemeClr val="tx2"/>
                </a:solidFill>
              </a:rPr>
              <a:t>6</a:t>
            </a:r>
            <a:endParaRPr lang="en-US" sz="900" dirty="0"/>
          </a:p>
        </p:txBody>
      </p:sp>
      <p:sp>
        <p:nvSpPr>
          <p:cNvPr id="18" name="Grila sapt 6"/>
          <p:cNvSpPr/>
          <p:nvPr/>
        </p:nvSpPr>
        <p:spPr>
          <a:xfrm>
            <a:off x="3474720" y="1417320"/>
            <a:ext cx="0" cy="2743200"/>
          </a:xfrm>
          <a:prstGeom prst="line">
            <a:avLst/>
          </a:prstGeom>
          <a:noFill/>
          <a:ln w="12700">
            <a:solidFill>
              <a:schemeClr val="bg2"/>
            </a:solidFill>
            <a:prstDash val="solid"/>
          </a:ln>
        </p:spPr>
      </p:sp>
      <p:sp>
        <p:nvSpPr>
          <p:cNvPr id="19" name="Text 16"/>
          <p:cNvSpPr txBox="1"/>
          <p:nvPr/>
        </p:nvSpPr>
        <p:spPr>
          <a:xfrm>
            <a:off x="3474720" y="1161288"/>
            <a:ext cx="274320" cy="201168"/>
          </a:xfrm>
          <a:prstGeom prst="rect">
            <a:avLst/>
          </a:prstGeom>
          <a:noFill/>
          <a:ln/>
        </p:spPr>
        <p:txBody>
          <a:bodyPr wrap="square" lIns="0" tIns="0" rIns="0" bIns="0" rtlCol="0" anchor="t"/>
          <a:lstStyle/>
          <a:p>
            <a:pPr algn="ctr" indent="0" marL="0">
              <a:buNone/>
            </a:pPr>
            <a:r>
              <a:rPr lang="en-US" sz="900" dirty="0">
                <a:solidFill>
                  <a:schemeClr val="tx2"/>
                </a:solidFill>
              </a:rPr>
              <a:t>7</a:t>
            </a:r>
            <a:endParaRPr lang="en-US" sz="900" dirty="0"/>
          </a:p>
        </p:txBody>
      </p:sp>
      <p:sp>
        <p:nvSpPr>
          <p:cNvPr id="20" name="Grila sapt 7"/>
          <p:cNvSpPr/>
          <p:nvPr/>
        </p:nvSpPr>
        <p:spPr>
          <a:xfrm>
            <a:off x="3749040" y="1417320"/>
            <a:ext cx="0" cy="2743200"/>
          </a:xfrm>
          <a:prstGeom prst="line">
            <a:avLst/>
          </a:prstGeom>
          <a:noFill/>
          <a:ln w="12700">
            <a:solidFill>
              <a:schemeClr val="bg2"/>
            </a:solidFill>
            <a:prstDash val="solid"/>
          </a:ln>
        </p:spPr>
      </p:sp>
      <p:sp>
        <p:nvSpPr>
          <p:cNvPr id="21" name="Text 18"/>
          <p:cNvSpPr txBox="1"/>
          <p:nvPr/>
        </p:nvSpPr>
        <p:spPr>
          <a:xfrm>
            <a:off x="3749040" y="1161288"/>
            <a:ext cx="274320" cy="201168"/>
          </a:xfrm>
          <a:prstGeom prst="rect">
            <a:avLst/>
          </a:prstGeom>
          <a:noFill/>
          <a:ln/>
        </p:spPr>
        <p:txBody>
          <a:bodyPr wrap="square" lIns="0" tIns="0" rIns="0" bIns="0" rtlCol="0" anchor="t"/>
          <a:lstStyle/>
          <a:p>
            <a:pPr algn="ctr" indent="0" marL="0">
              <a:buNone/>
            </a:pPr>
            <a:r>
              <a:rPr lang="en-US" sz="900" dirty="0">
                <a:solidFill>
                  <a:schemeClr val="tx2"/>
                </a:solidFill>
              </a:rPr>
              <a:t>8</a:t>
            </a:r>
            <a:endParaRPr lang="en-US" sz="900" dirty="0"/>
          </a:p>
        </p:txBody>
      </p:sp>
      <p:sp>
        <p:nvSpPr>
          <p:cNvPr id="22" name="Grila sapt 8"/>
          <p:cNvSpPr/>
          <p:nvPr/>
        </p:nvSpPr>
        <p:spPr>
          <a:xfrm>
            <a:off x="4023360" y="1417320"/>
            <a:ext cx="0" cy="2743200"/>
          </a:xfrm>
          <a:prstGeom prst="line">
            <a:avLst/>
          </a:prstGeom>
          <a:noFill/>
          <a:ln w="12700">
            <a:solidFill>
              <a:schemeClr val="bg2"/>
            </a:solidFill>
            <a:prstDash val="solid"/>
          </a:ln>
        </p:spPr>
      </p:sp>
      <p:sp>
        <p:nvSpPr>
          <p:cNvPr id="23" name="Text 20"/>
          <p:cNvSpPr txBox="1"/>
          <p:nvPr/>
        </p:nvSpPr>
        <p:spPr>
          <a:xfrm>
            <a:off x="4023360" y="1161288"/>
            <a:ext cx="274320" cy="201168"/>
          </a:xfrm>
          <a:prstGeom prst="rect">
            <a:avLst/>
          </a:prstGeom>
          <a:noFill/>
          <a:ln/>
        </p:spPr>
        <p:txBody>
          <a:bodyPr wrap="square" lIns="0" tIns="0" rIns="0" bIns="0" rtlCol="0" anchor="t"/>
          <a:lstStyle/>
          <a:p>
            <a:pPr algn="ctr" indent="0" marL="0">
              <a:buNone/>
            </a:pPr>
            <a:r>
              <a:rPr lang="en-US" sz="900" dirty="0">
                <a:solidFill>
                  <a:schemeClr val="tx2"/>
                </a:solidFill>
              </a:rPr>
              <a:t>9</a:t>
            </a:r>
            <a:endParaRPr lang="en-US" sz="900" dirty="0"/>
          </a:p>
        </p:txBody>
      </p:sp>
      <p:sp>
        <p:nvSpPr>
          <p:cNvPr id="24" name="Grila sapt 9"/>
          <p:cNvSpPr/>
          <p:nvPr/>
        </p:nvSpPr>
        <p:spPr>
          <a:xfrm>
            <a:off x="4297680" y="1417320"/>
            <a:ext cx="0" cy="2743200"/>
          </a:xfrm>
          <a:prstGeom prst="line">
            <a:avLst/>
          </a:prstGeom>
          <a:noFill/>
          <a:ln w="12700">
            <a:solidFill>
              <a:schemeClr val="bg2"/>
            </a:solidFill>
            <a:prstDash val="solid"/>
          </a:ln>
        </p:spPr>
      </p:sp>
      <p:sp>
        <p:nvSpPr>
          <p:cNvPr id="25" name="Text 22"/>
          <p:cNvSpPr txBox="1"/>
          <p:nvPr/>
        </p:nvSpPr>
        <p:spPr>
          <a:xfrm>
            <a:off x="4297680" y="1161288"/>
            <a:ext cx="274320" cy="201168"/>
          </a:xfrm>
          <a:prstGeom prst="rect">
            <a:avLst/>
          </a:prstGeom>
          <a:noFill/>
          <a:ln/>
        </p:spPr>
        <p:txBody>
          <a:bodyPr wrap="square" lIns="0" tIns="0" rIns="0" bIns="0" rtlCol="0" anchor="t"/>
          <a:lstStyle/>
          <a:p>
            <a:pPr algn="ctr" indent="0" marL="0">
              <a:buNone/>
            </a:pPr>
            <a:r>
              <a:rPr lang="en-US" sz="900" dirty="0">
                <a:solidFill>
                  <a:schemeClr val="tx2"/>
                </a:solidFill>
              </a:rPr>
              <a:t>10</a:t>
            </a:r>
            <a:endParaRPr lang="en-US" sz="900" dirty="0"/>
          </a:p>
        </p:txBody>
      </p:sp>
      <p:sp>
        <p:nvSpPr>
          <p:cNvPr id="26" name="Grila sapt 10"/>
          <p:cNvSpPr/>
          <p:nvPr/>
        </p:nvSpPr>
        <p:spPr>
          <a:xfrm>
            <a:off x="4572000" y="1417320"/>
            <a:ext cx="0" cy="2743200"/>
          </a:xfrm>
          <a:prstGeom prst="line">
            <a:avLst/>
          </a:prstGeom>
          <a:noFill/>
          <a:ln w="12700">
            <a:solidFill>
              <a:schemeClr val="bg2"/>
            </a:solidFill>
            <a:prstDash val="solid"/>
          </a:ln>
        </p:spPr>
      </p:sp>
      <p:sp>
        <p:nvSpPr>
          <p:cNvPr id="27" name="Text 24"/>
          <p:cNvSpPr txBox="1"/>
          <p:nvPr/>
        </p:nvSpPr>
        <p:spPr>
          <a:xfrm>
            <a:off x="4572000" y="1161288"/>
            <a:ext cx="274320" cy="201168"/>
          </a:xfrm>
          <a:prstGeom prst="rect">
            <a:avLst/>
          </a:prstGeom>
          <a:noFill/>
          <a:ln/>
        </p:spPr>
        <p:txBody>
          <a:bodyPr wrap="square" lIns="0" tIns="0" rIns="0" bIns="0" rtlCol="0" anchor="t"/>
          <a:lstStyle/>
          <a:p>
            <a:pPr algn="ctr" indent="0" marL="0">
              <a:buNone/>
            </a:pPr>
            <a:r>
              <a:rPr lang="en-US" sz="900" dirty="0">
                <a:solidFill>
                  <a:schemeClr val="tx2"/>
                </a:solidFill>
              </a:rPr>
              <a:t>11</a:t>
            </a:r>
            <a:endParaRPr lang="en-US" sz="900" dirty="0"/>
          </a:p>
        </p:txBody>
      </p:sp>
      <p:sp>
        <p:nvSpPr>
          <p:cNvPr id="28" name="Grila sapt 11"/>
          <p:cNvSpPr/>
          <p:nvPr/>
        </p:nvSpPr>
        <p:spPr>
          <a:xfrm>
            <a:off x="4846320" y="1417320"/>
            <a:ext cx="0" cy="2743200"/>
          </a:xfrm>
          <a:prstGeom prst="line">
            <a:avLst/>
          </a:prstGeom>
          <a:noFill/>
          <a:ln w="12700">
            <a:solidFill>
              <a:schemeClr val="bg2"/>
            </a:solidFill>
            <a:prstDash val="solid"/>
          </a:ln>
        </p:spPr>
      </p:sp>
      <p:sp>
        <p:nvSpPr>
          <p:cNvPr id="29" name="Text 26"/>
          <p:cNvSpPr txBox="1"/>
          <p:nvPr/>
        </p:nvSpPr>
        <p:spPr>
          <a:xfrm>
            <a:off x="4846320" y="1161288"/>
            <a:ext cx="274320" cy="201168"/>
          </a:xfrm>
          <a:prstGeom prst="rect">
            <a:avLst/>
          </a:prstGeom>
          <a:noFill/>
          <a:ln/>
        </p:spPr>
        <p:txBody>
          <a:bodyPr wrap="square" lIns="0" tIns="0" rIns="0" bIns="0" rtlCol="0" anchor="t"/>
          <a:lstStyle/>
          <a:p>
            <a:pPr algn="ctr" indent="0" marL="0">
              <a:buNone/>
            </a:pPr>
            <a:r>
              <a:rPr lang="en-US" sz="900" dirty="0">
                <a:solidFill>
                  <a:schemeClr val="tx2"/>
                </a:solidFill>
              </a:rPr>
              <a:t>12</a:t>
            </a:r>
            <a:endParaRPr lang="en-US" sz="900" dirty="0"/>
          </a:p>
        </p:txBody>
      </p:sp>
      <p:sp>
        <p:nvSpPr>
          <p:cNvPr id="30" name="Grila sapt 12"/>
          <p:cNvSpPr/>
          <p:nvPr/>
        </p:nvSpPr>
        <p:spPr>
          <a:xfrm>
            <a:off x="5120640" y="1417320"/>
            <a:ext cx="0" cy="2743200"/>
          </a:xfrm>
          <a:prstGeom prst="line">
            <a:avLst/>
          </a:prstGeom>
          <a:noFill/>
          <a:ln w="12700">
            <a:solidFill>
              <a:schemeClr val="bg2"/>
            </a:solidFill>
            <a:prstDash val="solid"/>
          </a:ln>
        </p:spPr>
      </p:sp>
      <p:sp>
        <p:nvSpPr>
          <p:cNvPr id="31" name="Text 28"/>
          <p:cNvSpPr txBox="1"/>
          <p:nvPr/>
        </p:nvSpPr>
        <p:spPr>
          <a:xfrm>
            <a:off x="457200" y="1161288"/>
            <a:ext cx="1280160" cy="201168"/>
          </a:xfrm>
          <a:prstGeom prst="rect">
            <a:avLst/>
          </a:prstGeom>
          <a:noFill/>
          <a:ln/>
        </p:spPr>
        <p:txBody>
          <a:bodyPr wrap="square" lIns="0" tIns="0" rIns="0" bIns="0" rtlCol="0" anchor="t"/>
          <a:lstStyle/>
          <a:p>
            <a:pPr indent="0" marL="0">
              <a:buNone/>
            </a:pPr>
            <a:r>
              <a:rPr lang="en-US" sz="900" dirty="0">
                <a:solidFill>
                  <a:schemeClr val="tx2"/>
                </a:solidFill>
              </a:rPr>
              <a:t>Săptămâna</a:t>
            </a:r>
            <a:endParaRPr lang="en-US" sz="900" dirty="0"/>
          </a:p>
        </p:txBody>
      </p:sp>
      <p:sp>
        <p:nvSpPr>
          <p:cNvPr id="32" name="Text 29"/>
          <p:cNvSpPr txBox="1"/>
          <p:nvPr/>
        </p:nvSpPr>
        <p:spPr>
          <a:xfrm>
            <a:off x="457200" y="1417320"/>
            <a:ext cx="1325880" cy="457200"/>
          </a:xfrm>
          <a:prstGeom prst="rect">
            <a:avLst/>
          </a:prstGeom>
          <a:noFill/>
          <a:ln/>
        </p:spPr>
        <p:txBody>
          <a:bodyPr wrap="square" lIns="0" tIns="0" rIns="0" bIns="0" rtlCol="0" anchor="ctr"/>
          <a:lstStyle/>
          <a:p>
            <a:pPr indent="0" marL="0">
              <a:buNone/>
            </a:pPr>
            <a:r>
              <a:rPr lang="en-US" sz="1200" b="1" dirty="0">
                <a:solidFill>
                  <a:schemeClr val="tx1"/>
                </a:solidFill>
              </a:rPr>
              <a:t>Cerințe</a:t>
            </a:r>
            <a:endParaRPr lang="en-US" sz="1200" dirty="0"/>
          </a:p>
        </p:txBody>
      </p:sp>
      <p:sp>
        <p:nvSpPr>
          <p:cNvPr id="33" name="Bara Cerințe"/>
          <p:cNvSpPr/>
          <p:nvPr/>
        </p:nvSpPr>
        <p:spPr>
          <a:xfrm>
            <a:off x="1828800" y="1508760"/>
            <a:ext cx="548640" cy="274320"/>
          </a:xfrm>
          <a:prstGeom prst="roundRect">
            <a:avLst>
              <a:gd name="adj" fmla="val 16667"/>
            </a:avLst>
          </a:prstGeom>
          <a:solidFill>
            <a:schemeClr val="bg2"/>
          </a:solidFill>
          <a:ln w="12700">
            <a:solidFill>
              <a:schemeClr val="accent4"/>
            </a:solidFill>
            <a:prstDash val="solid"/>
          </a:ln>
        </p:spPr>
      </p:sp>
      <p:sp>
        <p:nvSpPr>
          <p:cNvPr id="34" name="Progres Cerințe"/>
          <p:cNvSpPr/>
          <p:nvPr/>
        </p:nvSpPr>
        <p:spPr>
          <a:xfrm>
            <a:off x="1828800" y="1508760"/>
            <a:ext cx="548640" cy="274320"/>
          </a:xfrm>
          <a:prstGeom prst="roundRect">
            <a:avLst>
              <a:gd name="adj" fmla="val 16667"/>
            </a:avLst>
          </a:prstGeom>
          <a:solidFill>
            <a:schemeClr val="accent4"/>
          </a:solidFill>
          <a:ln w="12700">
            <a:solidFill>
              <a:schemeClr val="accent4"/>
            </a:solidFill>
            <a:prstDash val="solid"/>
          </a:ln>
        </p:spPr>
      </p:sp>
      <p:sp>
        <p:nvSpPr>
          <p:cNvPr id="35" name="Text 32"/>
          <p:cNvSpPr txBox="1"/>
          <p:nvPr/>
        </p:nvSpPr>
        <p:spPr>
          <a:xfrm>
            <a:off x="457200" y="1874520"/>
            <a:ext cx="1325880" cy="457200"/>
          </a:xfrm>
          <a:prstGeom prst="rect">
            <a:avLst/>
          </a:prstGeom>
          <a:noFill/>
          <a:ln/>
        </p:spPr>
        <p:txBody>
          <a:bodyPr wrap="square" lIns="0" tIns="0" rIns="0" bIns="0" rtlCol="0" anchor="ctr"/>
          <a:lstStyle/>
          <a:p>
            <a:pPr indent="0" marL="0">
              <a:buNone/>
            </a:pPr>
            <a:r>
              <a:rPr lang="en-US" sz="1200" b="1" dirty="0">
                <a:solidFill>
                  <a:schemeClr val="tx1"/>
                </a:solidFill>
              </a:rPr>
              <a:t>Design</a:t>
            </a:r>
            <a:endParaRPr lang="en-US" sz="1200" dirty="0"/>
          </a:p>
        </p:txBody>
      </p:sp>
      <p:sp>
        <p:nvSpPr>
          <p:cNvPr id="36" name="Bara Design"/>
          <p:cNvSpPr/>
          <p:nvPr/>
        </p:nvSpPr>
        <p:spPr>
          <a:xfrm>
            <a:off x="2377440" y="1965960"/>
            <a:ext cx="548640" cy="274320"/>
          </a:xfrm>
          <a:prstGeom prst="roundRect">
            <a:avLst>
              <a:gd name="adj" fmla="val 16667"/>
            </a:avLst>
          </a:prstGeom>
          <a:solidFill>
            <a:schemeClr val="bg2"/>
          </a:solidFill>
          <a:ln w="12700">
            <a:solidFill>
              <a:schemeClr val="accent4"/>
            </a:solidFill>
            <a:prstDash val="solid"/>
          </a:ln>
        </p:spPr>
      </p:sp>
      <p:sp>
        <p:nvSpPr>
          <p:cNvPr id="37" name="Progres Design"/>
          <p:cNvSpPr/>
          <p:nvPr/>
        </p:nvSpPr>
        <p:spPr>
          <a:xfrm>
            <a:off x="2377440" y="1965960"/>
            <a:ext cx="548640" cy="274320"/>
          </a:xfrm>
          <a:prstGeom prst="roundRect">
            <a:avLst>
              <a:gd name="adj" fmla="val 16667"/>
            </a:avLst>
          </a:prstGeom>
          <a:solidFill>
            <a:schemeClr val="accent4"/>
          </a:solidFill>
          <a:ln w="12700">
            <a:solidFill>
              <a:schemeClr val="accent4"/>
            </a:solidFill>
            <a:prstDash val="solid"/>
          </a:ln>
        </p:spPr>
      </p:sp>
      <p:sp>
        <p:nvSpPr>
          <p:cNvPr id="38" name="Text 35"/>
          <p:cNvSpPr txBox="1"/>
          <p:nvPr/>
        </p:nvSpPr>
        <p:spPr>
          <a:xfrm>
            <a:off x="457200" y="2331720"/>
            <a:ext cx="1325880" cy="457200"/>
          </a:xfrm>
          <a:prstGeom prst="rect">
            <a:avLst/>
          </a:prstGeom>
          <a:noFill/>
          <a:ln/>
        </p:spPr>
        <p:txBody>
          <a:bodyPr wrap="square" lIns="0" tIns="0" rIns="0" bIns="0" rtlCol="0" anchor="ctr"/>
          <a:lstStyle/>
          <a:p>
            <a:pPr indent="0" marL="0">
              <a:buNone/>
            </a:pPr>
            <a:r>
              <a:rPr lang="en-US" sz="1200" b="1" dirty="0">
                <a:solidFill>
                  <a:schemeClr val="tx1"/>
                </a:solidFill>
              </a:rPr>
              <a:t>Implementare</a:t>
            </a:r>
            <a:endParaRPr lang="en-US" sz="1200" dirty="0"/>
          </a:p>
        </p:txBody>
      </p:sp>
      <p:sp>
        <p:nvSpPr>
          <p:cNvPr id="39" name="Bara Implementare"/>
          <p:cNvSpPr/>
          <p:nvPr/>
        </p:nvSpPr>
        <p:spPr>
          <a:xfrm>
            <a:off x="2926080" y="2423160"/>
            <a:ext cx="1097280" cy="274320"/>
          </a:xfrm>
          <a:prstGeom prst="roundRect">
            <a:avLst>
              <a:gd name="adj" fmla="val 16667"/>
            </a:avLst>
          </a:prstGeom>
          <a:solidFill>
            <a:schemeClr val="bg2"/>
          </a:solidFill>
          <a:ln w="12700">
            <a:solidFill>
              <a:schemeClr val="accent4"/>
            </a:solidFill>
            <a:prstDash val="solid"/>
          </a:ln>
        </p:spPr>
      </p:sp>
      <p:sp>
        <p:nvSpPr>
          <p:cNvPr id="40" name="Progres Implementare"/>
          <p:cNvSpPr/>
          <p:nvPr/>
        </p:nvSpPr>
        <p:spPr>
          <a:xfrm>
            <a:off x="2926080" y="2423160"/>
            <a:ext cx="658368" cy="274320"/>
          </a:xfrm>
          <a:prstGeom prst="roundRect">
            <a:avLst>
              <a:gd name="adj" fmla="val 16667"/>
            </a:avLst>
          </a:prstGeom>
          <a:solidFill>
            <a:schemeClr val="accent4"/>
          </a:solidFill>
          <a:ln w="12700">
            <a:solidFill>
              <a:schemeClr val="accent4"/>
            </a:solidFill>
            <a:prstDash val="solid"/>
          </a:ln>
        </p:spPr>
      </p:sp>
      <p:sp>
        <p:nvSpPr>
          <p:cNvPr id="41" name="Text 38"/>
          <p:cNvSpPr txBox="1"/>
          <p:nvPr/>
        </p:nvSpPr>
        <p:spPr>
          <a:xfrm>
            <a:off x="457200" y="2788920"/>
            <a:ext cx="1325880" cy="457200"/>
          </a:xfrm>
          <a:prstGeom prst="rect">
            <a:avLst/>
          </a:prstGeom>
          <a:noFill/>
          <a:ln/>
        </p:spPr>
        <p:txBody>
          <a:bodyPr wrap="square" lIns="0" tIns="0" rIns="0" bIns="0" rtlCol="0" anchor="ctr"/>
          <a:lstStyle/>
          <a:p>
            <a:pPr indent="0" marL="0">
              <a:buNone/>
            </a:pPr>
            <a:r>
              <a:rPr lang="en-US" sz="1200" b="1" dirty="0">
                <a:solidFill>
                  <a:schemeClr val="tx1"/>
                </a:solidFill>
              </a:rPr>
              <a:t>Testare</a:t>
            </a:r>
            <a:endParaRPr lang="en-US" sz="1200" dirty="0"/>
          </a:p>
        </p:txBody>
      </p:sp>
      <p:sp>
        <p:nvSpPr>
          <p:cNvPr id="42" name="Bara Testare"/>
          <p:cNvSpPr/>
          <p:nvPr/>
        </p:nvSpPr>
        <p:spPr>
          <a:xfrm>
            <a:off x="3749040" y="2880360"/>
            <a:ext cx="822960" cy="274320"/>
          </a:xfrm>
          <a:prstGeom prst="roundRect">
            <a:avLst>
              <a:gd name="adj" fmla="val 16667"/>
            </a:avLst>
          </a:prstGeom>
          <a:solidFill>
            <a:schemeClr val="bg2"/>
          </a:solidFill>
          <a:ln w="12700">
            <a:solidFill>
              <a:schemeClr val="accent4"/>
            </a:solidFill>
            <a:prstDash val="solid"/>
          </a:ln>
        </p:spPr>
      </p:sp>
      <p:sp>
        <p:nvSpPr>
          <p:cNvPr id="43" name="Progres Testare"/>
          <p:cNvSpPr/>
          <p:nvPr/>
        </p:nvSpPr>
        <p:spPr>
          <a:xfrm>
            <a:off x="3749040" y="2880360"/>
            <a:ext cx="91440" cy="274320"/>
          </a:xfrm>
          <a:prstGeom prst="roundRect">
            <a:avLst>
              <a:gd name="adj" fmla="val 50000"/>
            </a:avLst>
          </a:prstGeom>
          <a:solidFill>
            <a:schemeClr val="accent4"/>
          </a:solidFill>
          <a:ln w="12700">
            <a:solidFill>
              <a:schemeClr val="accent4"/>
            </a:solidFill>
            <a:prstDash val="solid"/>
          </a:ln>
        </p:spPr>
      </p:sp>
      <p:sp>
        <p:nvSpPr>
          <p:cNvPr id="44" name="Text 41"/>
          <p:cNvSpPr txBox="1"/>
          <p:nvPr/>
        </p:nvSpPr>
        <p:spPr>
          <a:xfrm>
            <a:off x="457200" y="3246120"/>
            <a:ext cx="1325880" cy="457200"/>
          </a:xfrm>
          <a:prstGeom prst="rect">
            <a:avLst/>
          </a:prstGeom>
          <a:noFill/>
          <a:ln/>
        </p:spPr>
        <p:txBody>
          <a:bodyPr wrap="square" lIns="0" tIns="0" rIns="0" bIns="0" rtlCol="0" anchor="ctr"/>
          <a:lstStyle/>
          <a:p>
            <a:pPr indent="0" marL="0">
              <a:buNone/>
            </a:pPr>
            <a:r>
              <a:rPr lang="en-US" sz="1200" b="1" dirty="0">
                <a:solidFill>
                  <a:schemeClr val="tx1"/>
                </a:solidFill>
              </a:rPr>
              <a:t>Instruire</a:t>
            </a:r>
            <a:endParaRPr lang="en-US" sz="1200" dirty="0"/>
          </a:p>
        </p:txBody>
      </p:sp>
      <p:sp>
        <p:nvSpPr>
          <p:cNvPr id="45" name="Bara Instruire"/>
          <p:cNvSpPr/>
          <p:nvPr/>
        </p:nvSpPr>
        <p:spPr>
          <a:xfrm>
            <a:off x="4297680" y="3337560"/>
            <a:ext cx="548640" cy="274320"/>
          </a:xfrm>
          <a:prstGeom prst="roundRect">
            <a:avLst>
              <a:gd name="adj" fmla="val 16667"/>
            </a:avLst>
          </a:prstGeom>
          <a:solidFill>
            <a:schemeClr val="bg2"/>
          </a:solidFill>
          <a:ln w="12700">
            <a:solidFill>
              <a:schemeClr val="accent4"/>
            </a:solidFill>
            <a:prstDash val="solid"/>
          </a:ln>
        </p:spPr>
      </p:sp>
      <p:sp>
        <p:nvSpPr>
          <p:cNvPr id="46" name="Text 43"/>
          <p:cNvSpPr txBox="1"/>
          <p:nvPr/>
        </p:nvSpPr>
        <p:spPr>
          <a:xfrm>
            <a:off x="457200" y="3703320"/>
            <a:ext cx="1325880" cy="457200"/>
          </a:xfrm>
          <a:prstGeom prst="rect">
            <a:avLst/>
          </a:prstGeom>
          <a:noFill/>
          <a:ln/>
        </p:spPr>
        <p:txBody>
          <a:bodyPr wrap="square" lIns="0" tIns="0" rIns="0" bIns="0" rtlCol="0" anchor="ctr"/>
          <a:lstStyle/>
          <a:p>
            <a:pPr indent="0" marL="0">
              <a:buNone/>
            </a:pPr>
            <a:r>
              <a:rPr lang="en-US" sz="1200" b="1" dirty="0">
                <a:solidFill>
                  <a:schemeClr val="tx1"/>
                </a:solidFill>
              </a:rPr>
              <a:t>Lansare</a:t>
            </a:r>
            <a:endParaRPr lang="en-US" sz="1200" dirty="0"/>
          </a:p>
        </p:txBody>
      </p:sp>
      <p:sp>
        <p:nvSpPr>
          <p:cNvPr id="47" name="Bara Lansare"/>
          <p:cNvSpPr/>
          <p:nvPr/>
        </p:nvSpPr>
        <p:spPr>
          <a:xfrm>
            <a:off x="4846320" y="3794760"/>
            <a:ext cx="274320" cy="274320"/>
          </a:xfrm>
          <a:prstGeom prst="roundRect">
            <a:avLst>
              <a:gd name="adj" fmla="val 16667"/>
            </a:avLst>
          </a:prstGeom>
          <a:solidFill>
            <a:schemeClr val="bg2"/>
          </a:solidFill>
          <a:ln w="12700">
            <a:solidFill>
              <a:schemeClr val="accent4"/>
            </a:solidFill>
            <a:prstDash val="solid"/>
          </a:ln>
        </p:spPr>
      </p:sp>
      <p:sp>
        <p:nvSpPr>
          <p:cNvPr id="48" name="Linie azi"/>
          <p:cNvSpPr/>
          <p:nvPr/>
        </p:nvSpPr>
        <p:spPr>
          <a:xfrm>
            <a:off x="3474720" y="1371600"/>
            <a:ext cx="0" cy="2834640"/>
          </a:xfrm>
          <a:prstGeom prst="line">
            <a:avLst/>
          </a:prstGeom>
          <a:noFill/>
          <a:ln w="25400">
            <a:solidFill>
              <a:schemeClr val="accent3"/>
            </a:solidFill>
            <a:prstDash val="dash"/>
          </a:ln>
        </p:spPr>
      </p:sp>
      <p:sp>
        <p:nvSpPr>
          <p:cNvPr id="49" name="Text 46"/>
          <p:cNvSpPr txBox="1"/>
          <p:nvPr/>
        </p:nvSpPr>
        <p:spPr>
          <a:xfrm>
            <a:off x="2926080" y="4233672"/>
            <a:ext cx="1097280" cy="228600"/>
          </a:xfrm>
          <a:prstGeom prst="rect">
            <a:avLst/>
          </a:prstGeom>
          <a:noFill/>
          <a:ln/>
        </p:spPr>
        <p:txBody>
          <a:bodyPr wrap="square" lIns="0" tIns="0" rIns="0" bIns="0" rtlCol="0" anchor="t"/>
          <a:lstStyle/>
          <a:p>
            <a:pPr algn="ctr" indent="0" marL="0">
              <a:buNone/>
            </a:pPr>
            <a:r>
              <a:rPr lang="en-US" sz="1000" b="1" dirty="0">
                <a:solidFill>
                  <a:schemeClr val="accent3"/>
                </a:solidFill>
              </a:rPr>
              <a:t>Azi (săpt. 7)</a:t>
            </a:r>
            <a:endParaRPr lang="en-US" sz="1000" dirty="0"/>
          </a:p>
        </p:txBody>
      </p:sp>
      <p:sp>
        <p:nvSpPr>
          <p:cNvPr id="50" name="Text 47"/>
          <p:cNvSpPr txBox="1"/>
          <p:nvPr/>
        </p:nvSpPr>
        <p:spPr>
          <a:xfrm>
            <a:off x="457200" y="4343400"/>
            <a:ext cx="3657600" cy="274320"/>
          </a:xfrm>
          <a:prstGeom prst="rect">
            <a:avLst/>
          </a:prstGeom>
          <a:noFill/>
          <a:ln/>
        </p:spPr>
        <p:txBody>
          <a:bodyPr wrap="square" lIns="0" tIns="0" rIns="0" bIns="0" rtlCol="0" anchor="t"/>
          <a:lstStyle/>
          <a:p>
            <a:pPr indent="0" marL="0">
              <a:buNone/>
            </a:pPr>
            <a:r>
              <a:rPr lang="en-US" sz="1100" i="1" dirty="0">
                <a:solidFill>
                  <a:schemeClr val="tx2"/>
                </a:solidFill>
              </a:rPr>
              <a:t>Plan vs. progres real</a:t>
            </a:r>
            <a:endParaRPr lang="en-US" sz="1100" dirty="0"/>
          </a:p>
        </p:txBody>
      </p:sp>
      <p:pic>
        <p:nvPicPr>
          <p:cNvPr id="51" name="Gantt original" descr="/home/user/PREZENTARE_MPS/build/assets/ganttchart.png">    </p:cNvPr>
          <p:cNvPicPr>
            <a:picLocks noChangeAspect="1"/>
          </p:cNvPicPr>
          <p:nvPr/>
        </p:nvPicPr>
        <p:blipFill>
          <a:blip r:embed="rId1"/>
          <a:stretch>
            <a:fillRect/>
          </a:stretch>
        </p:blipFill>
        <p:spPr>
          <a:xfrm>
            <a:off x="5394960" y="1188720"/>
            <a:ext cx="3291840" cy="1956816"/>
          </a:xfrm>
          <a:prstGeom prst="rect">
            <a:avLst/>
          </a:prstGeom>
        </p:spPr>
      </p:pic>
      <p:sp>
        <p:nvSpPr>
          <p:cNvPr id="52" name="Text 48"/>
          <p:cNvSpPr txBox="1"/>
          <p:nvPr/>
        </p:nvSpPr>
        <p:spPr>
          <a:xfrm>
            <a:off x="5394960" y="3200400"/>
            <a:ext cx="3291840" cy="365760"/>
          </a:xfrm>
          <a:prstGeom prst="rect">
            <a:avLst/>
          </a:prstGeom>
          <a:noFill/>
          <a:ln/>
        </p:spPr>
        <p:txBody>
          <a:bodyPr wrap="square" lIns="0" tIns="0" rIns="0" bIns="0" rtlCol="0" anchor="t"/>
          <a:lstStyle/>
          <a:p>
            <a:pPr indent="0" marL="0">
              <a:buNone/>
            </a:pPr>
            <a:r>
              <a:rPr lang="en-US" sz="900" i="1" dirty="0">
                <a:solidFill>
                  <a:schemeClr val="tx2"/>
                </a:solidFill>
              </a:rPr>
              <a:t>Sursă: The Gantt chart, a working tool of management (Clark, Wallace, Gantt)</a:t>
            </a:r>
            <a:endParaRPr lang="en-US" sz="900" dirty="0"/>
          </a:p>
        </p:txBody>
      </p:sp>
      <p:sp>
        <p:nvSpPr>
          <p:cNvPr id="53" name="Card limita Gantt"/>
          <p:cNvSpPr/>
          <p:nvPr/>
        </p:nvSpPr>
        <p:spPr>
          <a:xfrm>
            <a:off x="5394960" y="3657600"/>
            <a:ext cx="3291840" cy="868680"/>
          </a:xfrm>
          <a:prstGeom prst="roundRect">
            <a:avLst>
              <a:gd name="adj" fmla="val 10526"/>
            </a:avLst>
          </a:prstGeom>
          <a:solidFill>
            <a:schemeClr val="bg2"/>
          </a:solidFill>
          <a:ln w="12700">
            <a:solidFill>
              <a:schemeClr val="bg2"/>
            </a:solidFill>
            <a:prstDash val="solid"/>
          </a:ln>
        </p:spPr>
      </p:sp>
      <p:sp>
        <p:nvSpPr>
          <p:cNvPr id="54" name="Text 50"/>
          <p:cNvSpPr txBox="1"/>
          <p:nvPr/>
        </p:nvSpPr>
        <p:spPr>
          <a:xfrm>
            <a:off x="5532120" y="3657600"/>
            <a:ext cx="3017520" cy="868680"/>
          </a:xfrm>
          <a:prstGeom prst="rect">
            <a:avLst/>
          </a:prstGeom>
          <a:noFill/>
          <a:ln/>
        </p:spPr>
        <p:txBody>
          <a:bodyPr wrap="square" lIns="0" tIns="0" rIns="0" bIns="0" rtlCol="0" anchor="ctr"/>
          <a:lstStyle/>
          <a:p>
            <a:pPr indent="0" marL="0">
              <a:buNone/>
            </a:pPr>
            <a:r>
              <a:rPr lang="en-US" sz="1200" b="1" dirty="0">
                <a:solidFill>
                  <a:schemeClr val="accent3"/>
                </a:solidFill>
              </a:rPr>
              <a:t>Limita: </a:t>
            </a:r>
            <a:pPr indent="0" marL="0">
              <a:buNone/>
            </a:pPr>
            <a:r>
              <a:rPr lang="en-US" sz="1200" dirty="0">
                <a:solidFill>
                  <a:schemeClr val="tx1"/>
                </a:solidFill>
              </a:rPr>
              <a:t>nu spune ce activități pot întârzia întregul proiect. Aici intră CPM.</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200" b="1" dirty="0">
                <a:solidFill>
                  <a:schemeClr val="tx1"/>
                </a:solidFill>
              </a:rPr>
              <a:t>Ce întârzie lansarea aplicației?</a:t>
            </a:r>
            <a:endParaRPr lang="en-US" sz="2200" dirty="0"/>
          </a:p>
        </p:txBody>
      </p:sp>
      <p:sp>
        <p:nvSpPr>
          <p:cNvPr id="3" name="Chip prezentator"/>
          <p:cNvSpPr/>
          <p:nvPr/>
        </p:nvSpPr>
        <p:spPr>
          <a:xfrm>
            <a:off x="7589520" y="384048"/>
            <a:ext cx="1097280" cy="292608"/>
          </a:xfrm>
          <a:prstGeom prst="roundRect">
            <a:avLst>
              <a:gd name="adj" fmla="val 50000"/>
            </a:avLst>
          </a:prstGeom>
          <a:solidFill>
            <a:schemeClr val="accent4"/>
          </a:solidFill>
          <a:ln w="12700">
            <a:solidFill>
              <a:schemeClr val="accent4"/>
            </a:solidFill>
            <a:prstDash val="solid"/>
          </a:ln>
        </p:spPr>
      </p:sp>
      <p:sp>
        <p:nvSpPr>
          <p:cNvPr id="4" name="Text prezentator"/>
          <p:cNvSpPr txBox="1"/>
          <p:nvPr/>
        </p:nvSpPr>
        <p:spPr>
          <a:xfrm>
            <a:off x="7589520" y="384048"/>
            <a:ext cx="1097280" cy="292608"/>
          </a:xfrm>
          <a:prstGeom prst="rect">
            <a:avLst/>
          </a:prstGeom>
          <a:noFill/>
          <a:ln/>
        </p:spPr>
        <p:txBody>
          <a:bodyPr wrap="square" lIns="0" tIns="0" rIns="0" bIns="0" rtlCol="0" anchor="ctr"/>
          <a:lstStyle/>
          <a:p>
            <a:pPr algn="ctr" indent="0" marL="0">
              <a:buNone/>
            </a:pPr>
            <a:r>
              <a:rPr lang="en-US" sz="1100" b="1" dirty="0">
                <a:solidFill>
                  <a:schemeClr val="bg1"/>
                </a:solidFill>
              </a:rPr>
              <a:t>A  ·  3'</a:t>
            </a:r>
            <a:endParaRPr lang="en-US" sz="1100" dirty="0"/>
          </a:p>
        </p:txBody>
      </p:sp>
      <p:sp>
        <p:nvSpPr>
          <p:cNvPr id="6" name="Text 3"/>
          <p:cNvSpPr txBox="1"/>
          <p:nvPr/>
        </p:nvSpPr>
        <p:spPr>
          <a:xfrm>
            <a:off x="457200" y="868680"/>
            <a:ext cx="8229600" cy="274320"/>
          </a:xfrm>
          <a:prstGeom prst="rect">
            <a:avLst/>
          </a:prstGeom>
          <a:noFill/>
          <a:ln/>
        </p:spPr>
        <p:txBody>
          <a:bodyPr wrap="square" lIns="0" tIns="0" rIns="0" bIns="0" rtlCol="0" anchor="t"/>
          <a:lstStyle/>
          <a:p>
            <a:pPr indent="0" marL="0">
              <a:buNone/>
            </a:pPr>
            <a:r>
              <a:rPr lang="en-US" sz="1200" dirty="0">
                <a:solidFill>
                  <a:schemeClr val="tx2"/>
                </a:solidFill>
              </a:rPr>
              <a:t>Două echipe lucrează în paralel. Lungimea fiecărei bare este durata în zile.</a:t>
            </a:r>
            <a:endParaRPr lang="en-US" sz="1200" dirty="0"/>
          </a:p>
        </p:txBody>
      </p:sp>
      <p:sp>
        <p:nvSpPr>
          <p:cNvPr id="7" name="Axa zile"/>
          <p:cNvSpPr/>
          <p:nvPr/>
        </p:nvSpPr>
        <p:spPr>
          <a:xfrm>
            <a:off x="457200" y="1325880"/>
            <a:ext cx="7936992" cy="0"/>
          </a:xfrm>
          <a:prstGeom prst="line">
            <a:avLst/>
          </a:prstGeom>
          <a:noFill/>
          <a:ln w="12700">
            <a:solidFill>
              <a:schemeClr val="accent6"/>
            </a:solidFill>
            <a:prstDash val="solid"/>
          </a:ln>
        </p:spPr>
      </p:sp>
      <p:sp>
        <p:nvSpPr>
          <p:cNvPr id="8" name="Text 5"/>
          <p:cNvSpPr txBox="1"/>
          <p:nvPr/>
        </p:nvSpPr>
        <p:spPr>
          <a:xfrm>
            <a:off x="91440" y="1097280"/>
            <a:ext cx="731520" cy="201168"/>
          </a:xfrm>
          <a:prstGeom prst="rect">
            <a:avLst/>
          </a:prstGeom>
          <a:noFill/>
          <a:ln/>
        </p:spPr>
        <p:txBody>
          <a:bodyPr wrap="square" lIns="0" tIns="0" rIns="0" bIns="0" rtlCol="0" anchor="t"/>
          <a:lstStyle/>
          <a:p>
            <a:pPr algn="ctr" indent="0" marL="0">
              <a:buNone/>
            </a:pPr>
            <a:r>
              <a:rPr lang="en-US" sz="900" dirty="0">
                <a:solidFill>
                  <a:schemeClr val="tx2"/>
                </a:solidFill>
              </a:rPr>
              <a:t>0 zile</a:t>
            </a:r>
            <a:endParaRPr lang="en-US" sz="900" dirty="0"/>
          </a:p>
        </p:txBody>
      </p:sp>
      <p:sp>
        <p:nvSpPr>
          <p:cNvPr id="9" name="Text 6"/>
          <p:cNvSpPr txBox="1"/>
          <p:nvPr/>
        </p:nvSpPr>
        <p:spPr>
          <a:xfrm>
            <a:off x="1792224" y="1097280"/>
            <a:ext cx="731520" cy="201168"/>
          </a:xfrm>
          <a:prstGeom prst="rect">
            <a:avLst/>
          </a:prstGeom>
          <a:noFill/>
          <a:ln/>
        </p:spPr>
        <p:txBody>
          <a:bodyPr wrap="square" lIns="0" tIns="0" rIns="0" bIns="0" rtlCol="0" anchor="t"/>
          <a:lstStyle/>
          <a:p>
            <a:pPr algn="ctr" indent="0" marL="0">
              <a:buNone/>
            </a:pPr>
            <a:r>
              <a:rPr lang="en-US" sz="900" dirty="0">
                <a:solidFill>
                  <a:schemeClr val="tx2"/>
                </a:solidFill>
              </a:rPr>
              <a:t>3</a:t>
            </a:r>
            <a:endParaRPr lang="en-US" sz="900" dirty="0"/>
          </a:p>
        </p:txBody>
      </p:sp>
      <p:sp>
        <p:nvSpPr>
          <p:cNvPr id="10" name="Text 7"/>
          <p:cNvSpPr txBox="1"/>
          <p:nvPr/>
        </p:nvSpPr>
        <p:spPr>
          <a:xfrm>
            <a:off x="4059936" y="1097280"/>
            <a:ext cx="731520" cy="201168"/>
          </a:xfrm>
          <a:prstGeom prst="rect">
            <a:avLst/>
          </a:prstGeom>
          <a:noFill/>
          <a:ln/>
        </p:spPr>
        <p:txBody>
          <a:bodyPr wrap="square" lIns="0" tIns="0" rIns="0" bIns="0" rtlCol="0" anchor="t"/>
          <a:lstStyle/>
          <a:p>
            <a:pPr algn="ctr" indent="0" marL="0">
              <a:buNone/>
            </a:pPr>
            <a:r>
              <a:rPr lang="en-US" sz="900" dirty="0">
                <a:solidFill>
                  <a:schemeClr val="tx2"/>
                </a:solidFill>
              </a:rPr>
              <a:t>7</a:t>
            </a:r>
            <a:endParaRPr lang="en-US" sz="900" dirty="0"/>
          </a:p>
        </p:txBody>
      </p:sp>
      <p:sp>
        <p:nvSpPr>
          <p:cNvPr id="11" name="Text 8"/>
          <p:cNvSpPr txBox="1"/>
          <p:nvPr/>
        </p:nvSpPr>
        <p:spPr>
          <a:xfrm>
            <a:off x="6894576" y="1097280"/>
            <a:ext cx="731520" cy="201168"/>
          </a:xfrm>
          <a:prstGeom prst="rect">
            <a:avLst/>
          </a:prstGeom>
          <a:noFill/>
          <a:ln/>
        </p:spPr>
        <p:txBody>
          <a:bodyPr wrap="square" lIns="0" tIns="0" rIns="0" bIns="0" rtlCol="0" anchor="t"/>
          <a:lstStyle/>
          <a:p>
            <a:pPr algn="ctr" indent="0" marL="0">
              <a:buNone/>
            </a:pPr>
            <a:r>
              <a:rPr lang="en-US" sz="900" dirty="0">
                <a:solidFill>
                  <a:schemeClr val="tx2"/>
                </a:solidFill>
              </a:rPr>
              <a:t>12</a:t>
            </a:r>
            <a:endParaRPr lang="en-US" sz="900" dirty="0"/>
          </a:p>
        </p:txBody>
      </p:sp>
      <p:sp>
        <p:nvSpPr>
          <p:cNvPr id="12" name="Text 9"/>
          <p:cNvSpPr txBox="1"/>
          <p:nvPr/>
        </p:nvSpPr>
        <p:spPr>
          <a:xfrm>
            <a:off x="8028432" y="1097280"/>
            <a:ext cx="731520" cy="201168"/>
          </a:xfrm>
          <a:prstGeom prst="rect">
            <a:avLst/>
          </a:prstGeom>
          <a:noFill/>
          <a:ln/>
        </p:spPr>
        <p:txBody>
          <a:bodyPr wrap="square" lIns="0" tIns="0" rIns="0" bIns="0" rtlCol="0" anchor="t"/>
          <a:lstStyle/>
          <a:p>
            <a:pPr algn="ctr" indent="0" marL="0">
              <a:buNone/>
            </a:pPr>
            <a:r>
              <a:rPr lang="en-US" sz="900" dirty="0">
                <a:solidFill>
                  <a:schemeClr val="tx2"/>
                </a:solidFill>
              </a:rPr>
              <a:t>14</a:t>
            </a:r>
            <a:endParaRPr lang="en-US" sz="900" dirty="0"/>
          </a:p>
        </p:txBody>
      </p:sp>
      <p:sp>
        <p:nvSpPr>
          <p:cNvPr id="13" name="Bloc cerinte"/>
          <p:cNvSpPr/>
          <p:nvPr/>
        </p:nvSpPr>
        <p:spPr>
          <a:xfrm>
            <a:off x="457200" y="1463040"/>
            <a:ext cx="1664208" cy="1737360"/>
          </a:xfrm>
          <a:prstGeom prst="roundRect">
            <a:avLst>
              <a:gd name="adj" fmla="val 4396"/>
            </a:avLst>
          </a:prstGeom>
          <a:solidFill>
            <a:schemeClr val="accent4"/>
          </a:solidFill>
          <a:ln w="12700">
            <a:solidFill>
              <a:schemeClr val="accent4"/>
            </a:solidFill>
            <a:prstDash val="solid"/>
          </a:ln>
        </p:spPr>
      </p:sp>
      <p:sp>
        <p:nvSpPr>
          <p:cNvPr id="14" name="Text 11"/>
          <p:cNvSpPr txBox="1"/>
          <p:nvPr/>
        </p:nvSpPr>
        <p:spPr>
          <a:xfrm>
            <a:off x="457200" y="1463040"/>
            <a:ext cx="1664208" cy="1737360"/>
          </a:xfrm>
          <a:prstGeom prst="rect">
            <a:avLst/>
          </a:prstGeom>
          <a:noFill/>
          <a:ln/>
        </p:spPr>
        <p:txBody>
          <a:bodyPr wrap="square" lIns="0" tIns="0" rIns="0" bIns="0" rtlCol="0" anchor="ctr"/>
          <a:lstStyle/>
          <a:p>
            <a:pPr algn="ctr" indent="0" marL="0">
              <a:buNone/>
            </a:pPr>
            <a:r>
              <a:rPr lang="en-US" sz="1200" b="1" dirty="0">
                <a:solidFill>
                  <a:schemeClr val="bg1"/>
                </a:solidFill>
              </a:rPr>
              <a:t>Cerințe</a:t>
            </a:r>
            <a:endParaRPr lang="en-US" sz="1200" dirty="0"/>
          </a:p>
          <a:p>
            <a:pPr algn="ctr" indent="0" marL="0">
              <a:buNone/>
            </a:pPr>
            <a:r>
              <a:rPr lang="en-US" sz="1000" dirty="0">
                <a:solidFill>
                  <a:schemeClr val="bg1"/>
                </a:solidFill>
              </a:rPr>
              <a:t>3 zile</a:t>
            </a:r>
            <a:endParaRPr lang="en-US" sz="1200" dirty="0"/>
          </a:p>
        </p:txBody>
      </p:sp>
      <p:sp>
        <p:nvSpPr>
          <p:cNvPr id="15" name="Bloc backend"/>
          <p:cNvSpPr/>
          <p:nvPr/>
        </p:nvSpPr>
        <p:spPr>
          <a:xfrm>
            <a:off x="2157984" y="1463040"/>
            <a:ext cx="2231136" cy="777240"/>
          </a:xfrm>
          <a:prstGeom prst="roundRect">
            <a:avLst>
              <a:gd name="adj" fmla="val 9412"/>
            </a:avLst>
          </a:prstGeom>
          <a:solidFill>
            <a:schemeClr val="accent3"/>
          </a:solidFill>
          <a:ln w="12700">
            <a:solidFill>
              <a:schemeClr val="accent3"/>
            </a:solidFill>
            <a:prstDash val="solid"/>
          </a:ln>
        </p:spPr>
      </p:sp>
      <p:sp>
        <p:nvSpPr>
          <p:cNvPr id="16" name="Text 13"/>
          <p:cNvSpPr txBox="1"/>
          <p:nvPr/>
        </p:nvSpPr>
        <p:spPr>
          <a:xfrm>
            <a:off x="2157984" y="1463040"/>
            <a:ext cx="2231136" cy="777240"/>
          </a:xfrm>
          <a:prstGeom prst="rect">
            <a:avLst/>
          </a:prstGeom>
          <a:noFill/>
          <a:ln/>
        </p:spPr>
        <p:txBody>
          <a:bodyPr wrap="square" lIns="0" tIns="0" rIns="0" bIns="0" rtlCol="0" anchor="ctr"/>
          <a:lstStyle/>
          <a:p>
            <a:pPr algn="ctr" indent="0" marL="0">
              <a:buNone/>
            </a:pPr>
            <a:r>
              <a:rPr lang="en-US" sz="1200" b="1" dirty="0">
                <a:solidFill>
                  <a:schemeClr val="bg1"/>
                </a:solidFill>
              </a:rPr>
              <a:t>Backend</a:t>
            </a:r>
            <a:endParaRPr lang="en-US" sz="1200" dirty="0"/>
          </a:p>
          <a:p>
            <a:pPr algn="ctr" indent="0" marL="0">
              <a:buNone/>
            </a:pPr>
            <a:r>
              <a:rPr lang="en-US" sz="1000" dirty="0">
                <a:solidFill>
                  <a:schemeClr val="bg1"/>
                </a:solidFill>
              </a:rPr>
              <a:t>4 zile</a:t>
            </a:r>
            <a:endParaRPr lang="en-US" sz="1200" dirty="0"/>
          </a:p>
        </p:txBody>
      </p:sp>
      <p:sp>
        <p:nvSpPr>
          <p:cNvPr id="17" name="Bloc API"/>
          <p:cNvSpPr/>
          <p:nvPr/>
        </p:nvSpPr>
        <p:spPr>
          <a:xfrm>
            <a:off x="4425696" y="1463040"/>
            <a:ext cx="2798064" cy="777240"/>
          </a:xfrm>
          <a:prstGeom prst="roundRect">
            <a:avLst>
              <a:gd name="adj" fmla="val 9412"/>
            </a:avLst>
          </a:prstGeom>
          <a:solidFill>
            <a:schemeClr val="accent3"/>
          </a:solidFill>
          <a:ln w="12700">
            <a:solidFill>
              <a:schemeClr val="accent3"/>
            </a:solidFill>
            <a:prstDash val="solid"/>
          </a:ln>
        </p:spPr>
      </p:sp>
      <p:sp>
        <p:nvSpPr>
          <p:cNvPr id="18" name="Text 15"/>
          <p:cNvSpPr txBox="1"/>
          <p:nvPr/>
        </p:nvSpPr>
        <p:spPr>
          <a:xfrm>
            <a:off x="4425696" y="1463040"/>
            <a:ext cx="2798064" cy="777240"/>
          </a:xfrm>
          <a:prstGeom prst="rect">
            <a:avLst/>
          </a:prstGeom>
          <a:noFill/>
          <a:ln/>
        </p:spPr>
        <p:txBody>
          <a:bodyPr wrap="square" lIns="0" tIns="0" rIns="0" bIns="0" rtlCol="0" anchor="ctr"/>
          <a:lstStyle/>
          <a:p>
            <a:pPr algn="ctr" indent="0" marL="0">
              <a:buNone/>
            </a:pPr>
            <a:r>
              <a:rPr lang="en-US" sz="1200" b="1" dirty="0">
                <a:solidFill>
                  <a:schemeClr val="bg1"/>
                </a:solidFill>
              </a:rPr>
              <a:t>API</a:t>
            </a:r>
            <a:endParaRPr lang="en-US" sz="1200" dirty="0"/>
          </a:p>
          <a:p>
            <a:pPr algn="ctr" indent="0" marL="0">
              <a:buNone/>
            </a:pPr>
            <a:r>
              <a:rPr lang="en-US" sz="1000" dirty="0">
                <a:solidFill>
                  <a:schemeClr val="bg1"/>
                </a:solidFill>
              </a:rPr>
              <a:t>5 zile</a:t>
            </a:r>
            <a:endParaRPr lang="en-US" sz="1200" dirty="0"/>
          </a:p>
        </p:txBody>
      </p:sp>
      <p:sp>
        <p:nvSpPr>
          <p:cNvPr id="19" name="Bloc design"/>
          <p:cNvSpPr/>
          <p:nvPr/>
        </p:nvSpPr>
        <p:spPr>
          <a:xfrm>
            <a:off x="2157984" y="2423160"/>
            <a:ext cx="1097280" cy="777240"/>
          </a:xfrm>
          <a:prstGeom prst="roundRect">
            <a:avLst>
              <a:gd name="adj" fmla="val 9412"/>
            </a:avLst>
          </a:prstGeom>
          <a:solidFill>
            <a:schemeClr val="accent2"/>
          </a:solidFill>
          <a:ln w="12700">
            <a:solidFill>
              <a:schemeClr val="accent2"/>
            </a:solidFill>
            <a:prstDash val="solid"/>
          </a:ln>
        </p:spPr>
      </p:sp>
      <p:sp>
        <p:nvSpPr>
          <p:cNvPr id="20" name="Text 17"/>
          <p:cNvSpPr txBox="1"/>
          <p:nvPr/>
        </p:nvSpPr>
        <p:spPr>
          <a:xfrm>
            <a:off x="2157984" y="2423160"/>
            <a:ext cx="1097280" cy="777240"/>
          </a:xfrm>
          <a:prstGeom prst="rect">
            <a:avLst/>
          </a:prstGeom>
          <a:noFill/>
          <a:ln/>
        </p:spPr>
        <p:txBody>
          <a:bodyPr wrap="square" lIns="0" tIns="0" rIns="0" bIns="0" rtlCol="0" anchor="ctr"/>
          <a:lstStyle/>
          <a:p>
            <a:pPr algn="ctr" indent="0" marL="0">
              <a:buNone/>
            </a:pPr>
            <a:r>
              <a:rPr lang="en-US" sz="1200" b="1" dirty="0">
                <a:solidFill>
                  <a:schemeClr val="bg1"/>
                </a:solidFill>
              </a:rPr>
              <a:t>Design</a:t>
            </a:r>
            <a:endParaRPr lang="en-US" sz="1200" dirty="0"/>
          </a:p>
          <a:p>
            <a:pPr algn="ctr" indent="0" marL="0">
              <a:buNone/>
            </a:pPr>
            <a:r>
              <a:rPr lang="en-US" sz="1000" dirty="0">
                <a:solidFill>
                  <a:schemeClr val="bg1"/>
                </a:solidFill>
              </a:rPr>
              <a:t>2 zile</a:t>
            </a:r>
            <a:endParaRPr lang="en-US" sz="1200" dirty="0"/>
          </a:p>
        </p:txBody>
      </p:sp>
      <p:sp>
        <p:nvSpPr>
          <p:cNvPr id="21" name="Bloc frontend"/>
          <p:cNvSpPr/>
          <p:nvPr/>
        </p:nvSpPr>
        <p:spPr>
          <a:xfrm>
            <a:off x="3291840" y="2423160"/>
            <a:ext cx="1664208" cy="777240"/>
          </a:xfrm>
          <a:prstGeom prst="roundRect">
            <a:avLst>
              <a:gd name="adj" fmla="val 9412"/>
            </a:avLst>
          </a:prstGeom>
          <a:solidFill>
            <a:schemeClr val="accent2"/>
          </a:solidFill>
          <a:ln w="12700">
            <a:solidFill>
              <a:schemeClr val="accent2"/>
            </a:solidFill>
            <a:prstDash val="solid"/>
          </a:ln>
        </p:spPr>
      </p:sp>
      <p:sp>
        <p:nvSpPr>
          <p:cNvPr id="22" name="Text 19"/>
          <p:cNvSpPr txBox="1"/>
          <p:nvPr/>
        </p:nvSpPr>
        <p:spPr>
          <a:xfrm>
            <a:off x="3291840" y="2423160"/>
            <a:ext cx="1664208" cy="777240"/>
          </a:xfrm>
          <a:prstGeom prst="rect">
            <a:avLst/>
          </a:prstGeom>
          <a:noFill/>
          <a:ln/>
        </p:spPr>
        <p:txBody>
          <a:bodyPr wrap="square" lIns="0" tIns="0" rIns="0" bIns="0" rtlCol="0" anchor="ctr"/>
          <a:lstStyle/>
          <a:p>
            <a:pPr algn="ctr" indent="0" marL="0">
              <a:buNone/>
            </a:pPr>
            <a:r>
              <a:rPr lang="en-US" sz="1200" b="1" dirty="0">
                <a:solidFill>
                  <a:schemeClr val="bg1"/>
                </a:solidFill>
              </a:rPr>
              <a:t>Frontend</a:t>
            </a:r>
            <a:endParaRPr lang="en-US" sz="1200" dirty="0"/>
          </a:p>
          <a:p>
            <a:pPr algn="ctr" indent="0" marL="0">
              <a:buNone/>
            </a:pPr>
            <a:r>
              <a:rPr lang="en-US" sz="1000" dirty="0">
                <a:solidFill>
                  <a:schemeClr val="bg1"/>
                </a:solidFill>
              </a:rPr>
              <a:t>3 zile</a:t>
            </a:r>
            <a:endParaRPr lang="en-US" sz="1200" dirty="0"/>
          </a:p>
        </p:txBody>
      </p:sp>
      <p:sp>
        <p:nvSpPr>
          <p:cNvPr id="23" name="Bloc asteptare"/>
          <p:cNvSpPr/>
          <p:nvPr/>
        </p:nvSpPr>
        <p:spPr>
          <a:xfrm>
            <a:off x="4992624" y="2423160"/>
            <a:ext cx="2231136" cy="777240"/>
          </a:xfrm>
          <a:prstGeom prst="roundRect">
            <a:avLst>
              <a:gd name="adj" fmla="val 9412"/>
            </a:avLst>
          </a:prstGeom>
          <a:solidFill>
            <a:schemeClr val="bg2"/>
          </a:solidFill>
          <a:ln w="12700">
            <a:solidFill>
              <a:schemeClr val="accent6"/>
            </a:solidFill>
            <a:prstDash val="dash"/>
          </a:ln>
        </p:spPr>
      </p:sp>
      <p:sp>
        <p:nvSpPr>
          <p:cNvPr id="24" name="Text 21"/>
          <p:cNvSpPr txBox="1"/>
          <p:nvPr/>
        </p:nvSpPr>
        <p:spPr>
          <a:xfrm>
            <a:off x="4992624" y="2423160"/>
            <a:ext cx="2231136" cy="777240"/>
          </a:xfrm>
          <a:prstGeom prst="rect">
            <a:avLst/>
          </a:prstGeom>
          <a:noFill/>
          <a:ln/>
        </p:spPr>
        <p:txBody>
          <a:bodyPr wrap="square" lIns="0" tIns="0" rIns="0" bIns="0" rtlCol="0" anchor="ctr"/>
          <a:lstStyle/>
          <a:p>
            <a:pPr algn="ctr" indent="0" marL="0">
              <a:buNone/>
            </a:pPr>
            <a:r>
              <a:rPr lang="en-US" sz="1200" b="1" dirty="0">
                <a:solidFill>
                  <a:schemeClr val="tx2"/>
                </a:solidFill>
              </a:rPr>
              <a:t>Așteaptă 4 zile</a:t>
            </a:r>
            <a:endParaRPr lang="en-US" sz="1200" dirty="0"/>
          </a:p>
          <a:p>
            <a:pPr algn="ctr" indent="0" marL="0">
              <a:buNone/>
            </a:pPr>
            <a:r>
              <a:rPr lang="en-US" sz="1000" dirty="0">
                <a:solidFill>
                  <a:schemeClr val="tx2"/>
                </a:solidFill>
              </a:rPr>
              <a:t>rezervă (slack)</a:t>
            </a:r>
            <a:endParaRPr lang="en-US" sz="1200" dirty="0"/>
          </a:p>
        </p:txBody>
      </p:sp>
      <p:sp>
        <p:nvSpPr>
          <p:cNvPr id="25" name="Bloc lansare"/>
          <p:cNvSpPr/>
          <p:nvPr/>
        </p:nvSpPr>
        <p:spPr>
          <a:xfrm>
            <a:off x="7260336" y="1463040"/>
            <a:ext cx="1097280" cy="1737360"/>
          </a:xfrm>
          <a:prstGeom prst="roundRect">
            <a:avLst>
              <a:gd name="adj" fmla="val 6667"/>
            </a:avLst>
          </a:prstGeom>
          <a:solidFill>
            <a:schemeClr val="accent5"/>
          </a:solidFill>
          <a:ln w="12700">
            <a:solidFill>
              <a:schemeClr val="accent5"/>
            </a:solidFill>
            <a:prstDash val="solid"/>
          </a:ln>
        </p:spPr>
      </p:sp>
      <p:sp>
        <p:nvSpPr>
          <p:cNvPr id="26" name="Text 23"/>
          <p:cNvSpPr txBox="1"/>
          <p:nvPr/>
        </p:nvSpPr>
        <p:spPr>
          <a:xfrm>
            <a:off x="7260336" y="1463040"/>
            <a:ext cx="1097280" cy="1737360"/>
          </a:xfrm>
          <a:prstGeom prst="rect">
            <a:avLst/>
          </a:prstGeom>
          <a:noFill/>
          <a:ln/>
        </p:spPr>
        <p:txBody>
          <a:bodyPr wrap="square" lIns="0" tIns="0" rIns="0" bIns="0" rtlCol="0" anchor="ctr"/>
          <a:lstStyle/>
          <a:p>
            <a:pPr algn="ctr" indent="0" marL="0">
              <a:buNone/>
            </a:pPr>
            <a:r>
              <a:rPr lang="en-US" sz="1200" b="1" dirty="0">
                <a:solidFill>
                  <a:schemeClr val="bg1"/>
                </a:solidFill>
              </a:rPr>
              <a:t>Testare + lansare</a:t>
            </a:r>
            <a:endParaRPr lang="en-US" sz="1200" dirty="0"/>
          </a:p>
          <a:p>
            <a:pPr algn="ctr" indent="0" marL="0">
              <a:buNone/>
            </a:pPr>
            <a:r>
              <a:rPr lang="en-US" sz="1000" dirty="0">
                <a:solidFill>
                  <a:schemeClr val="bg1"/>
                </a:solidFill>
              </a:rPr>
              <a:t>2 zile</a:t>
            </a:r>
            <a:endParaRPr lang="en-US" sz="1200" dirty="0"/>
          </a:p>
        </p:txBody>
      </p:sp>
      <p:sp>
        <p:nvSpPr>
          <p:cNvPr id="27" name="Card drum critic"/>
          <p:cNvSpPr/>
          <p:nvPr/>
        </p:nvSpPr>
        <p:spPr>
          <a:xfrm>
            <a:off x="457200" y="3429000"/>
            <a:ext cx="4023360" cy="548640"/>
          </a:xfrm>
          <a:prstGeom prst="roundRect">
            <a:avLst>
              <a:gd name="adj" fmla="val 16667"/>
            </a:avLst>
          </a:prstGeom>
          <a:solidFill>
            <a:schemeClr val="bg2"/>
          </a:solidFill>
          <a:ln w="12700">
            <a:solidFill>
              <a:schemeClr val="bg2"/>
            </a:solidFill>
            <a:prstDash val="solid"/>
          </a:ln>
        </p:spPr>
      </p:sp>
      <p:sp>
        <p:nvSpPr>
          <p:cNvPr id="28" name="Text 25"/>
          <p:cNvSpPr txBox="1"/>
          <p:nvPr/>
        </p:nvSpPr>
        <p:spPr>
          <a:xfrm>
            <a:off x="594360" y="3429000"/>
            <a:ext cx="3840480" cy="548640"/>
          </a:xfrm>
          <a:prstGeom prst="rect">
            <a:avLst/>
          </a:prstGeom>
          <a:noFill/>
          <a:ln/>
        </p:spPr>
        <p:txBody>
          <a:bodyPr wrap="square" lIns="0" tIns="0" rIns="0" bIns="0" rtlCol="0" anchor="ctr"/>
          <a:lstStyle/>
          <a:p>
            <a:pPr indent="0" marL="0">
              <a:buNone/>
            </a:pPr>
            <a:r>
              <a:rPr lang="en-US" sz="1200" b="1" dirty="0">
                <a:solidFill>
                  <a:schemeClr val="accent3"/>
                </a:solidFill>
              </a:rPr>
              <a:t>Drum critic: </a:t>
            </a:r>
            <a:pPr indent="0" marL="0">
              <a:buNone/>
            </a:pPr>
            <a:r>
              <a:rPr lang="en-US" sz="1200" dirty="0">
                <a:solidFill>
                  <a:schemeClr val="tx1"/>
                </a:solidFill>
              </a:rPr>
              <a:t>Backend + API, cel mai lung traseu (9 zile)</a:t>
            </a:r>
            <a:endParaRPr lang="en-US" sz="1200" dirty="0"/>
          </a:p>
        </p:txBody>
      </p:sp>
      <p:sp>
        <p:nvSpPr>
          <p:cNvPr id="29" name="Card rezerva"/>
          <p:cNvSpPr/>
          <p:nvPr/>
        </p:nvSpPr>
        <p:spPr>
          <a:xfrm>
            <a:off x="4663440" y="3429000"/>
            <a:ext cx="4023360" cy="548640"/>
          </a:xfrm>
          <a:prstGeom prst="roundRect">
            <a:avLst>
              <a:gd name="adj" fmla="val 16667"/>
            </a:avLst>
          </a:prstGeom>
          <a:solidFill>
            <a:schemeClr val="bg2"/>
          </a:solidFill>
          <a:ln w="12700">
            <a:solidFill>
              <a:schemeClr val="bg2"/>
            </a:solidFill>
            <a:prstDash val="solid"/>
          </a:ln>
        </p:spPr>
      </p:sp>
      <p:sp>
        <p:nvSpPr>
          <p:cNvPr id="30" name="Text 27"/>
          <p:cNvSpPr txBox="1"/>
          <p:nvPr/>
        </p:nvSpPr>
        <p:spPr>
          <a:xfrm>
            <a:off x="4800600" y="3429000"/>
            <a:ext cx="3840480" cy="548640"/>
          </a:xfrm>
          <a:prstGeom prst="rect">
            <a:avLst/>
          </a:prstGeom>
          <a:noFill/>
          <a:ln/>
        </p:spPr>
        <p:txBody>
          <a:bodyPr wrap="square" lIns="0" tIns="0" rIns="0" bIns="0" rtlCol="0" anchor="ctr"/>
          <a:lstStyle/>
          <a:p>
            <a:pPr indent="0" marL="0">
              <a:buNone/>
            </a:pPr>
            <a:r>
              <a:rPr lang="en-US" sz="1200" b="1" dirty="0">
                <a:solidFill>
                  <a:schemeClr val="accent2"/>
                </a:solidFill>
              </a:rPr>
              <a:t>Rezervă: </a:t>
            </a:r>
            <a:pPr indent="0" marL="0">
              <a:buNone/>
            </a:pPr>
            <a:r>
              <a:rPr lang="en-US" sz="1200" dirty="0">
                <a:solidFill>
                  <a:schemeClr val="tx1"/>
                </a:solidFill>
              </a:rPr>
              <a:t>Design + Frontend pot întârzia până la 4 zile</a:t>
            </a:r>
            <a:endParaRPr lang="en-US" sz="1200" dirty="0"/>
          </a:p>
        </p:txBody>
      </p:sp>
      <p:sp>
        <p:nvSpPr>
          <p:cNvPr id="31" name="Bara intrebare"/>
          <p:cNvSpPr/>
          <p:nvPr/>
        </p:nvSpPr>
        <p:spPr>
          <a:xfrm>
            <a:off x="457200" y="4114800"/>
            <a:ext cx="8229600" cy="502920"/>
          </a:xfrm>
          <a:prstGeom prst="roundRect">
            <a:avLst>
              <a:gd name="adj" fmla="val 18182"/>
            </a:avLst>
          </a:prstGeom>
          <a:solidFill>
            <a:schemeClr val="tx1"/>
          </a:solidFill>
          <a:ln w="12700">
            <a:solidFill>
              <a:schemeClr val="tx1"/>
            </a:solidFill>
            <a:prstDash val="solid"/>
          </a:ln>
        </p:spPr>
      </p:sp>
      <p:sp>
        <p:nvSpPr>
          <p:cNvPr id="32" name="Eticheta intrebare"/>
          <p:cNvSpPr txBox="1"/>
          <p:nvPr/>
        </p:nvSpPr>
        <p:spPr>
          <a:xfrm>
            <a:off x="640080" y="4114800"/>
            <a:ext cx="1234440" cy="502920"/>
          </a:xfrm>
          <a:prstGeom prst="rect">
            <a:avLst/>
          </a:prstGeom>
          <a:noFill/>
          <a:ln/>
        </p:spPr>
        <p:txBody>
          <a:bodyPr wrap="square" lIns="0" tIns="0" rIns="0" bIns="0" rtlCol="0" anchor="ctr"/>
          <a:lstStyle/>
          <a:p>
            <a:pPr indent="0" marL="0">
              <a:buNone/>
            </a:pPr>
            <a:r>
              <a:rPr lang="en-US" sz="1100" b="1" dirty="0">
                <a:solidFill>
                  <a:schemeClr val="accent1"/>
                </a:solidFill>
              </a:rPr>
              <a:t>ÎNTREBARE</a:t>
            </a:r>
            <a:endParaRPr lang="en-US" sz="1100" dirty="0"/>
          </a:p>
        </p:txBody>
      </p:sp>
      <p:sp>
        <p:nvSpPr>
          <p:cNvPr id="33" name="Text intrebare"/>
          <p:cNvSpPr txBox="1"/>
          <p:nvPr/>
        </p:nvSpPr>
        <p:spPr>
          <a:xfrm>
            <a:off x="1920240" y="4114800"/>
            <a:ext cx="6583680" cy="502920"/>
          </a:xfrm>
          <a:prstGeom prst="rect">
            <a:avLst/>
          </a:prstGeom>
          <a:noFill/>
          <a:ln/>
        </p:spPr>
        <p:txBody>
          <a:bodyPr wrap="square" lIns="0" tIns="0" rIns="0" bIns="0" rtlCol="0" anchor="ctr"/>
          <a:lstStyle/>
          <a:p>
            <a:pPr indent="0" marL="0">
              <a:buNone/>
            </a:pPr>
            <a:r>
              <a:rPr lang="en-US" sz="1300" dirty="0">
                <a:solidFill>
                  <a:schemeClr val="bg1"/>
                </a:solidFill>
              </a:rPr>
              <a:t>Dacă Frontend-ul întârzie 2 zile, se amână lansarea? Dar dacă întârzie Backend-ul?</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200" b="1" dirty="0">
                <a:solidFill>
                  <a:schemeClr val="tx1"/>
                </a:solidFill>
              </a:rPr>
              <a:t>Legea lui Brooks și explozia canalelor</a:t>
            </a:r>
            <a:endParaRPr lang="en-US" sz="2200" dirty="0"/>
          </a:p>
        </p:txBody>
      </p:sp>
      <p:sp>
        <p:nvSpPr>
          <p:cNvPr id="3" name="Chip prezentator"/>
          <p:cNvSpPr/>
          <p:nvPr/>
        </p:nvSpPr>
        <p:spPr>
          <a:xfrm>
            <a:off x="7589520" y="384048"/>
            <a:ext cx="1097280" cy="292608"/>
          </a:xfrm>
          <a:prstGeom prst="roundRect">
            <a:avLst>
              <a:gd name="adj" fmla="val 50000"/>
            </a:avLst>
          </a:prstGeom>
          <a:solidFill>
            <a:schemeClr val="accent4"/>
          </a:solidFill>
          <a:ln w="12700">
            <a:solidFill>
              <a:schemeClr val="accent4"/>
            </a:solidFill>
            <a:prstDash val="solid"/>
          </a:ln>
        </p:spPr>
      </p:sp>
      <p:sp>
        <p:nvSpPr>
          <p:cNvPr id="4" name="Text prezentator"/>
          <p:cNvSpPr txBox="1"/>
          <p:nvPr/>
        </p:nvSpPr>
        <p:spPr>
          <a:xfrm>
            <a:off x="7589520" y="384048"/>
            <a:ext cx="1097280" cy="292608"/>
          </a:xfrm>
          <a:prstGeom prst="rect">
            <a:avLst/>
          </a:prstGeom>
          <a:noFill/>
          <a:ln/>
        </p:spPr>
        <p:txBody>
          <a:bodyPr wrap="square" lIns="0" tIns="0" rIns="0" bIns="0" rtlCol="0" anchor="ctr"/>
          <a:lstStyle/>
          <a:p>
            <a:pPr algn="ctr" indent="0" marL="0">
              <a:buNone/>
            </a:pPr>
            <a:r>
              <a:rPr lang="en-US" sz="1100" b="1" dirty="0">
                <a:solidFill>
                  <a:schemeClr val="bg1"/>
                </a:solidFill>
              </a:rPr>
              <a:t>A  ·  2,5'</a:t>
            </a:r>
            <a:endParaRPr lang="en-US" sz="1100" dirty="0"/>
          </a:p>
        </p:txBody>
      </p:sp>
      <p:graphicFrame>
        <p:nvGraphicFramePr>
          <p:cNvPr id="6" name="Chart 0" descr=""/>
          <p:cNvGraphicFramePr/>
          <p:nvPr/>
        </p:nvGraphicFramePr>
        <p:xfrm>
          <a:off x="457200" y="1097280"/>
          <a:ext cx="5120640" cy="3383280"/>
        </p:xfrm>
        <a:graphic xmlns:a="http://schemas.openxmlformats.org/drawingml/2006/main">
          <a:graphicData uri="http://schemas.openxmlformats.org/drawingml/2006/chart">
            <c:chart xmlns:c="http://schemas.openxmlformats.org/drawingml/2006/chart" r:id="rId1"/>
          </a:graphicData>
        </a:graphic>
      </p:graphicFrame>
      <p:pic>
        <p:nvPicPr>
          <p:cNvPr id="7" name="Coperta Mythical Man-Month" descr="/home/user/PREZENTARE_MPS/build/assets/mmm.png">    </p:cNvPr>
          <p:cNvPicPr>
            <a:picLocks noChangeAspect="1"/>
          </p:cNvPicPr>
          <p:nvPr/>
        </p:nvPicPr>
        <p:blipFill>
          <a:blip r:embed="rId2"/>
          <a:stretch>
            <a:fillRect/>
          </a:stretch>
        </p:blipFill>
        <p:spPr>
          <a:xfrm>
            <a:off x="5852160" y="1188720"/>
            <a:ext cx="731520" cy="1069848"/>
          </a:xfrm>
          <a:prstGeom prst="rect">
            <a:avLst/>
          </a:prstGeom>
        </p:spPr>
      </p:pic>
      <p:sp>
        <p:nvSpPr>
          <p:cNvPr id="8" name="Text 3"/>
          <p:cNvSpPr txBox="1"/>
          <p:nvPr/>
        </p:nvSpPr>
        <p:spPr>
          <a:xfrm>
            <a:off x="6720840" y="1188720"/>
            <a:ext cx="1965960" cy="1188720"/>
          </a:xfrm>
          <a:prstGeom prst="rect">
            <a:avLst/>
          </a:prstGeom>
          <a:noFill/>
          <a:ln/>
        </p:spPr>
        <p:txBody>
          <a:bodyPr wrap="square" lIns="0" tIns="0" rIns="0" bIns="0" rtlCol="0" anchor="t"/>
          <a:lstStyle/>
          <a:p>
            <a:pPr indent="0" marL="0">
              <a:buNone/>
            </a:pPr>
            <a:r>
              <a:rPr lang="en-US" sz="1200" i="1" dirty="0">
                <a:solidFill>
                  <a:schemeClr val="tx1"/>
                </a:solidFill>
              </a:rPr>
              <a:t>Mai mulți oameni într-un proiect software întârziat îl întârzie și mai mult.</a:t>
            </a:r>
            <a:endParaRPr lang="en-US" sz="1200" dirty="0"/>
          </a:p>
          <a:p>
            <a:pPr indent="0" marL="0">
              <a:buNone/>
            </a:pPr>
            <a:r>
              <a:rPr lang="en-US" sz="1000" dirty="0">
                <a:solidFill>
                  <a:schemeClr val="tx2"/>
                </a:solidFill>
              </a:rPr>
              <a:t>F. Brooks, The Mythical Man-Month</a:t>
            </a:r>
            <a:endParaRPr lang="en-US" sz="1200" dirty="0"/>
          </a:p>
        </p:txBody>
      </p:sp>
      <p:sp>
        <p:nvSpPr>
          <p:cNvPr id="9" name="Card dezbatere Brooks"/>
          <p:cNvSpPr/>
          <p:nvPr/>
        </p:nvSpPr>
        <p:spPr>
          <a:xfrm>
            <a:off x="5852160" y="2606040"/>
            <a:ext cx="2834640" cy="1874520"/>
          </a:xfrm>
          <a:prstGeom prst="roundRect">
            <a:avLst>
              <a:gd name="adj" fmla="val 4878"/>
            </a:avLst>
          </a:prstGeom>
          <a:solidFill>
            <a:schemeClr val="tx1"/>
          </a:solidFill>
          <a:ln w="12700">
            <a:solidFill>
              <a:schemeClr val="tx1"/>
            </a:solidFill>
            <a:prstDash val="solid"/>
          </a:ln>
        </p:spPr>
      </p:sp>
      <p:sp>
        <p:nvSpPr>
          <p:cNvPr id="10" name="Text 5"/>
          <p:cNvSpPr txBox="1"/>
          <p:nvPr/>
        </p:nvSpPr>
        <p:spPr>
          <a:xfrm>
            <a:off x="6035040" y="2743200"/>
            <a:ext cx="2514600" cy="914400"/>
          </a:xfrm>
          <a:prstGeom prst="rect">
            <a:avLst/>
          </a:prstGeom>
          <a:noFill/>
          <a:ln/>
        </p:spPr>
        <p:txBody>
          <a:bodyPr wrap="square" lIns="0" tIns="0" rIns="0" bIns="0" rtlCol="0" anchor="t"/>
          <a:lstStyle/>
          <a:p>
            <a:pPr indent="0" marL="0">
              <a:spcAft>
                <a:spcPts val="600"/>
              </a:spcAft>
              <a:buNone/>
            </a:pPr>
            <a:r>
              <a:rPr lang="en-US" sz="1100" b="1" dirty="0">
                <a:solidFill>
                  <a:schemeClr val="accent1"/>
                </a:solidFill>
              </a:rPr>
              <a:t>POLL · ÎNTREBAREA 3</a:t>
            </a:r>
            <a:endParaRPr lang="en-US" sz="1100" dirty="0"/>
          </a:p>
          <a:p>
            <a:pPr indent="0" marL="0">
              <a:spcAft>
                <a:spcPts val="600"/>
              </a:spcAft>
              <a:buNone/>
            </a:pPr>
            <a:r>
              <a:rPr lang="en-US" sz="1300" dirty="0">
                <a:solidFill>
                  <a:schemeClr val="bg1"/>
                </a:solidFill>
              </a:rPr>
              <a:t>Mai e valabilă legea lui Brooks cu tool-uri și practici moderne?</a:t>
            </a:r>
            <a:endParaRPr lang="en-US" sz="1100" dirty="0"/>
          </a:p>
        </p:txBody>
      </p:sp>
      <p:sp>
        <p:nvSpPr>
          <p:cNvPr id="11" name="Text 6"/>
          <p:cNvSpPr txBox="1"/>
          <p:nvPr/>
        </p:nvSpPr>
        <p:spPr>
          <a:xfrm>
            <a:off x="6035040" y="3840480"/>
            <a:ext cx="2468880" cy="365760"/>
          </a:xfrm>
          <a:prstGeom prst="rect">
            <a:avLst/>
          </a:prstGeom>
          <a:noFill/>
          <a:ln/>
        </p:spPr>
        <p:txBody>
          <a:bodyPr wrap="square" lIns="0" tIns="0" rIns="0" bIns="0" rtlCol="0" anchor="t"/>
          <a:lstStyle/>
          <a:p>
            <a:pPr indent="0" marL="0">
              <a:buNone/>
            </a:pPr>
            <a:r>
              <a:rPr lang="en-US" sz="1100" dirty="0">
                <a:solidFill>
                  <a:schemeClr val="accent6"/>
                </a:solidFill>
              </a:rPr>
              <a:t>Votați de pe telefon</a:t>
            </a:r>
            <a:endParaRPr lang="en-US" sz="1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200" b="1" dirty="0">
                <a:solidFill>
                  <a:schemeClr val="tx1"/>
                </a:solidFill>
              </a:rPr>
              <a:t>Ce este, de fapt, un proiect?</a:t>
            </a:r>
            <a:endParaRPr lang="en-US" sz="2200" dirty="0"/>
          </a:p>
        </p:txBody>
      </p:sp>
      <p:sp>
        <p:nvSpPr>
          <p:cNvPr id="3" name="Chip prezentator"/>
          <p:cNvSpPr/>
          <p:nvPr/>
        </p:nvSpPr>
        <p:spPr>
          <a:xfrm>
            <a:off x="7589520" y="384048"/>
            <a:ext cx="1097280" cy="292608"/>
          </a:xfrm>
          <a:prstGeom prst="roundRect">
            <a:avLst>
              <a:gd name="adj" fmla="val 50000"/>
            </a:avLst>
          </a:prstGeom>
          <a:solidFill>
            <a:schemeClr val="accent2"/>
          </a:solidFill>
          <a:ln w="12700">
            <a:solidFill>
              <a:schemeClr val="accent2"/>
            </a:solidFill>
            <a:prstDash val="solid"/>
          </a:ln>
        </p:spPr>
      </p:sp>
      <p:sp>
        <p:nvSpPr>
          <p:cNvPr id="4" name="Text prezentator"/>
          <p:cNvSpPr txBox="1"/>
          <p:nvPr/>
        </p:nvSpPr>
        <p:spPr>
          <a:xfrm>
            <a:off x="7589520" y="384048"/>
            <a:ext cx="1097280" cy="292608"/>
          </a:xfrm>
          <a:prstGeom prst="rect">
            <a:avLst/>
          </a:prstGeom>
          <a:noFill/>
          <a:ln/>
        </p:spPr>
        <p:txBody>
          <a:bodyPr wrap="square" lIns="0" tIns="0" rIns="0" bIns="0" rtlCol="0" anchor="ctr"/>
          <a:lstStyle/>
          <a:p>
            <a:pPr algn="ctr" indent="0" marL="0">
              <a:buNone/>
            </a:pPr>
            <a:r>
              <a:rPr lang="en-US" sz="1100" b="1" dirty="0">
                <a:solidFill>
                  <a:schemeClr val="bg1"/>
                </a:solidFill>
              </a:rPr>
              <a:t>B  ·  1,5'</a:t>
            </a:r>
            <a:endParaRPr lang="en-US" sz="1100" dirty="0"/>
          </a:p>
        </p:txBody>
      </p:sp>
      <p:sp>
        <p:nvSpPr>
          <p:cNvPr id="6" name="Definitie proiect"/>
          <p:cNvSpPr/>
          <p:nvPr/>
        </p:nvSpPr>
        <p:spPr>
          <a:xfrm>
            <a:off x="457200" y="1097280"/>
            <a:ext cx="8229600" cy="960120"/>
          </a:xfrm>
          <a:prstGeom prst="roundRect">
            <a:avLst>
              <a:gd name="adj" fmla="val 9524"/>
            </a:avLst>
          </a:prstGeom>
          <a:solidFill>
            <a:schemeClr val="tx1"/>
          </a:solidFill>
          <a:ln w="12700">
            <a:solidFill>
              <a:schemeClr val="tx1"/>
            </a:solidFill>
            <a:prstDash val="solid"/>
          </a:ln>
        </p:spPr>
      </p:sp>
      <p:sp>
        <p:nvSpPr>
          <p:cNvPr id="7" name="Text 4"/>
          <p:cNvSpPr txBox="1"/>
          <p:nvPr/>
        </p:nvSpPr>
        <p:spPr>
          <a:xfrm>
            <a:off x="685800" y="1097280"/>
            <a:ext cx="7772400" cy="960120"/>
          </a:xfrm>
          <a:prstGeom prst="rect">
            <a:avLst/>
          </a:prstGeom>
          <a:noFill/>
          <a:ln/>
        </p:spPr>
        <p:txBody>
          <a:bodyPr wrap="square" lIns="0" tIns="0" rIns="0" bIns="0" rtlCol="0" anchor="ctr"/>
          <a:lstStyle/>
          <a:p>
            <a:pPr indent="0" marL="0">
              <a:buNone/>
            </a:pPr>
            <a:r>
              <a:rPr lang="en-US" sz="1700" i="1" dirty="0">
                <a:solidFill>
                  <a:schemeClr val="bg1"/>
                </a:solidFill>
              </a:rPr>
              <a:t>„Un efort temporar realizat pentru crearea unui produs, serviciu sau rezultat unic.”</a:t>
            </a:r>
            <a:pPr indent="0" marL="0">
              <a:buNone/>
            </a:pPr>
            <a:r>
              <a:rPr lang="en-US" sz="1100" b="1" dirty="0">
                <a:solidFill>
                  <a:schemeClr val="accent1"/>
                </a:solidFill>
              </a:rPr>
              <a:t>   PMBOK</a:t>
            </a:r>
            <a:endParaRPr lang="en-US" sz="1700" dirty="0"/>
          </a:p>
        </p:txBody>
      </p:sp>
      <p:sp>
        <p:nvSpPr>
          <p:cNvPr id="8" name="Card caracteristica proiect 1"/>
          <p:cNvSpPr/>
          <p:nvPr/>
        </p:nvSpPr>
        <p:spPr>
          <a:xfrm>
            <a:off x="457200" y="2286000"/>
            <a:ext cx="1965960" cy="1234440"/>
          </a:xfrm>
          <a:prstGeom prst="roundRect">
            <a:avLst>
              <a:gd name="adj" fmla="val 7407"/>
            </a:avLst>
          </a:prstGeom>
          <a:solidFill>
            <a:schemeClr val="bg2"/>
          </a:solidFill>
          <a:ln w="12700">
            <a:solidFill>
              <a:schemeClr val="bg2"/>
            </a:solidFill>
            <a:prstDash val="solid"/>
          </a:ln>
        </p:spPr>
      </p:sp>
      <p:sp>
        <p:nvSpPr>
          <p:cNvPr id="9" name="Icon caracteristica proiect 1 cerc"/>
          <p:cNvSpPr/>
          <p:nvPr/>
        </p:nvSpPr>
        <p:spPr>
          <a:xfrm>
            <a:off x="594360" y="2395728"/>
            <a:ext cx="457200" cy="457200"/>
          </a:xfrm>
          <a:prstGeom prst="ellipse">
            <a:avLst/>
          </a:prstGeom>
          <a:solidFill>
            <a:schemeClr val="accent4"/>
          </a:solidFill>
          <a:ln w="12700">
            <a:solidFill>
              <a:schemeClr val="accent4"/>
            </a:solidFill>
            <a:prstDash val="solid"/>
          </a:ln>
        </p:spPr>
      </p:sp>
      <p:pic>
        <p:nvPicPr>
          <p:cNvPr id="10" name="Icon caracteristica proiect 1" descr="preencoded.png">    </p:cNvPr>
          <p:cNvPicPr>
            <a:picLocks noChangeAspect="1"/>
          </p:cNvPicPr>
          <p:nvPr/>
        </p:nvPicPr>
        <p:blipFill>
          <a:blip r:embed="rId1"/>
          <a:stretch>
            <a:fillRect/>
          </a:stretch>
        </p:blipFill>
        <p:spPr>
          <a:xfrm>
            <a:off x="713232" y="2514600"/>
            <a:ext cx="219456" cy="219456"/>
          </a:xfrm>
          <a:prstGeom prst="rect">
            <a:avLst/>
          </a:prstGeom>
        </p:spPr>
      </p:pic>
      <p:sp>
        <p:nvSpPr>
          <p:cNvPr id="11" name="Text 7"/>
          <p:cNvSpPr txBox="1"/>
          <p:nvPr/>
        </p:nvSpPr>
        <p:spPr>
          <a:xfrm>
            <a:off x="1143000" y="2395728"/>
            <a:ext cx="1234440" cy="457200"/>
          </a:xfrm>
          <a:prstGeom prst="rect">
            <a:avLst/>
          </a:prstGeom>
          <a:noFill/>
          <a:ln/>
        </p:spPr>
        <p:txBody>
          <a:bodyPr wrap="square" lIns="0" tIns="0" rIns="0" bIns="0" rtlCol="0" anchor="ctr"/>
          <a:lstStyle/>
          <a:p>
            <a:pPr indent="0" marL="0">
              <a:buNone/>
            </a:pPr>
            <a:r>
              <a:rPr lang="en-US" sz="1300" b="1" dirty="0">
                <a:solidFill>
                  <a:schemeClr val="tx1"/>
                </a:solidFill>
              </a:rPr>
              <a:t>Temporar</a:t>
            </a:r>
            <a:endParaRPr lang="en-US" sz="1300" dirty="0"/>
          </a:p>
        </p:txBody>
      </p:sp>
      <p:sp>
        <p:nvSpPr>
          <p:cNvPr id="12" name="Text 8"/>
          <p:cNvSpPr txBox="1"/>
          <p:nvPr/>
        </p:nvSpPr>
        <p:spPr>
          <a:xfrm>
            <a:off x="594360" y="2926080"/>
            <a:ext cx="1737360" cy="548640"/>
          </a:xfrm>
          <a:prstGeom prst="rect">
            <a:avLst/>
          </a:prstGeom>
          <a:noFill/>
          <a:ln/>
        </p:spPr>
        <p:txBody>
          <a:bodyPr wrap="square" lIns="0" tIns="0" rIns="0" bIns="0" rtlCol="0" anchor="t"/>
          <a:lstStyle/>
          <a:p>
            <a:pPr indent="0" marL="0">
              <a:buNone/>
            </a:pPr>
            <a:r>
              <a:rPr lang="en-US" sz="1050" dirty="0">
                <a:solidFill>
                  <a:schemeClr val="tx2"/>
                </a:solidFill>
              </a:rPr>
              <a:t>Început și sfârșit; poate sfârși și prin eșec</a:t>
            </a:r>
            <a:endParaRPr lang="en-US" sz="1050" dirty="0"/>
          </a:p>
        </p:txBody>
      </p:sp>
      <p:sp>
        <p:nvSpPr>
          <p:cNvPr id="13" name="Card caracteristica proiect 2"/>
          <p:cNvSpPr/>
          <p:nvPr/>
        </p:nvSpPr>
        <p:spPr>
          <a:xfrm>
            <a:off x="2542032" y="2286000"/>
            <a:ext cx="1965960" cy="1234440"/>
          </a:xfrm>
          <a:prstGeom prst="roundRect">
            <a:avLst>
              <a:gd name="adj" fmla="val 7407"/>
            </a:avLst>
          </a:prstGeom>
          <a:solidFill>
            <a:schemeClr val="bg2"/>
          </a:solidFill>
          <a:ln w="12700">
            <a:solidFill>
              <a:schemeClr val="bg2"/>
            </a:solidFill>
            <a:prstDash val="solid"/>
          </a:ln>
        </p:spPr>
      </p:sp>
      <p:sp>
        <p:nvSpPr>
          <p:cNvPr id="14" name="Icon caracteristica proiect 2 cerc"/>
          <p:cNvSpPr/>
          <p:nvPr/>
        </p:nvSpPr>
        <p:spPr>
          <a:xfrm>
            <a:off x="2679192" y="2395728"/>
            <a:ext cx="457200" cy="457200"/>
          </a:xfrm>
          <a:prstGeom prst="ellipse">
            <a:avLst/>
          </a:prstGeom>
          <a:solidFill>
            <a:schemeClr val="accent5"/>
          </a:solidFill>
          <a:ln w="12700">
            <a:solidFill>
              <a:schemeClr val="accent5"/>
            </a:solidFill>
            <a:prstDash val="solid"/>
          </a:ln>
        </p:spPr>
      </p:sp>
      <p:pic>
        <p:nvPicPr>
          <p:cNvPr id="15" name="Icon caracteristica proiect 2" descr="preencoded.png">    </p:cNvPr>
          <p:cNvPicPr>
            <a:picLocks noChangeAspect="1"/>
          </p:cNvPicPr>
          <p:nvPr/>
        </p:nvPicPr>
        <p:blipFill>
          <a:blip r:embed="rId2"/>
          <a:stretch>
            <a:fillRect/>
          </a:stretch>
        </p:blipFill>
        <p:spPr>
          <a:xfrm>
            <a:off x="2798064" y="2514600"/>
            <a:ext cx="219456" cy="219456"/>
          </a:xfrm>
          <a:prstGeom prst="rect">
            <a:avLst/>
          </a:prstGeom>
        </p:spPr>
      </p:pic>
      <p:sp>
        <p:nvSpPr>
          <p:cNvPr id="16" name="Text 11"/>
          <p:cNvSpPr txBox="1"/>
          <p:nvPr/>
        </p:nvSpPr>
        <p:spPr>
          <a:xfrm>
            <a:off x="3227832" y="2395728"/>
            <a:ext cx="1234440" cy="457200"/>
          </a:xfrm>
          <a:prstGeom prst="rect">
            <a:avLst/>
          </a:prstGeom>
          <a:noFill/>
          <a:ln/>
        </p:spPr>
        <p:txBody>
          <a:bodyPr wrap="square" lIns="0" tIns="0" rIns="0" bIns="0" rtlCol="0" anchor="ctr"/>
          <a:lstStyle/>
          <a:p>
            <a:pPr indent="0" marL="0">
              <a:buNone/>
            </a:pPr>
            <a:r>
              <a:rPr lang="en-US" sz="1300" b="1" dirty="0">
                <a:solidFill>
                  <a:schemeClr val="tx1"/>
                </a:solidFill>
              </a:rPr>
              <a:t>Unic</a:t>
            </a:r>
            <a:endParaRPr lang="en-US" sz="1300" dirty="0"/>
          </a:p>
        </p:txBody>
      </p:sp>
      <p:sp>
        <p:nvSpPr>
          <p:cNvPr id="17" name="Text 12"/>
          <p:cNvSpPr txBox="1"/>
          <p:nvPr/>
        </p:nvSpPr>
        <p:spPr>
          <a:xfrm>
            <a:off x="2679192" y="2926080"/>
            <a:ext cx="1737360" cy="548640"/>
          </a:xfrm>
          <a:prstGeom prst="rect">
            <a:avLst/>
          </a:prstGeom>
          <a:noFill/>
          <a:ln/>
        </p:spPr>
        <p:txBody>
          <a:bodyPr wrap="square" lIns="0" tIns="0" rIns="0" bIns="0" rtlCol="0" anchor="t"/>
          <a:lstStyle/>
          <a:p>
            <a:pPr indent="0" marL="0">
              <a:buNone/>
            </a:pPr>
            <a:r>
              <a:rPr lang="en-US" sz="1050" dirty="0">
                <a:solidFill>
                  <a:schemeClr val="tx2"/>
                </a:solidFill>
              </a:rPr>
              <a:t>Produs, serviciu sau cunoștințe livrate o singură dată</a:t>
            </a:r>
            <a:endParaRPr lang="en-US" sz="1050" dirty="0"/>
          </a:p>
        </p:txBody>
      </p:sp>
      <p:sp>
        <p:nvSpPr>
          <p:cNvPr id="18" name="Card caracteristica proiect 3"/>
          <p:cNvSpPr/>
          <p:nvPr/>
        </p:nvSpPr>
        <p:spPr>
          <a:xfrm>
            <a:off x="4626864" y="2286000"/>
            <a:ext cx="1965960" cy="1234440"/>
          </a:xfrm>
          <a:prstGeom prst="roundRect">
            <a:avLst>
              <a:gd name="adj" fmla="val 7407"/>
            </a:avLst>
          </a:prstGeom>
          <a:solidFill>
            <a:schemeClr val="bg2"/>
          </a:solidFill>
          <a:ln w="12700">
            <a:solidFill>
              <a:schemeClr val="bg2"/>
            </a:solidFill>
            <a:prstDash val="solid"/>
          </a:ln>
        </p:spPr>
      </p:sp>
      <p:sp>
        <p:nvSpPr>
          <p:cNvPr id="19" name="Icon caracteristica proiect 3 cerc"/>
          <p:cNvSpPr/>
          <p:nvPr/>
        </p:nvSpPr>
        <p:spPr>
          <a:xfrm>
            <a:off x="4764024" y="2395728"/>
            <a:ext cx="457200" cy="457200"/>
          </a:xfrm>
          <a:prstGeom prst="ellipse">
            <a:avLst/>
          </a:prstGeom>
          <a:solidFill>
            <a:schemeClr val="accent2"/>
          </a:solidFill>
          <a:ln w="12700">
            <a:solidFill>
              <a:schemeClr val="accent2"/>
            </a:solidFill>
            <a:prstDash val="solid"/>
          </a:ln>
        </p:spPr>
      </p:sp>
      <p:pic>
        <p:nvPicPr>
          <p:cNvPr id="20" name="Icon caracteristica proiect 3" descr="preencoded.png">    </p:cNvPr>
          <p:cNvPicPr>
            <a:picLocks noChangeAspect="1"/>
          </p:cNvPicPr>
          <p:nvPr/>
        </p:nvPicPr>
        <p:blipFill>
          <a:blip r:embed="rId3"/>
          <a:stretch>
            <a:fillRect/>
          </a:stretch>
        </p:blipFill>
        <p:spPr>
          <a:xfrm>
            <a:off x="4882896" y="2514600"/>
            <a:ext cx="219456" cy="219456"/>
          </a:xfrm>
          <a:prstGeom prst="rect">
            <a:avLst/>
          </a:prstGeom>
        </p:spPr>
      </p:pic>
      <p:sp>
        <p:nvSpPr>
          <p:cNvPr id="21" name="Text 15"/>
          <p:cNvSpPr txBox="1"/>
          <p:nvPr/>
        </p:nvSpPr>
        <p:spPr>
          <a:xfrm>
            <a:off x="5312664" y="2395728"/>
            <a:ext cx="1234440" cy="457200"/>
          </a:xfrm>
          <a:prstGeom prst="rect">
            <a:avLst/>
          </a:prstGeom>
          <a:noFill/>
          <a:ln/>
        </p:spPr>
        <p:txBody>
          <a:bodyPr wrap="square" lIns="0" tIns="0" rIns="0" bIns="0" rtlCol="0" anchor="ctr"/>
          <a:lstStyle/>
          <a:p>
            <a:pPr indent="0" marL="0">
              <a:buNone/>
            </a:pPr>
            <a:r>
              <a:rPr lang="en-US" sz="1300" b="1" dirty="0">
                <a:solidFill>
                  <a:schemeClr val="tx1"/>
                </a:solidFill>
              </a:rPr>
              <a:t>Elaborare progresivă</a:t>
            </a:r>
            <a:endParaRPr lang="en-US" sz="1300" dirty="0"/>
          </a:p>
        </p:txBody>
      </p:sp>
      <p:sp>
        <p:nvSpPr>
          <p:cNvPr id="22" name="Text 16"/>
          <p:cNvSpPr txBox="1"/>
          <p:nvPr/>
        </p:nvSpPr>
        <p:spPr>
          <a:xfrm>
            <a:off x="4764024" y="2926080"/>
            <a:ext cx="1737360" cy="548640"/>
          </a:xfrm>
          <a:prstGeom prst="rect">
            <a:avLst/>
          </a:prstGeom>
          <a:noFill/>
          <a:ln/>
        </p:spPr>
        <p:txBody>
          <a:bodyPr wrap="square" lIns="0" tIns="0" rIns="0" bIns="0" rtlCol="0" anchor="t"/>
          <a:lstStyle/>
          <a:p>
            <a:pPr indent="0" marL="0">
              <a:buNone/>
            </a:pPr>
            <a:r>
              <a:rPr lang="en-US" sz="1050" dirty="0">
                <a:solidFill>
                  <a:schemeClr val="tx2"/>
                </a:solidFill>
              </a:rPr>
              <a:t>Pași și incremente, nu totul definit din start</a:t>
            </a:r>
            <a:endParaRPr lang="en-US" sz="1050" dirty="0"/>
          </a:p>
        </p:txBody>
      </p:sp>
      <p:sp>
        <p:nvSpPr>
          <p:cNvPr id="23" name="Card caracteristica proiect 4"/>
          <p:cNvSpPr/>
          <p:nvPr/>
        </p:nvSpPr>
        <p:spPr>
          <a:xfrm>
            <a:off x="6711696" y="2286000"/>
            <a:ext cx="1965960" cy="1234440"/>
          </a:xfrm>
          <a:prstGeom prst="roundRect">
            <a:avLst>
              <a:gd name="adj" fmla="val 7407"/>
            </a:avLst>
          </a:prstGeom>
          <a:solidFill>
            <a:schemeClr val="bg2"/>
          </a:solidFill>
          <a:ln w="12700">
            <a:solidFill>
              <a:schemeClr val="bg2"/>
            </a:solidFill>
            <a:prstDash val="solid"/>
          </a:ln>
        </p:spPr>
      </p:sp>
      <p:sp>
        <p:nvSpPr>
          <p:cNvPr id="24" name="Icon caracteristica proiect 4 cerc"/>
          <p:cNvSpPr/>
          <p:nvPr/>
        </p:nvSpPr>
        <p:spPr>
          <a:xfrm>
            <a:off x="6848856" y="2395728"/>
            <a:ext cx="457200" cy="457200"/>
          </a:xfrm>
          <a:prstGeom prst="ellipse">
            <a:avLst/>
          </a:prstGeom>
          <a:solidFill>
            <a:schemeClr val="accent3"/>
          </a:solidFill>
          <a:ln w="12700">
            <a:solidFill>
              <a:schemeClr val="accent3"/>
            </a:solidFill>
            <a:prstDash val="solid"/>
          </a:ln>
        </p:spPr>
      </p:sp>
      <p:pic>
        <p:nvPicPr>
          <p:cNvPr id="25" name="Icon caracteristica proiect 4" descr="preencoded.png">    </p:cNvPr>
          <p:cNvPicPr>
            <a:picLocks noChangeAspect="1"/>
          </p:cNvPicPr>
          <p:nvPr/>
        </p:nvPicPr>
        <p:blipFill>
          <a:blip r:embed="rId4"/>
          <a:stretch>
            <a:fillRect/>
          </a:stretch>
        </p:blipFill>
        <p:spPr>
          <a:xfrm>
            <a:off x="6967728" y="2514600"/>
            <a:ext cx="219456" cy="219456"/>
          </a:xfrm>
          <a:prstGeom prst="rect">
            <a:avLst/>
          </a:prstGeom>
        </p:spPr>
      </p:pic>
      <p:sp>
        <p:nvSpPr>
          <p:cNvPr id="26" name="Text 19"/>
          <p:cNvSpPr txBox="1"/>
          <p:nvPr/>
        </p:nvSpPr>
        <p:spPr>
          <a:xfrm>
            <a:off x="7397496" y="2395728"/>
            <a:ext cx="1234440" cy="457200"/>
          </a:xfrm>
          <a:prstGeom prst="rect">
            <a:avLst/>
          </a:prstGeom>
          <a:noFill/>
          <a:ln/>
        </p:spPr>
        <p:txBody>
          <a:bodyPr wrap="square" lIns="0" tIns="0" rIns="0" bIns="0" rtlCol="0" anchor="ctr"/>
          <a:lstStyle/>
          <a:p>
            <a:pPr indent="0" marL="0">
              <a:buNone/>
            </a:pPr>
            <a:r>
              <a:rPr lang="en-US" sz="1300" b="1" dirty="0">
                <a:solidFill>
                  <a:schemeClr val="tx1"/>
                </a:solidFill>
              </a:rPr>
              <a:t>Constrângeri</a:t>
            </a:r>
            <a:endParaRPr lang="en-US" sz="1300" dirty="0"/>
          </a:p>
        </p:txBody>
      </p:sp>
      <p:sp>
        <p:nvSpPr>
          <p:cNvPr id="27" name="Text 20"/>
          <p:cNvSpPr txBox="1"/>
          <p:nvPr/>
        </p:nvSpPr>
        <p:spPr>
          <a:xfrm>
            <a:off x="6848856" y="2926080"/>
            <a:ext cx="1737360" cy="548640"/>
          </a:xfrm>
          <a:prstGeom prst="rect">
            <a:avLst/>
          </a:prstGeom>
          <a:noFill/>
          <a:ln/>
        </p:spPr>
        <p:txBody>
          <a:bodyPr wrap="square" lIns="0" tIns="0" rIns="0" bIns="0" rtlCol="0" anchor="t"/>
          <a:lstStyle/>
          <a:p>
            <a:pPr indent="0" marL="0">
              <a:buNone/>
            </a:pPr>
            <a:r>
              <a:rPr lang="en-US" sz="1050" dirty="0">
                <a:solidFill>
                  <a:schemeClr val="tx2"/>
                </a:solidFill>
              </a:rPr>
              <a:t>Timp, buget și oameni limitați</a:t>
            </a:r>
            <a:endParaRPr lang="en-US" sz="1050" dirty="0"/>
          </a:p>
        </p:txBody>
      </p:sp>
      <p:pic>
        <p:nvPicPr>
          <p:cNvPr id="28" name="Ciclu de viata proiect" descr="/home/user/PREZENTARE_MPS/build/assets/lifecycle.png">    </p:cNvPr>
          <p:cNvPicPr>
            <a:picLocks noChangeAspect="1"/>
          </p:cNvPicPr>
          <p:nvPr/>
        </p:nvPicPr>
        <p:blipFill>
          <a:blip r:embed="rId5"/>
          <a:stretch>
            <a:fillRect/>
          </a:stretch>
        </p:blipFill>
        <p:spPr>
          <a:xfrm>
            <a:off x="4937760" y="3657600"/>
            <a:ext cx="2011680" cy="1152144"/>
          </a:xfrm>
          <a:prstGeom prst="rect">
            <a:avLst/>
          </a:prstGeom>
        </p:spPr>
      </p:pic>
      <p:sp>
        <p:nvSpPr>
          <p:cNvPr id="29" name="Text 21"/>
          <p:cNvSpPr txBox="1"/>
          <p:nvPr/>
        </p:nvSpPr>
        <p:spPr>
          <a:xfrm>
            <a:off x="457200" y="3749040"/>
            <a:ext cx="4297680" cy="822960"/>
          </a:xfrm>
          <a:prstGeom prst="rect">
            <a:avLst/>
          </a:prstGeom>
          <a:noFill/>
          <a:ln/>
        </p:spPr>
        <p:txBody>
          <a:bodyPr wrap="square" lIns="0" tIns="0" rIns="0" bIns="0" rtlCol="0" anchor="ctr"/>
          <a:lstStyle/>
          <a:p>
            <a:pPr indent="0" marL="0">
              <a:buNone/>
            </a:pPr>
            <a:r>
              <a:rPr lang="en-US" sz="1300" b="1" dirty="0">
                <a:solidFill>
                  <a:schemeClr val="accent3"/>
                </a:solidFill>
              </a:rPr>
              <a:t>Întrebare: </a:t>
            </a:r>
            <a:pPr indent="0" marL="0">
              <a:buNone/>
            </a:pPr>
            <a:r>
              <a:rPr lang="en-US" sz="1300" dirty="0">
                <a:solidFill>
                  <a:schemeClr val="tx1"/>
                </a:solidFill>
              </a:rPr>
              <a:t>echipa lansează aplicația, iar ea rămâne în folosință ani de zile. Proiectul s-a încheiat la lansare? Ce urmează după?</a:t>
            </a:r>
            <a:endParaRPr lang="en-US" sz="1300" dirty="0"/>
          </a:p>
        </p:txBody>
      </p:sp>
      <p:sp>
        <p:nvSpPr>
          <p:cNvPr id="30" name="Text 22"/>
          <p:cNvSpPr txBox="1"/>
          <p:nvPr/>
        </p:nvSpPr>
        <p:spPr>
          <a:xfrm>
            <a:off x="7040880" y="4023360"/>
            <a:ext cx="1645920" cy="457200"/>
          </a:xfrm>
          <a:prstGeom prst="rect">
            <a:avLst/>
          </a:prstGeom>
          <a:noFill/>
          <a:ln/>
        </p:spPr>
        <p:txBody>
          <a:bodyPr wrap="square" lIns="0" tIns="0" rIns="0" bIns="0" rtlCol="0" anchor="t"/>
          <a:lstStyle/>
          <a:p>
            <a:pPr indent="0" marL="0">
              <a:buNone/>
            </a:pPr>
            <a:r>
              <a:rPr lang="en-US" sz="1000" i="1" dirty="0">
                <a:solidFill>
                  <a:schemeClr val="tx2"/>
                </a:solidFill>
              </a:rPr>
              <a:t>Ciclul de viață al proiectului</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200" b="1" dirty="0">
                <a:solidFill>
                  <a:schemeClr val="tx1"/>
                </a:solidFill>
              </a:rPr>
              <a:t>Proiect sau operațional?</a:t>
            </a:r>
            <a:endParaRPr lang="en-US" sz="2200" dirty="0"/>
          </a:p>
        </p:txBody>
      </p:sp>
      <p:sp>
        <p:nvSpPr>
          <p:cNvPr id="3" name="Chip prezentator"/>
          <p:cNvSpPr/>
          <p:nvPr/>
        </p:nvSpPr>
        <p:spPr>
          <a:xfrm>
            <a:off x="7589520" y="384048"/>
            <a:ext cx="1097280" cy="292608"/>
          </a:xfrm>
          <a:prstGeom prst="roundRect">
            <a:avLst>
              <a:gd name="adj" fmla="val 50000"/>
            </a:avLst>
          </a:prstGeom>
          <a:solidFill>
            <a:schemeClr val="accent2"/>
          </a:solidFill>
          <a:ln w="12700">
            <a:solidFill>
              <a:schemeClr val="accent2"/>
            </a:solidFill>
            <a:prstDash val="solid"/>
          </a:ln>
        </p:spPr>
      </p:sp>
      <p:sp>
        <p:nvSpPr>
          <p:cNvPr id="4" name="Text prezentator"/>
          <p:cNvSpPr txBox="1"/>
          <p:nvPr/>
        </p:nvSpPr>
        <p:spPr>
          <a:xfrm>
            <a:off x="7589520" y="384048"/>
            <a:ext cx="1097280" cy="292608"/>
          </a:xfrm>
          <a:prstGeom prst="rect">
            <a:avLst/>
          </a:prstGeom>
          <a:noFill/>
          <a:ln/>
        </p:spPr>
        <p:txBody>
          <a:bodyPr wrap="square" lIns="0" tIns="0" rIns="0" bIns="0" rtlCol="0" anchor="ctr"/>
          <a:lstStyle/>
          <a:p>
            <a:pPr algn="ctr" indent="0" marL="0">
              <a:buNone/>
            </a:pPr>
            <a:r>
              <a:rPr lang="en-US" sz="1100" b="1" dirty="0">
                <a:solidFill>
                  <a:schemeClr val="bg1"/>
                </a:solidFill>
              </a:rPr>
              <a:t>B  ·  2'</a:t>
            </a:r>
            <a:endParaRPr lang="en-US" sz="1100" dirty="0"/>
          </a:p>
        </p:txBody>
      </p:sp>
      <p:sp>
        <p:nvSpPr>
          <p:cNvPr id="6" name="Card exemplu 1"/>
          <p:cNvSpPr/>
          <p:nvPr/>
        </p:nvSpPr>
        <p:spPr>
          <a:xfrm>
            <a:off x="457200" y="1097280"/>
            <a:ext cx="1965960" cy="1417320"/>
          </a:xfrm>
          <a:prstGeom prst="roundRect">
            <a:avLst>
              <a:gd name="adj" fmla="val 6452"/>
            </a:avLst>
          </a:prstGeom>
          <a:solidFill>
            <a:schemeClr val="bg2"/>
          </a:solidFill>
          <a:ln w="12700">
            <a:solidFill>
              <a:schemeClr val="bg2"/>
            </a:solidFill>
            <a:prstDash val="solid"/>
          </a:ln>
        </p:spPr>
      </p:sp>
      <p:sp>
        <p:nvSpPr>
          <p:cNvPr id="7" name="Icon exemplu 1 cerc"/>
          <p:cNvSpPr/>
          <p:nvPr/>
        </p:nvSpPr>
        <p:spPr>
          <a:xfrm>
            <a:off x="566928" y="1207008"/>
            <a:ext cx="411480" cy="411480"/>
          </a:xfrm>
          <a:prstGeom prst="ellipse">
            <a:avLst/>
          </a:prstGeom>
          <a:solidFill>
            <a:schemeClr val="accent4"/>
          </a:solidFill>
          <a:ln w="12700">
            <a:solidFill>
              <a:schemeClr val="accent4"/>
            </a:solidFill>
            <a:prstDash val="solid"/>
          </a:ln>
        </p:spPr>
      </p:sp>
      <p:pic>
        <p:nvPicPr>
          <p:cNvPr id="8" name="Icon exemplu 1" descr="preencoded.png">    </p:cNvPr>
          <p:cNvPicPr>
            <a:picLocks noChangeAspect="1"/>
          </p:cNvPicPr>
          <p:nvPr/>
        </p:nvPicPr>
        <p:blipFill>
          <a:blip r:embed="rId1"/>
          <a:stretch>
            <a:fillRect/>
          </a:stretch>
        </p:blipFill>
        <p:spPr>
          <a:xfrm>
            <a:off x="673913" y="1313993"/>
            <a:ext cx="197510" cy="197510"/>
          </a:xfrm>
          <a:prstGeom prst="rect">
            <a:avLst/>
          </a:prstGeom>
        </p:spPr>
      </p:pic>
      <p:sp>
        <p:nvSpPr>
          <p:cNvPr id="9" name="Verdict 1"/>
          <p:cNvSpPr/>
          <p:nvPr/>
        </p:nvSpPr>
        <p:spPr>
          <a:xfrm>
            <a:off x="1097280" y="1261872"/>
            <a:ext cx="1234440" cy="256032"/>
          </a:xfrm>
          <a:prstGeom prst="roundRect">
            <a:avLst>
              <a:gd name="adj" fmla="val 50000"/>
            </a:avLst>
          </a:prstGeom>
          <a:solidFill>
            <a:schemeClr val="accent6"/>
          </a:solidFill>
          <a:ln w="12700">
            <a:solidFill>
              <a:schemeClr val="accent6"/>
            </a:solidFill>
            <a:prstDash val="solid"/>
          </a:ln>
        </p:spPr>
      </p:sp>
      <p:sp>
        <p:nvSpPr>
          <p:cNvPr id="10" name="Text 6"/>
          <p:cNvSpPr txBox="1"/>
          <p:nvPr/>
        </p:nvSpPr>
        <p:spPr>
          <a:xfrm>
            <a:off x="1097280" y="1261872"/>
            <a:ext cx="1234440" cy="256032"/>
          </a:xfrm>
          <a:prstGeom prst="rect">
            <a:avLst/>
          </a:prstGeom>
          <a:noFill/>
          <a:ln/>
        </p:spPr>
        <p:txBody>
          <a:bodyPr wrap="square" lIns="0" tIns="0" rIns="0" bIns="0" rtlCol="0" anchor="ctr"/>
          <a:lstStyle/>
          <a:p>
            <a:pPr algn="ctr" indent="0" marL="0">
              <a:buNone/>
            </a:pPr>
            <a:r>
              <a:rPr lang="en-US" sz="1000" b="1" dirty="0">
                <a:solidFill>
                  <a:schemeClr val="bg1"/>
                </a:solidFill>
              </a:rPr>
              <a:t>DEPINDE</a:t>
            </a:r>
            <a:endParaRPr lang="en-US" sz="1000" dirty="0"/>
          </a:p>
        </p:txBody>
      </p:sp>
      <p:sp>
        <p:nvSpPr>
          <p:cNvPr id="11" name="Text 7"/>
          <p:cNvSpPr txBox="1"/>
          <p:nvPr/>
        </p:nvSpPr>
        <p:spPr>
          <a:xfrm>
            <a:off x="566928" y="1719072"/>
            <a:ext cx="1783080" cy="365760"/>
          </a:xfrm>
          <a:prstGeom prst="rect">
            <a:avLst/>
          </a:prstGeom>
          <a:noFill/>
          <a:ln/>
        </p:spPr>
        <p:txBody>
          <a:bodyPr wrap="square" lIns="0" tIns="0" rIns="0" bIns="0" rtlCol="0" anchor="t"/>
          <a:lstStyle/>
          <a:p>
            <a:pPr indent="0" marL="0">
              <a:buNone/>
            </a:pPr>
            <a:r>
              <a:rPr lang="en-US" sz="1100" b="1" dirty="0">
                <a:solidFill>
                  <a:schemeClr val="tx1"/>
                </a:solidFill>
              </a:rPr>
              <a:t>Pregătirea cinei</a:t>
            </a:r>
            <a:endParaRPr lang="en-US" sz="1100" dirty="0"/>
          </a:p>
        </p:txBody>
      </p:sp>
      <p:sp>
        <p:nvSpPr>
          <p:cNvPr id="12" name="Text 8"/>
          <p:cNvSpPr txBox="1"/>
          <p:nvPr/>
        </p:nvSpPr>
        <p:spPr>
          <a:xfrm>
            <a:off x="566928" y="2084832"/>
            <a:ext cx="1783080" cy="384048"/>
          </a:xfrm>
          <a:prstGeom prst="rect">
            <a:avLst/>
          </a:prstGeom>
          <a:noFill/>
          <a:ln/>
        </p:spPr>
        <p:txBody>
          <a:bodyPr wrap="square" lIns="0" tIns="0" rIns="0" bIns="0" rtlCol="0" anchor="t"/>
          <a:lstStyle/>
          <a:p>
            <a:pPr indent="0" marL="0">
              <a:buNone/>
            </a:pPr>
            <a:r>
              <a:rPr lang="en-US" sz="1000" dirty="0">
                <a:solidFill>
                  <a:schemeClr val="tx2"/>
                </a:solidFill>
              </a:rPr>
              <a:t>Banchet unic: proiect. Masă zilnică: operațional</a:t>
            </a:r>
            <a:endParaRPr lang="en-US" sz="1000" dirty="0"/>
          </a:p>
        </p:txBody>
      </p:sp>
      <p:sp>
        <p:nvSpPr>
          <p:cNvPr id="13" name="Card exemplu 2"/>
          <p:cNvSpPr/>
          <p:nvPr/>
        </p:nvSpPr>
        <p:spPr>
          <a:xfrm>
            <a:off x="2542032" y="1097280"/>
            <a:ext cx="1965960" cy="1417320"/>
          </a:xfrm>
          <a:prstGeom prst="roundRect">
            <a:avLst>
              <a:gd name="adj" fmla="val 6452"/>
            </a:avLst>
          </a:prstGeom>
          <a:solidFill>
            <a:schemeClr val="bg2"/>
          </a:solidFill>
          <a:ln w="12700">
            <a:solidFill>
              <a:schemeClr val="bg2"/>
            </a:solidFill>
            <a:prstDash val="solid"/>
          </a:ln>
        </p:spPr>
      </p:sp>
      <p:sp>
        <p:nvSpPr>
          <p:cNvPr id="14" name="Icon exemplu 2 cerc"/>
          <p:cNvSpPr/>
          <p:nvPr/>
        </p:nvSpPr>
        <p:spPr>
          <a:xfrm>
            <a:off x="2651760" y="1207008"/>
            <a:ext cx="411480" cy="411480"/>
          </a:xfrm>
          <a:prstGeom prst="ellipse">
            <a:avLst/>
          </a:prstGeom>
          <a:solidFill>
            <a:schemeClr val="accent2"/>
          </a:solidFill>
          <a:ln w="12700">
            <a:solidFill>
              <a:schemeClr val="accent2"/>
            </a:solidFill>
            <a:prstDash val="solid"/>
          </a:ln>
        </p:spPr>
      </p:sp>
      <p:pic>
        <p:nvPicPr>
          <p:cNvPr id="15" name="Icon exemplu 2" descr="preencoded.png">    </p:cNvPr>
          <p:cNvPicPr>
            <a:picLocks noChangeAspect="1"/>
          </p:cNvPicPr>
          <p:nvPr/>
        </p:nvPicPr>
        <p:blipFill>
          <a:blip r:embed="rId2"/>
          <a:stretch>
            <a:fillRect/>
          </a:stretch>
        </p:blipFill>
        <p:spPr>
          <a:xfrm>
            <a:off x="2758745" y="1313993"/>
            <a:ext cx="197510" cy="197510"/>
          </a:xfrm>
          <a:prstGeom prst="rect">
            <a:avLst/>
          </a:prstGeom>
        </p:spPr>
      </p:pic>
      <p:sp>
        <p:nvSpPr>
          <p:cNvPr id="16" name="Verdict 2"/>
          <p:cNvSpPr/>
          <p:nvPr/>
        </p:nvSpPr>
        <p:spPr>
          <a:xfrm>
            <a:off x="3182112" y="1261872"/>
            <a:ext cx="1234440" cy="256032"/>
          </a:xfrm>
          <a:prstGeom prst="roundRect">
            <a:avLst>
              <a:gd name="adj" fmla="val 50000"/>
            </a:avLst>
          </a:prstGeom>
          <a:solidFill>
            <a:schemeClr val="accent3"/>
          </a:solidFill>
          <a:ln w="12700">
            <a:solidFill>
              <a:schemeClr val="accent3"/>
            </a:solidFill>
            <a:prstDash val="solid"/>
          </a:ln>
        </p:spPr>
      </p:sp>
      <p:sp>
        <p:nvSpPr>
          <p:cNvPr id="17" name="Text 12"/>
          <p:cNvSpPr txBox="1"/>
          <p:nvPr/>
        </p:nvSpPr>
        <p:spPr>
          <a:xfrm>
            <a:off x="3182112" y="1261872"/>
            <a:ext cx="1234440" cy="256032"/>
          </a:xfrm>
          <a:prstGeom prst="rect">
            <a:avLst/>
          </a:prstGeom>
          <a:noFill/>
          <a:ln/>
        </p:spPr>
        <p:txBody>
          <a:bodyPr wrap="square" lIns="0" tIns="0" rIns="0" bIns="0" rtlCol="0" anchor="ctr"/>
          <a:lstStyle/>
          <a:p>
            <a:pPr algn="ctr" indent="0" marL="0">
              <a:buNone/>
            </a:pPr>
            <a:r>
              <a:rPr lang="en-US" sz="1000" b="1" dirty="0">
                <a:solidFill>
                  <a:schemeClr val="bg1"/>
                </a:solidFill>
              </a:rPr>
              <a:t>OPERAȚIONAL</a:t>
            </a:r>
            <a:endParaRPr lang="en-US" sz="1000" dirty="0"/>
          </a:p>
        </p:txBody>
      </p:sp>
      <p:sp>
        <p:nvSpPr>
          <p:cNvPr id="18" name="Text 13"/>
          <p:cNvSpPr txBox="1"/>
          <p:nvPr/>
        </p:nvSpPr>
        <p:spPr>
          <a:xfrm>
            <a:off x="2651760" y="1719072"/>
            <a:ext cx="1783080" cy="365760"/>
          </a:xfrm>
          <a:prstGeom prst="rect">
            <a:avLst/>
          </a:prstGeom>
          <a:noFill/>
          <a:ln/>
        </p:spPr>
        <p:txBody>
          <a:bodyPr wrap="square" lIns="0" tIns="0" rIns="0" bIns="0" rtlCol="0" anchor="t"/>
          <a:lstStyle/>
          <a:p>
            <a:pPr indent="0" marL="0">
              <a:buNone/>
            </a:pPr>
            <a:r>
              <a:rPr lang="en-US" sz="1100" b="1" dirty="0">
                <a:solidFill>
                  <a:schemeClr val="tx1"/>
                </a:solidFill>
              </a:rPr>
              <a:t>Fabricarea unei mașini</a:t>
            </a:r>
            <a:endParaRPr lang="en-US" sz="1100" dirty="0"/>
          </a:p>
        </p:txBody>
      </p:sp>
      <p:sp>
        <p:nvSpPr>
          <p:cNvPr id="19" name="Text 14"/>
          <p:cNvSpPr txBox="1"/>
          <p:nvPr/>
        </p:nvSpPr>
        <p:spPr>
          <a:xfrm>
            <a:off x="2651760" y="2084832"/>
            <a:ext cx="1783080" cy="384048"/>
          </a:xfrm>
          <a:prstGeom prst="rect">
            <a:avLst/>
          </a:prstGeom>
          <a:noFill/>
          <a:ln/>
        </p:spPr>
        <p:txBody>
          <a:bodyPr wrap="square" lIns="0" tIns="0" rIns="0" bIns="0" rtlCol="0" anchor="t"/>
          <a:lstStyle/>
          <a:p>
            <a:pPr indent="0" marL="0">
              <a:buNone/>
            </a:pPr>
            <a:r>
              <a:rPr lang="en-US" sz="1000" dirty="0">
                <a:solidFill>
                  <a:schemeClr val="tx2"/>
                </a:solidFill>
              </a:rPr>
              <a:t>Producție în serie, se repetă</a:t>
            </a:r>
            <a:endParaRPr lang="en-US" sz="1000" dirty="0"/>
          </a:p>
        </p:txBody>
      </p:sp>
      <p:sp>
        <p:nvSpPr>
          <p:cNvPr id="20" name="Card exemplu 3"/>
          <p:cNvSpPr/>
          <p:nvPr/>
        </p:nvSpPr>
        <p:spPr>
          <a:xfrm>
            <a:off x="4626864" y="1097280"/>
            <a:ext cx="1965960" cy="1417320"/>
          </a:xfrm>
          <a:prstGeom prst="roundRect">
            <a:avLst>
              <a:gd name="adj" fmla="val 6452"/>
            </a:avLst>
          </a:prstGeom>
          <a:solidFill>
            <a:schemeClr val="bg2"/>
          </a:solidFill>
          <a:ln w="12700">
            <a:solidFill>
              <a:schemeClr val="bg2"/>
            </a:solidFill>
            <a:prstDash val="solid"/>
          </a:ln>
        </p:spPr>
      </p:sp>
      <p:sp>
        <p:nvSpPr>
          <p:cNvPr id="21" name="Icon exemplu 3 cerc"/>
          <p:cNvSpPr/>
          <p:nvPr/>
        </p:nvSpPr>
        <p:spPr>
          <a:xfrm>
            <a:off x="4736592" y="1207008"/>
            <a:ext cx="411480" cy="411480"/>
          </a:xfrm>
          <a:prstGeom prst="ellipse">
            <a:avLst/>
          </a:prstGeom>
          <a:solidFill>
            <a:schemeClr val="accent5"/>
          </a:solidFill>
          <a:ln w="12700">
            <a:solidFill>
              <a:schemeClr val="accent5"/>
            </a:solidFill>
            <a:prstDash val="solid"/>
          </a:ln>
        </p:spPr>
      </p:sp>
      <p:pic>
        <p:nvPicPr>
          <p:cNvPr id="22" name="Icon exemplu 3" descr="preencoded.png">    </p:cNvPr>
          <p:cNvPicPr>
            <a:picLocks noChangeAspect="1"/>
          </p:cNvPicPr>
          <p:nvPr/>
        </p:nvPicPr>
        <p:blipFill>
          <a:blip r:embed="rId3"/>
          <a:stretch>
            <a:fillRect/>
          </a:stretch>
        </p:blipFill>
        <p:spPr>
          <a:xfrm>
            <a:off x="4843577" y="1313993"/>
            <a:ext cx="197510" cy="197510"/>
          </a:xfrm>
          <a:prstGeom prst="rect">
            <a:avLst/>
          </a:prstGeom>
        </p:spPr>
      </p:pic>
      <p:sp>
        <p:nvSpPr>
          <p:cNvPr id="23" name="Verdict 3"/>
          <p:cNvSpPr/>
          <p:nvPr/>
        </p:nvSpPr>
        <p:spPr>
          <a:xfrm>
            <a:off x="5266944" y="1261872"/>
            <a:ext cx="1234440" cy="256032"/>
          </a:xfrm>
          <a:prstGeom prst="roundRect">
            <a:avLst>
              <a:gd name="adj" fmla="val 50000"/>
            </a:avLst>
          </a:prstGeom>
          <a:solidFill>
            <a:schemeClr val="accent2"/>
          </a:solidFill>
          <a:ln w="12700">
            <a:solidFill>
              <a:schemeClr val="accent2"/>
            </a:solidFill>
            <a:prstDash val="solid"/>
          </a:ln>
        </p:spPr>
      </p:sp>
      <p:sp>
        <p:nvSpPr>
          <p:cNvPr id="24" name="Text 18"/>
          <p:cNvSpPr txBox="1"/>
          <p:nvPr/>
        </p:nvSpPr>
        <p:spPr>
          <a:xfrm>
            <a:off x="5266944" y="1261872"/>
            <a:ext cx="1234440" cy="256032"/>
          </a:xfrm>
          <a:prstGeom prst="rect">
            <a:avLst/>
          </a:prstGeom>
          <a:noFill/>
          <a:ln/>
        </p:spPr>
        <p:txBody>
          <a:bodyPr wrap="square" lIns="0" tIns="0" rIns="0" bIns="0" rtlCol="0" anchor="ctr"/>
          <a:lstStyle/>
          <a:p>
            <a:pPr algn="ctr" indent="0" marL="0">
              <a:buNone/>
            </a:pPr>
            <a:r>
              <a:rPr lang="en-US" sz="1000" b="1" dirty="0">
                <a:solidFill>
                  <a:schemeClr val="bg1"/>
                </a:solidFill>
              </a:rPr>
              <a:t>PROIECT</a:t>
            </a:r>
            <a:endParaRPr lang="en-US" sz="1000" dirty="0"/>
          </a:p>
        </p:txBody>
      </p:sp>
      <p:sp>
        <p:nvSpPr>
          <p:cNvPr id="25" name="Text 19"/>
          <p:cNvSpPr txBox="1"/>
          <p:nvPr/>
        </p:nvSpPr>
        <p:spPr>
          <a:xfrm>
            <a:off x="4736592" y="1719072"/>
            <a:ext cx="1783080" cy="365760"/>
          </a:xfrm>
          <a:prstGeom prst="rect">
            <a:avLst/>
          </a:prstGeom>
          <a:noFill/>
          <a:ln/>
        </p:spPr>
        <p:txBody>
          <a:bodyPr wrap="square" lIns="0" tIns="0" rIns="0" bIns="0" rtlCol="0" anchor="t"/>
          <a:lstStyle/>
          <a:p>
            <a:pPr indent="0" marL="0">
              <a:buNone/>
            </a:pPr>
            <a:r>
              <a:rPr lang="en-US" sz="1100" b="1" dirty="0">
                <a:solidFill>
                  <a:schemeClr val="tx1"/>
                </a:solidFill>
              </a:rPr>
              <a:t>Design-ul unei mașini</a:t>
            </a:r>
            <a:endParaRPr lang="en-US" sz="1100" dirty="0"/>
          </a:p>
        </p:txBody>
      </p:sp>
      <p:sp>
        <p:nvSpPr>
          <p:cNvPr id="26" name="Text 20"/>
          <p:cNvSpPr txBox="1"/>
          <p:nvPr/>
        </p:nvSpPr>
        <p:spPr>
          <a:xfrm>
            <a:off x="4736592" y="2084832"/>
            <a:ext cx="1783080" cy="384048"/>
          </a:xfrm>
          <a:prstGeom prst="rect">
            <a:avLst/>
          </a:prstGeom>
          <a:noFill/>
          <a:ln/>
        </p:spPr>
        <p:txBody>
          <a:bodyPr wrap="square" lIns="0" tIns="0" rIns="0" bIns="0" rtlCol="0" anchor="t"/>
          <a:lstStyle/>
          <a:p>
            <a:pPr indent="0" marL="0">
              <a:buNone/>
            </a:pPr>
            <a:r>
              <a:rPr lang="en-US" sz="1000" dirty="0">
                <a:solidFill>
                  <a:schemeClr val="tx2"/>
                </a:solidFill>
              </a:rPr>
              <a:t>Rezultat unic, are început și sfârșit</a:t>
            </a:r>
            <a:endParaRPr lang="en-US" sz="1000" dirty="0"/>
          </a:p>
        </p:txBody>
      </p:sp>
      <p:sp>
        <p:nvSpPr>
          <p:cNvPr id="27" name="Card exemplu 4"/>
          <p:cNvSpPr/>
          <p:nvPr/>
        </p:nvSpPr>
        <p:spPr>
          <a:xfrm>
            <a:off x="6711696" y="1097280"/>
            <a:ext cx="1965960" cy="1417320"/>
          </a:xfrm>
          <a:prstGeom prst="roundRect">
            <a:avLst>
              <a:gd name="adj" fmla="val 6452"/>
            </a:avLst>
          </a:prstGeom>
          <a:solidFill>
            <a:schemeClr val="bg2"/>
          </a:solidFill>
          <a:ln w="12700">
            <a:solidFill>
              <a:schemeClr val="bg2"/>
            </a:solidFill>
            <a:prstDash val="solid"/>
          </a:ln>
        </p:spPr>
      </p:sp>
      <p:sp>
        <p:nvSpPr>
          <p:cNvPr id="28" name="Icon exemplu 4 cerc"/>
          <p:cNvSpPr/>
          <p:nvPr/>
        </p:nvSpPr>
        <p:spPr>
          <a:xfrm>
            <a:off x="6821424" y="1207008"/>
            <a:ext cx="411480" cy="411480"/>
          </a:xfrm>
          <a:prstGeom prst="ellipse">
            <a:avLst/>
          </a:prstGeom>
          <a:solidFill>
            <a:schemeClr val="accent3"/>
          </a:solidFill>
          <a:ln w="12700">
            <a:solidFill>
              <a:schemeClr val="accent3"/>
            </a:solidFill>
            <a:prstDash val="solid"/>
          </a:ln>
        </p:spPr>
      </p:sp>
      <p:pic>
        <p:nvPicPr>
          <p:cNvPr id="29" name="Icon exemplu 4" descr="preencoded.png">    </p:cNvPr>
          <p:cNvPicPr>
            <a:picLocks noChangeAspect="1"/>
          </p:cNvPicPr>
          <p:nvPr/>
        </p:nvPicPr>
        <p:blipFill>
          <a:blip r:embed="rId4"/>
          <a:stretch>
            <a:fillRect/>
          </a:stretch>
        </p:blipFill>
        <p:spPr>
          <a:xfrm>
            <a:off x="6928409" y="1313993"/>
            <a:ext cx="197510" cy="197510"/>
          </a:xfrm>
          <a:prstGeom prst="rect">
            <a:avLst/>
          </a:prstGeom>
        </p:spPr>
      </p:pic>
      <p:sp>
        <p:nvSpPr>
          <p:cNvPr id="30" name="Verdict 4"/>
          <p:cNvSpPr/>
          <p:nvPr/>
        </p:nvSpPr>
        <p:spPr>
          <a:xfrm>
            <a:off x="7351776" y="1261872"/>
            <a:ext cx="1234440" cy="256032"/>
          </a:xfrm>
          <a:prstGeom prst="roundRect">
            <a:avLst>
              <a:gd name="adj" fmla="val 50000"/>
            </a:avLst>
          </a:prstGeom>
          <a:solidFill>
            <a:schemeClr val="accent2"/>
          </a:solidFill>
          <a:ln w="12700">
            <a:solidFill>
              <a:schemeClr val="accent2"/>
            </a:solidFill>
            <a:prstDash val="solid"/>
          </a:ln>
        </p:spPr>
      </p:sp>
      <p:sp>
        <p:nvSpPr>
          <p:cNvPr id="31" name="Text 24"/>
          <p:cNvSpPr txBox="1"/>
          <p:nvPr/>
        </p:nvSpPr>
        <p:spPr>
          <a:xfrm>
            <a:off x="7351776" y="1261872"/>
            <a:ext cx="1234440" cy="256032"/>
          </a:xfrm>
          <a:prstGeom prst="rect">
            <a:avLst/>
          </a:prstGeom>
          <a:noFill/>
          <a:ln/>
        </p:spPr>
        <p:txBody>
          <a:bodyPr wrap="square" lIns="0" tIns="0" rIns="0" bIns="0" rtlCol="0" anchor="ctr"/>
          <a:lstStyle/>
          <a:p>
            <a:pPr algn="ctr" indent="0" marL="0">
              <a:buNone/>
            </a:pPr>
            <a:r>
              <a:rPr lang="en-US" sz="1000" b="1" dirty="0">
                <a:solidFill>
                  <a:schemeClr val="bg1"/>
                </a:solidFill>
              </a:rPr>
              <a:t>PROIECT</a:t>
            </a:r>
            <a:endParaRPr lang="en-US" sz="1000" dirty="0"/>
          </a:p>
        </p:txBody>
      </p:sp>
      <p:sp>
        <p:nvSpPr>
          <p:cNvPr id="32" name="Text 25"/>
          <p:cNvSpPr txBox="1"/>
          <p:nvPr/>
        </p:nvSpPr>
        <p:spPr>
          <a:xfrm>
            <a:off x="6821424" y="1719072"/>
            <a:ext cx="1783080" cy="365760"/>
          </a:xfrm>
          <a:prstGeom prst="rect">
            <a:avLst/>
          </a:prstGeom>
          <a:noFill/>
          <a:ln/>
        </p:spPr>
        <p:txBody>
          <a:bodyPr wrap="square" lIns="0" tIns="0" rIns="0" bIns="0" rtlCol="0" anchor="t"/>
          <a:lstStyle/>
          <a:p>
            <a:pPr indent="0" marL="0">
              <a:buNone/>
            </a:pPr>
            <a:r>
              <a:rPr lang="en-US" sz="1100" b="1" dirty="0">
                <a:solidFill>
                  <a:schemeClr val="tx1"/>
                </a:solidFill>
              </a:rPr>
              <a:t>Redactarea unui articol</a:t>
            </a:r>
            <a:endParaRPr lang="en-US" sz="1100" dirty="0"/>
          </a:p>
        </p:txBody>
      </p:sp>
      <p:sp>
        <p:nvSpPr>
          <p:cNvPr id="33" name="Text 26"/>
          <p:cNvSpPr txBox="1"/>
          <p:nvPr/>
        </p:nvSpPr>
        <p:spPr>
          <a:xfrm>
            <a:off x="6821424" y="2084832"/>
            <a:ext cx="1783080" cy="384048"/>
          </a:xfrm>
          <a:prstGeom prst="rect">
            <a:avLst/>
          </a:prstGeom>
          <a:noFill/>
          <a:ln/>
        </p:spPr>
        <p:txBody>
          <a:bodyPr wrap="square" lIns="0" tIns="0" rIns="0" bIns="0" rtlCol="0" anchor="t"/>
          <a:lstStyle/>
          <a:p>
            <a:pPr indent="0" marL="0">
              <a:buNone/>
            </a:pPr>
            <a:r>
              <a:rPr lang="en-US" sz="1000" dirty="0">
                <a:solidFill>
                  <a:schemeClr val="tx2"/>
                </a:solidFill>
              </a:rPr>
              <a:t>Un rezultat unic, cu termen limită</a:t>
            </a:r>
            <a:endParaRPr lang="en-US" sz="1000" dirty="0"/>
          </a:p>
        </p:txBody>
      </p:sp>
      <p:sp>
        <p:nvSpPr>
          <p:cNvPr id="34" name="Card exemplu 5"/>
          <p:cNvSpPr/>
          <p:nvPr/>
        </p:nvSpPr>
        <p:spPr>
          <a:xfrm>
            <a:off x="457200" y="2606040"/>
            <a:ext cx="1965960" cy="1417320"/>
          </a:xfrm>
          <a:prstGeom prst="roundRect">
            <a:avLst>
              <a:gd name="adj" fmla="val 6452"/>
            </a:avLst>
          </a:prstGeom>
          <a:solidFill>
            <a:schemeClr val="bg2"/>
          </a:solidFill>
          <a:ln w="12700">
            <a:solidFill>
              <a:schemeClr val="bg2"/>
            </a:solidFill>
            <a:prstDash val="solid"/>
          </a:ln>
        </p:spPr>
      </p:sp>
      <p:sp>
        <p:nvSpPr>
          <p:cNvPr id="35" name="Icon exemplu 5 cerc"/>
          <p:cNvSpPr/>
          <p:nvPr/>
        </p:nvSpPr>
        <p:spPr>
          <a:xfrm>
            <a:off x="566928" y="2715768"/>
            <a:ext cx="411480" cy="411480"/>
          </a:xfrm>
          <a:prstGeom prst="ellipse">
            <a:avLst/>
          </a:prstGeom>
          <a:solidFill>
            <a:schemeClr val="accent4"/>
          </a:solidFill>
          <a:ln w="12700">
            <a:solidFill>
              <a:schemeClr val="accent4"/>
            </a:solidFill>
            <a:prstDash val="solid"/>
          </a:ln>
        </p:spPr>
      </p:sp>
      <p:pic>
        <p:nvPicPr>
          <p:cNvPr id="36" name="Icon exemplu 5" descr="preencoded.png">    </p:cNvPr>
          <p:cNvPicPr>
            <a:picLocks noChangeAspect="1"/>
          </p:cNvPicPr>
          <p:nvPr/>
        </p:nvPicPr>
        <p:blipFill>
          <a:blip r:embed="rId5"/>
          <a:stretch>
            <a:fillRect/>
          </a:stretch>
        </p:blipFill>
        <p:spPr>
          <a:xfrm>
            <a:off x="673913" y="2822753"/>
            <a:ext cx="197510" cy="197510"/>
          </a:xfrm>
          <a:prstGeom prst="rect">
            <a:avLst/>
          </a:prstGeom>
        </p:spPr>
      </p:pic>
      <p:sp>
        <p:nvSpPr>
          <p:cNvPr id="37" name="Verdict 5"/>
          <p:cNvSpPr/>
          <p:nvPr/>
        </p:nvSpPr>
        <p:spPr>
          <a:xfrm>
            <a:off x="1097280" y="2770632"/>
            <a:ext cx="1234440" cy="256032"/>
          </a:xfrm>
          <a:prstGeom prst="roundRect">
            <a:avLst>
              <a:gd name="adj" fmla="val 50000"/>
            </a:avLst>
          </a:prstGeom>
          <a:solidFill>
            <a:schemeClr val="accent2"/>
          </a:solidFill>
          <a:ln w="12700">
            <a:solidFill>
              <a:schemeClr val="accent2"/>
            </a:solidFill>
            <a:prstDash val="solid"/>
          </a:ln>
        </p:spPr>
      </p:sp>
      <p:sp>
        <p:nvSpPr>
          <p:cNvPr id="38" name="Text 30"/>
          <p:cNvSpPr txBox="1"/>
          <p:nvPr/>
        </p:nvSpPr>
        <p:spPr>
          <a:xfrm>
            <a:off x="1097280" y="2770632"/>
            <a:ext cx="1234440" cy="256032"/>
          </a:xfrm>
          <a:prstGeom prst="rect">
            <a:avLst/>
          </a:prstGeom>
          <a:noFill/>
          <a:ln/>
        </p:spPr>
        <p:txBody>
          <a:bodyPr wrap="square" lIns="0" tIns="0" rIns="0" bIns="0" rtlCol="0" anchor="ctr"/>
          <a:lstStyle/>
          <a:p>
            <a:pPr algn="ctr" indent="0" marL="0">
              <a:buNone/>
            </a:pPr>
            <a:r>
              <a:rPr lang="en-US" sz="1000" b="1" dirty="0">
                <a:solidFill>
                  <a:schemeClr val="bg1"/>
                </a:solidFill>
              </a:rPr>
              <a:t>PROIECT</a:t>
            </a:r>
            <a:endParaRPr lang="en-US" sz="1000" dirty="0"/>
          </a:p>
        </p:txBody>
      </p:sp>
      <p:sp>
        <p:nvSpPr>
          <p:cNvPr id="39" name="Text 31"/>
          <p:cNvSpPr txBox="1"/>
          <p:nvPr/>
        </p:nvSpPr>
        <p:spPr>
          <a:xfrm>
            <a:off x="566928" y="3227832"/>
            <a:ext cx="1783080" cy="365760"/>
          </a:xfrm>
          <a:prstGeom prst="rect">
            <a:avLst/>
          </a:prstGeom>
          <a:noFill/>
          <a:ln/>
        </p:spPr>
        <p:txBody>
          <a:bodyPr wrap="square" lIns="0" tIns="0" rIns="0" bIns="0" rtlCol="0" anchor="t"/>
          <a:lstStyle/>
          <a:p>
            <a:pPr indent="0" marL="0">
              <a:buNone/>
            </a:pPr>
            <a:r>
              <a:rPr lang="en-US" sz="1100" b="1" dirty="0">
                <a:solidFill>
                  <a:schemeClr val="tx1"/>
                </a:solidFill>
              </a:rPr>
              <a:t>Dezvoltarea unui sistem software</a:t>
            </a:r>
            <a:endParaRPr lang="en-US" sz="1100" dirty="0"/>
          </a:p>
        </p:txBody>
      </p:sp>
      <p:sp>
        <p:nvSpPr>
          <p:cNvPr id="40" name="Text 32"/>
          <p:cNvSpPr txBox="1"/>
          <p:nvPr/>
        </p:nvSpPr>
        <p:spPr>
          <a:xfrm>
            <a:off x="566928" y="3593592"/>
            <a:ext cx="1783080" cy="384048"/>
          </a:xfrm>
          <a:prstGeom prst="rect">
            <a:avLst/>
          </a:prstGeom>
          <a:noFill/>
          <a:ln/>
        </p:spPr>
        <p:txBody>
          <a:bodyPr wrap="square" lIns="0" tIns="0" rIns="0" bIns="0" rtlCol="0" anchor="t"/>
          <a:lstStyle/>
          <a:p>
            <a:pPr indent="0" marL="0">
              <a:buNone/>
            </a:pPr>
            <a:r>
              <a:rPr lang="en-US" sz="1000" dirty="0">
                <a:solidFill>
                  <a:schemeClr val="tx2"/>
                </a:solidFill>
              </a:rPr>
              <a:t>Produs unic, se încheie la livrare</a:t>
            </a:r>
            <a:endParaRPr lang="en-US" sz="1000" dirty="0"/>
          </a:p>
        </p:txBody>
      </p:sp>
      <p:sp>
        <p:nvSpPr>
          <p:cNvPr id="41" name="Card exemplu 6"/>
          <p:cNvSpPr/>
          <p:nvPr/>
        </p:nvSpPr>
        <p:spPr>
          <a:xfrm>
            <a:off x="2542032" y="2606040"/>
            <a:ext cx="1965960" cy="1417320"/>
          </a:xfrm>
          <a:prstGeom prst="roundRect">
            <a:avLst>
              <a:gd name="adj" fmla="val 6452"/>
            </a:avLst>
          </a:prstGeom>
          <a:solidFill>
            <a:schemeClr val="bg2"/>
          </a:solidFill>
          <a:ln w="12700">
            <a:solidFill>
              <a:schemeClr val="bg2"/>
            </a:solidFill>
            <a:prstDash val="solid"/>
          </a:ln>
        </p:spPr>
      </p:sp>
      <p:sp>
        <p:nvSpPr>
          <p:cNvPr id="42" name="Icon exemplu 6 cerc"/>
          <p:cNvSpPr/>
          <p:nvPr/>
        </p:nvSpPr>
        <p:spPr>
          <a:xfrm>
            <a:off x="2651760" y="2715768"/>
            <a:ext cx="411480" cy="411480"/>
          </a:xfrm>
          <a:prstGeom prst="ellipse">
            <a:avLst/>
          </a:prstGeom>
          <a:solidFill>
            <a:schemeClr val="accent2"/>
          </a:solidFill>
          <a:ln w="12700">
            <a:solidFill>
              <a:schemeClr val="accent2"/>
            </a:solidFill>
            <a:prstDash val="solid"/>
          </a:ln>
        </p:spPr>
      </p:sp>
      <p:pic>
        <p:nvPicPr>
          <p:cNvPr id="43" name="Icon exemplu 6" descr="preencoded.png">    </p:cNvPr>
          <p:cNvPicPr>
            <a:picLocks noChangeAspect="1"/>
          </p:cNvPicPr>
          <p:nvPr/>
        </p:nvPicPr>
        <p:blipFill>
          <a:blip r:embed="rId6"/>
          <a:stretch>
            <a:fillRect/>
          </a:stretch>
        </p:blipFill>
        <p:spPr>
          <a:xfrm>
            <a:off x="2758745" y="2822753"/>
            <a:ext cx="197510" cy="197510"/>
          </a:xfrm>
          <a:prstGeom prst="rect">
            <a:avLst/>
          </a:prstGeom>
        </p:spPr>
      </p:pic>
      <p:sp>
        <p:nvSpPr>
          <p:cNvPr id="44" name="Verdict 6"/>
          <p:cNvSpPr/>
          <p:nvPr/>
        </p:nvSpPr>
        <p:spPr>
          <a:xfrm>
            <a:off x="3182112" y="2770632"/>
            <a:ext cx="1234440" cy="256032"/>
          </a:xfrm>
          <a:prstGeom prst="roundRect">
            <a:avLst>
              <a:gd name="adj" fmla="val 50000"/>
            </a:avLst>
          </a:prstGeom>
          <a:solidFill>
            <a:schemeClr val="accent3"/>
          </a:solidFill>
          <a:ln w="12700">
            <a:solidFill>
              <a:schemeClr val="accent3"/>
            </a:solidFill>
            <a:prstDash val="solid"/>
          </a:ln>
        </p:spPr>
      </p:sp>
      <p:sp>
        <p:nvSpPr>
          <p:cNvPr id="45" name="Text 36"/>
          <p:cNvSpPr txBox="1"/>
          <p:nvPr/>
        </p:nvSpPr>
        <p:spPr>
          <a:xfrm>
            <a:off x="3182112" y="2770632"/>
            <a:ext cx="1234440" cy="256032"/>
          </a:xfrm>
          <a:prstGeom prst="rect">
            <a:avLst/>
          </a:prstGeom>
          <a:noFill/>
          <a:ln/>
        </p:spPr>
        <p:txBody>
          <a:bodyPr wrap="square" lIns="0" tIns="0" rIns="0" bIns="0" rtlCol="0" anchor="ctr"/>
          <a:lstStyle/>
          <a:p>
            <a:pPr algn="ctr" indent="0" marL="0">
              <a:buNone/>
            </a:pPr>
            <a:r>
              <a:rPr lang="en-US" sz="1000" b="1" dirty="0">
                <a:solidFill>
                  <a:schemeClr val="bg1"/>
                </a:solidFill>
              </a:rPr>
              <a:t>OPERAȚIONAL</a:t>
            </a:r>
            <a:endParaRPr lang="en-US" sz="1000" dirty="0"/>
          </a:p>
        </p:txBody>
      </p:sp>
      <p:sp>
        <p:nvSpPr>
          <p:cNvPr id="46" name="Text 37"/>
          <p:cNvSpPr txBox="1"/>
          <p:nvPr/>
        </p:nvSpPr>
        <p:spPr>
          <a:xfrm>
            <a:off x="2651760" y="3227832"/>
            <a:ext cx="1783080" cy="365760"/>
          </a:xfrm>
          <a:prstGeom prst="rect">
            <a:avLst/>
          </a:prstGeom>
          <a:noFill/>
          <a:ln/>
        </p:spPr>
        <p:txBody>
          <a:bodyPr wrap="square" lIns="0" tIns="0" rIns="0" bIns="0" rtlCol="0" anchor="t"/>
          <a:lstStyle/>
          <a:p>
            <a:pPr indent="0" marL="0">
              <a:buNone/>
            </a:pPr>
            <a:r>
              <a:rPr lang="en-US" sz="1100" b="1" dirty="0">
                <a:solidFill>
                  <a:schemeClr val="tx1"/>
                </a:solidFill>
              </a:rPr>
              <a:t>Menținerea unui sistem software</a:t>
            </a:r>
            <a:endParaRPr lang="en-US" sz="1100" dirty="0"/>
          </a:p>
        </p:txBody>
      </p:sp>
      <p:sp>
        <p:nvSpPr>
          <p:cNvPr id="47" name="Text 38"/>
          <p:cNvSpPr txBox="1"/>
          <p:nvPr/>
        </p:nvSpPr>
        <p:spPr>
          <a:xfrm>
            <a:off x="2651760" y="3593592"/>
            <a:ext cx="1783080" cy="384048"/>
          </a:xfrm>
          <a:prstGeom prst="rect">
            <a:avLst/>
          </a:prstGeom>
          <a:noFill/>
          <a:ln/>
        </p:spPr>
        <p:txBody>
          <a:bodyPr wrap="square" lIns="0" tIns="0" rIns="0" bIns="0" rtlCol="0" anchor="t"/>
          <a:lstStyle/>
          <a:p>
            <a:pPr indent="0" marL="0">
              <a:buNone/>
            </a:pPr>
            <a:r>
              <a:rPr lang="en-US" sz="1000" dirty="0">
                <a:solidFill>
                  <a:schemeClr val="tx2"/>
                </a:solidFill>
              </a:rPr>
              <a:t>Susține activitatea, nu se termină</a:t>
            </a:r>
            <a:endParaRPr lang="en-US" sz="1000" dirty="0"/>
          </a:p>
        </p:txBody>
      </p:sp>
      <p:sp>
        <p:nvSpPr>
          <p:cNvPr id="48" name="Card exemplu 7"/>
          <p:cNvSpPr/>
          <p:nvPr/>
        </p:nvSpPr>
        <p:spPr>
          <a:xfrm>
            <a:off x="4626864" y="2606040"/>
            <a:ext cx="1965960" cy="1417320"/>
          </a:xfrm>
          <a:prstGeom prst="roundRect">
            <a:avLst>
              <a:gd name="adj" fmla="val 6452"/>
            </a:avLst>
          </a:prstGeom>
          <a:solidFill>
            <a:schemeClr val="bg2"/>
          </a:solidFill>
          <a:ln w="12700">
            <a:solidFill>
              <a:schemeClr val="bg2"/>
            </a:solidFill>
            <a:prstDash val="solid"/>
          </a:ln>
        </p:spPr>
      </p:sp>
      <p:sp>
        <p:nvSpPr>
          <p:cNvPr id="49" name="Icon exemplu 7 cerc"/>
          <p:cNvSpPr/>
          <p:nvPr/>
        </p:nvSpPr>
        <p:spPr>
          <a:xfrm>
            <a:off x="4736592" y="2715768"/>
            <a:ext cx="411480" cy="411480"/>
          </a:xfrm>
          <a:prstGeom prst="ellipse">
            <a:avLst/>
          </a:prstGeom>
          <a:solidFill>
            <a:schemeClr val="accent5"/>
          </a:solidFill>
          <a:ln w="12700">
            <a:solidFill>
              <a:schemeClr val="accent5"/>
            </a:solidFill>
            <a:prstDash val="solid"/>
          </a:ln>
        </p:spPr>
      </p:sp>
      <p:pic>
        <p:nvPicPr>
          <p:cNvPr id="50" name="Icon exemplu 7" descr="preencoded.png">    </p:cNvPr>
          <p:cNvPicPr>
            <a:picLocks noChangeAspect="1"/>
          </p:cNvPicPr>
          <p:nvPr/>
        </p:nvPicPr>
        <p:blipFill>
          <a:blip r:embed="rId7"/>
          <a:stretch>
            <a:fillRect/>
          </a:stretch>
        </p:blipFill>
        <p:spPr>
          <a:xfrm>
            <a:off x="4843577" y="2822753"/>
            <a:ext cx="197510" cy="197510"/>
          </a:xfrm>
          <a:prstGeom prst="rect">
            <a:avLst/>
          </a:prstGeom>
        </p:spPr>
      </p:pic>
      <p:sp>
        <p:nvSpPr>
          <p:cNvPr id="51" name="Verdict 7"/>
          <p:cNvSpPr/>
          <p:nvPr/>
        </p:nvSpPr>
        <p:spPr>
          <a:xfrm>
            <a:off x="5266944" y="2770632"/>
            <a:ext cx="1234440" cy="256032"/>
          </a:xfrm>
          <a:prstGeom prst="roundRect">
            <a:avLst>
              <a:gd name="adj" fmla="val 50000"/>
            </a:avLst>
          </a:prstGeom>
          <a:solidFill>
            <a:schemeClr val="accent3"/>
          </a:solidFill>
          <a:ln w="12700">
            <a:solidFill>
              <a:schemeClr val="accent3"/>
            </a:solidFill>
            <a:prstDash val="solid"/>
          </a:ln>
        </p:spPr>
      </p:sp>
      <p:sp>
        <p:nvSpPr>
          <p:cNvPr id="52" name="Text 42"/>
          <p:cNvSpPr txBox="1"/>
          <p:nvPr/>
        </p:nvSpPr>
        <p:spPr>
          <a:xfrm>
            <a:off x="5266944" y="2770632"/>
            <a:ext cx="1234440" cy="256032"/>
          </a:xfrm>
          <a:prstGeom prst="rect">
            <a:avLst/>
          </a:prstGeom>
          <a:noFill/>
          <a:ln/>
        </p:spPr>
        <p:txBody>
          <a:bodyPr wrap="square" lIns="0" tIns="0" rIns="0" bIns="0" rtlCol="0" anchor="ctr"/>
          <a:lstStyle/>
          <a:p>
            <a:pPr algn="ctr" indent="0" marL="0">
              <a:buNone/>
            </a:pPr>
            <a:r>
              <a:rPr lang="en-US" sz="1000" b="1" dirty="0">
                <a:solidFill>
                  <a:schemeClr val="bg1"/>
                </a:solidFill>
              </a:rPr>
              <a:t>OPERAȚIONAL</a:t>
            </a:r>
            <a:endParaRPr lang="en-US" sz="1000" dirty="0"/>
          </a:p>
        </p:txBody>
      </p:sp>
      <p:sp>
        <p:nvSpPr>
          <p:cNvPr id="53" name="Text 43"/>
          <p:cNvSpPr txBox="1"/>
          <p:nvPr/>
        </p:nvSpPr>
        <p:spPr>
          <a:xfrm>
            <a:off x="4736592" y="3227832"/>
            <a:ext cx="1783080" cy="365760"/>
          </a:xfrm>
          <a:prstGeom prst="rect">
            <a:avLst/>
          </a:prstGeom>
          <a:noFill/>
          <a:ln/>
        </p:spPr>
        <p:txBody>
          <a:bodyPr wrap="square" lIns="0" tIns="0" rIns="0" bIns="0" rtlCol="0" anchor="t"/>
          <a:lstStyle/>
          <a:p>
            <a:pPr indent="0" marL="0">
              <a:buNone/>
            </a:pPr>
            <a:r>
              <a:rPr lang="en-US" sz="1100" b="1" dirty="0">
                <a:solidFill>
                  <a:schemeClr val="tx1"/>
                </a:solidFill>
              </a:rPr>
              <a:t>Managementul personalului</a:t>
            </a:r>
            <a:endParaRPr lang="en-US" sz="1100" dirty="0"/>
          </a:p>
        </p:txBody>
      </p:sp>
      <p:sp>
        <p:nvSpPr>
          <p:cNvPr id="54" name="Text 44"/>
          <p:cNvSpPr txBox="1"/>
          <p:nvPr/>
        </p:nvSpPr>
        <p:spPr>
          <a:xfrm>
            <a:off x="4736592" y="3593592"/>
            <a:ext cx="1783080" cy="384048"/>
          </a:xfrm>
          <a:prstGeom prst="rect">
            <a:avLst/>
          </a:prstGeom>
          <a:noFill/>
          <a:ln/>
        </p:spPr>
        <p:txBody>
          <a:bodyPr wrap="square" lIns="0" tIns="0" rIns="0" bIns="0" rtlCol="0" anchor="t"/>
          <a:lstStyle/>
          <a:p>
            <a:pPr indent="0" marL="0">
              <a:buNone/>
            </a:pPr>
            <a:r>
              <a:rPr lang="en-US" sz="1000" dirty="0">
                <a:solidFill>
                  <a:schemeClr val="tx2"/>
                </a:solidFill>
              </a:rPr>
              <a:t>Activitate continuă a organizației</a:t>
            </a:r>
            <a:endParaRPr lang="en-US" sz="1000" dirty="0"/>
          </a:p>
        </p:txBody>
      </p:sp>
      <p:sp>
        <p:nvSpPr>
          <p:cNvPr id="55" name="Card legenda"/>
          <p:cNvSpPr/>
          <p:nvPr/>
        </p:nvSpPr>
        <p:spPr>
          <a:xfrm>
            <a:off x="6711696" y="2606040"/>
            <a:ext cx="1965960" cy="1417320"/>
          </a:xfrm>
          <a:prstGeom prst="roundRect">
            <a:avLst>
              <a:gd name="adj" fmla="val 6452"/>
            </a:avLst>
          </a:prstGeom>
          <a:solidFill>
            <a:schemeClr val="tx1"/>
          </a:solidFill>
          <a:ln w="12700">
            <a:solidFill>
              <a:schemeClr val="tx1"/>
            </a:solidFill>
            <a:prstDash val="solid"/>
          </a:ln>
        </p:spPr>
      </p:sp>
      <p:sp>
        <p:nvSpPr>
          <p:cNvPr id="56" name="Text 46"/>
          <p:cNvSpPr txBox="1"/>
          <p:nvPr/>
        </p:nvSpPr>
        <p:spPr>
          <a:xfrm>
            <a:off x="6821424" y="2606040"/>
            <a:ext cx="1783080" cy="1417320"/>
          </a:xfrm>
          <a:prstGeom prst="rect">
            <a:avLst/>
          </a:prstGeom>
          <a:noFill/>
          <a:ln/>
        </p:spPr>
        <p:txBody>
          <a:bodyPr wrap="square" lIns="0" tIns="0" rIns="0" bIns="0" rtlCol="0" anchor="ctr"/>
          <a:lstStyle/>
          <a:p>
            <a:pPr indent="0" marL="0">
              <a:spcAft>
                <a:spcPts val="200"/>
              </a:spcAft>
              <a:buNone/>
            </a:pPr>
            <a:r>
              <a:rPr lang="en-US" sz="1200" b="1" dirty="0">
                <a:solidFill>
                  <a:schemeClr val="accent1"/>
                </a:solidFill>
              </a:rPr>
              <a:t>În comun</a:t>
            </a:r>
            <a:endParaRPr lang="en-US" sz="1200" dirty="0"/>
          </a:p>
          <a:p>
            <a:pPr indent="0" marL="0">
              <a:spcAft>
                <a:spcPts val="200"/>
              </a:spcAft>
              <a:buNone/>
            </a:pPr>
            <a:r>
              <a:rPr lang="en-US" sz="1100" dirty="0">
                <a:solidFill>
                  <a:schemeClr val="bg1"/>
                </a:solidFill>
              </a:rPr>
              <a:t>oameni, resurse limitate, planificare și control</a:t>
            </a:r>
            <a:endParaRPr lang="en-US" sz="1200" dirty="0"/>
          </a:p>
          <a:p>
            <a:pPr indent="0" marL="0">
              <a:spcAft>
                <a:spcPts val="200"/>
              </a:spcAft>
              <a:buNone/>
            </a:pPr>
            <a:r>
              <a:rPr lang="en-US" sz="1200" b="1" dirty="0">
                <a:solidFill>
                  <a:schemeClr val="accent1"/>
                </a:solidFill>
              </a:rPr>
              <a:t>Diferă ținta</a:t>
            </a:r>
            <a:endParaRPr lang="en-US" sz="1200" dirty="0"/>
          </a:p>
          <a:p>
            <a:pPr indent="0" marL="0">
              <a:spcAft>
                <a:spcPts val="200"/>
              </a:spcAft>
              <a:buNone/>
            </a:pPr>
            <a:r>
              <a:rPr lang="en-US" sz="1100" dirty="0">
                <a:solidFill>
                  <a:schemeClr val="bg1"/>
                </a:solidFill>
              </a:rPr>
              <a:t>finalizare vs. susținerea business-ului</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200" b="1" dirty="0">
                <a:solidFill>
                  <a:schemeClr val="tx1"/>
                </a:solidFill>
              </a:rPr>
              <a:t>Subproiect, proiect, program, portofoliu</a:t>
            </a:r>
            <a:endParaRPr lang="en-US" sz="2200" dirty="0"/>
          </a:p>
        </p:txBody>
      </p:sp>
      <p:sp>
        <p:nvSpPr>
          <p:cNvPr id="3" name="Chip prezentator"/>
          <p:cNvSpPr/>
          <p:nvPr/>
        </p:nvSpPr>
        <p:spPr>
          <a:xfrm>
            <a:off x="7589520" y="384048"/>
            <a:ext cx="1097280" cy="292608"/>
          </a:xfrm>
          <a:prstGeom prst="roundRect">
            <a:avLst>
              <a:gd name="adj" fmla="val 50000"/>
            </a:avLst>
          </a:prstGeom>
          <a:solidFill>
            <a:schemeClr val="accent2"/>
          </a:solidFill>
          <a:ln w="12700">
            <a:solidFill>
              <a:schemeClr val="accent2"/>
            </a:solidFill>
            <a:prstDash val="solid"/>
          </a:ln>
        </p:spPr>
      </p:sp>
      <p:sp>
        <p:nvSpPr>
          <p:cNvPr id="4" name="Text prezentator"/>
          <p:cNvSpPr txBox="1"/>
          <p:nvPr/>
        </p:nvSpPr>
        <p:spPr>
          <a:xfrm>
            <a:off x="7589520" y="384048"/>
            <a:ext cx="1097280" cy="292608"/>
          </a:xfrm>
          <a:prstGeom prst="rect">
            <a:avLst/>
          </a:prstGeom>
          <a:noFill/>
          <a:ln/>
        </p:spPr>
        <p:txBody>
          <a:bodyPr wrap="square" lIns="0" tIns="0" rIns="0" bIns="0" rtlCol="0" anchor="ctr"/>
          <a:lstStyle/>
          <a:p>
            <a:pPr algn="ctr" indent="0" marL="0">
              <a:buNone/>
            </a:pPr>
            <a:r>
              <a:rPr lang="en-US" sz="1100" b="1" dirty="0">
                <a:solidFill>
                  <a:schemeClr val="bg1"/>
                </a:solidFill>
              </a:rPr>
              <a:t>B  ·  1'</a:t>
            </a:r>
            <a:endParaRPr lang="en-US" sz="1100" dirty="0"/>
          </a:p>
        </p:txBody>
      </p:sp>
      <p:sp>
        <p:nvSpPr>
          <p:cNvPr id="6" name="Nivel Portofoliu"/>
          <p:cNvSpPr/>
          <p:nvPr/>
        </p:nvSpPr>
        <p:spPr>
          <a:xfrm>
            <a:off x="457200" y="1188720"/>
            <a:ext cx="8229600" cy="749808"/>
          </a:xfrm>
          <a:prstGeom prst="roundRect">
            <a:avLst>
              <a:gd name="adj" fmla="val 12195"/>
            </a:avLst>
          </a:prstGeom>
          <a:solidFill>
            <a:schemeClr val="tx1"/>
          </a:solidFill>
          <a:ln w="12700">
            <a:solidFill>
              <a:schemeClr val="tx1"/>
            </a:solidFill>
            <a:prstDash val="solid"/>
          </a:ln>
        </p:spPr>
      </p:sp>
      <p:sp>
        <p:nvSpPr>
          <p:cNvPr id="7" name="Text 4"/>
          <p:cNvSpPr txBox="1"/>
          <p:nvPr/>
        </p:nvSpPr>
        <p:spPr>
          <a:xfrm>
            <a:off x="457200" y="1188720"/>
            <a:ext cx="8229600" cy="749808"/>
          </a:xfrm>
          <a:prstGeom prst="rect">
            <a:avLst/>
          </a:prstGeom>
          <a:noFill/>
          <a:ln/>
        </p:spPr>
        <p:txBody>
          <a:bodyPr wrap="square" lIns="0" tIns="0" rIns="0" bIns="0" rtlCol="0" anchor="ctr"/>
          <a:lstStyle/>
          <a:p>
            <a:pPr algn="ctr" indent="0" marL="0">
              <a:buNone/>
            </a:pPr>
            <a:r>
              <a:rPr lang="en-US" sz="1500" b="1" dirty="0">
                <a:solidFill>
                  <a:schemeClr val="bg1"/>
                </a:solidFill>
              </a:rPr>
              <a:t>Portofoliu</a:t>
            </a:r>
            <a:endParaRPr lang="en-US" sz="1500" dirty="0"/>
          </a:p>
          <a:p>
            <a:pPr algn="ctr" indent="0" marL="0">
              <a:buNone/>
            </a:pPr>
            <a:r>
              <a:rPr lang="en-US" sz="1100" dirty="0">
                <a:solidFill>
                  <a:schemeClr val="bg1"/>
                </a:solidFill>
              </a:rPr>
              <a:t>Proiecte/programe fără legătură, grupate pentru obiective strategice</a:t>
            </a:r>
            <a:endParaRPr lang="en-US" sz="1500" dirty="0"/>
          </a:p>
        </p:txBody>
      </p:sp>
      <p:sp>
        <p:nvSpPr>
          <p:cNvPr id="8" name="Nivel Program"/>
          <p:cNvSpPr/>
          <p:nvPr/>
        </p:nvSpPr>
        <p:spPr>
          <a:xfrm>
            <a:off x="1280160" y="2057400"/>
            <a:ext cx="6583680" cy="749808"/>
          </a:xfrm>
          <a:prstGeom prst="roundRect">
            <a:avLst>
              <a:gd name="adj" fmla="val 12195"/>
            </a:avLst>
          </a:prstGeom>
          <a:solidFill>
            <a:schemeClr val="accent4"/>
          </a:solidFill>
          <a:ln w="12700">
            <a:solidFill>
              <a:schemeClr val="accent4"/>
            </a:solidFill>
            <a:prstDash val="solid"/>
          </a:ln>
        </p:spPr>
      </p:sp>
      <p:sp>
        <p:nvSpPr>
          <p:cNvPr id="9" name="Text 6"/>
          <p:cNvSpPr txBox="1"/>
          <p:nvPr/>
        </p:nvSpPr>
        <p:spPr>
          <a:xfrm>
            <a:off x="1280160" y="2057400"/>
            <a:ext cx="6583680" cy="749808"/>
          </a:xfrm>
          <a:prstGeom prst="rect">
            <a:avLst/>
          </a:prstGeom>
          <a:noFill/>
          <a:ln/>
        </p:spPr>
        <p:txBody>
          <a:bodyPr wrap="square" lIns="0" tIns="0" rIns="0" bIns="0" rtlCol="0" anchor="ctr"/>
          <a:lstStyle/>
          <a:p>
            <a:pPr algn="ctr" indent="0" marL="0">
              <a:buNone/>
            </a:pPr>
            <a:r>
              <a:rPr lang="en-US" sz="1500" b="1" dirty="0">
                <a:solidFill>
                  <a:schemeClr val="bg1"/>
                </a:solidFill>
              </a:rPr>
              <a:t>Program</a:t>
            </a:r>
            <a:endParaRPr lang="en-US" sz="1500" dirty="0"/>
          </a:p>
          <a:p>
            <a:pPr algn="ctr" indent="0" marL="0">
              <a:buNone/>
            </a:pPr>
            <a:r>
              <a:rPr lang="en-US" sz="1100" dirty="0">
                <a:solidFill>
                  <a:schemeClr val="bg1"/>
                </a:solidFill>
              </a:rPr>
              <a:t>Proiecte înrudite, gestionate coordonat pentru un beneficiu</a:t>
            </a:r>
            <a:endParaRPr lang="en-US" sz="1500" dirty="0"/>
          </a:p>
        </p:txBody>
      </p:sp>
      <p:sp>
        <p:nvSpPr>
          <p:cNvPr id="10" name="Nivel Proiect"/>
          <p:cNvSpPr/>
          <p:nvPr/>
        </p:nvSpPr>
        <p:spPr>
          <a:xfrm>
            <a:off x="2103120" y="2926080"/>
            <a:ext cx="4937760" cy="749808"/>
          </a:xfrm>
          <a:prstGeom prst="roundRect">
            <a:avLst>
              <a:gd name="adj" fmla="val 12195"/>
            </a:avLst>
          </a:prstGeom>
          <a:solidFill>
            <a:schemeClr val="accent2"/>
          </a:solidFill>
          <a:ln w="12700">
            <a:solidFill>
              <a:schemeClr val="accent2"/>
            </a:solidFill>
            <a:prstDash val="solid"/>
          </a:ln>
        </p:spPr>
      </p:sp>
      <p:sp>
        <p:nvSpPr>
          <p:cNvPr id="11" name="Text 8"/>
          <p:cNvSpPr txBox="1"/>
          <p:nvPr/>
        </p:nvSpPr>
        <p:spPr>
          <a:xfrm>
            <a:off x="2103120" y="2926080"/>
            <a:ext cx="4937760" cy="749808"/>
          </a:xfrm>
          <a:prstGeom prst="rect">
            <a:avLst/>
          </a:prstGeom>
          <a:noFill/>
          <a:ln/>
        </p:spPr>
        <p:txBody>
          <a:bodyPr wrap="square" lIns="0" tIns="0" rIns="0" bIns="0" rtlCol="0" anchor="ctr"/>
          <a:lstStyle/>
          <a:p>
            <a:pPr algn="ctr" indent="0" marL="0">
              <a:buNone/>
            </a:pPr>
            <a:r>
              <a:rPr lang="en-US" sz="1500" b="1" dirty="0">
                <a:solidFill>
                  <a:schemeClr val="bg1"/>
                </a:solidFill>
              </a:rPr>
              <a:t>Proiect</a:t>
            </a:r>
            <a:endParaRPr lang="en-US" sz="1500" dirty="0"/>
          </a:p>
          <a:p>
            <a:pPr algn="ctr" indent="0" marL="0">
              <a:buNone/>
            </a:pPr>
            <a:r>
              <a:rPr lang="en-US" sz="1100" dirty="0">
                <a:solidFill>
                  <a:schemeClr val="bg1"/>
                </a:solidFill>
              </a:rPr>
              <a:t>Efort temporar pentru un rezultat unic</a:t>
            </a:r>
            <a:endParaRPr lang="en-US" sz="1500" dirty="0"/>
          </a:p>
        </p:txBody>
      </p:sp>
      <p:sp>
        <p:nvSpPr>
          <p:cNvPr id="12" name="Nivel Subproiect"/>
          <p:cNvSpPr/>
          <p:nvPr/>
        </p:nvSpPr>
        <p:spPr>
          <a:xfrm>
            <a:off x="2926080" y="3794760"/>
            <a:ext cx="3291840" cy="749808"/>
          </a:xfrm>
          <a:prstGeom prst="roundRect">
            <a:avLst>
              <a:gd name="adj" fmla="val 12195"/>
            </a:avLst>
          </a:prstGeom>
          <a:solidFill>
            <a:schemeClr val="accent1"/>
          </a:solidFill>
          <a:ln w="12700">
            <a:solidFill>
              <a:schemeClr val="accent1"/>
            </a:solidFill>
            <a:prstDash val="solid"/>
          </a:ln>
        </p:spPr>
      </p:sp>
      <p:sp>
        <p:nvSpPr>
          <p:cNvPr id="13" name="Text 10"/>
          <p:cNvSpPr txBox="1"/>
          <p:nvPr/>
        </p:nvSpPr>
        <p:spPr>
          <a:xfrm>
            <a:off x="2926080" y="3794760"/>
            <a:ext cx="3291840" cy="749808"/>
          </a:xfrm>
          <a:prstGeom prst="rect">
            <a:avLst/>
          </a:prstGeom>
          <a:noFill/>
          <a:ln/>
        </p:spPr>
        <p:txBody>
          <a:bodyPr wrap="square" lIns="0" tIns="0" rIns="0" bIns="0" rtlCol="0" anchor="ctr"/>
          <a:lstStyle/>
          <a:p>
            <a:pPr algn="ctr" indent="0" marL="0">
              <a:buNone/>
            </a:pPr>
            <a:r>
              <a:rPr lang="en-US" sz="1500" b="1" dirty="0">
                <a:solidFill>
                  <a:schemeClr val="tx1"/>
                </a:solidFill>
              </a:rPr>
              <a:t>Subproiect</a:t>
            </a:r>
            <a:endParaRPr lang="en-US" sz="1500" dirty="0"/>
          </a:p>
          <a:p>
            <a:pPr algn="ctr" indent="0" marL="0">
              <a:buNone/>
            </a:pPr>
            <a:r>
              <a:rPr lang="en-US" sz="1100" dirty="0">
                <a:solidFill>
                  <a:schemeClr val="tx1"/>
                </a:solidFill>
              </a:rPr>
              <a:t>Parte din proiect, administrată ca proiect</a:t>
            </a:r>
            <a:endParaRPr lang="en-US" sz="15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200" b="1" dirty="0">
                <a:solidFill>
                  <a:schemeClr val="tx1"/>
                </a:solidFill>
              </a:rPr>
              <a:t>Cinci tipuri de proiecte software</a:t>
            </a:r>
            <a:endParaRPr lang="en-US" sz="2200" dirty="0"/>
          </a:p>
        </p:txBody>
      </p:sp>
      <p:sp>
        <p:nvSpPr>
          <p:cNvPr id="3" name="Chip prezentator"/>
          <p:cNvSpPr/>
          <p:nvPr/>
        </p:nvSpPr>
        <p:spPr>
          <a:xfrm>
            <a:off x="7589520" y="384048"/>
            <a:ext cx="1097280" cy="292608"/>
          </a:xfrm>
          <a:prstGeom prst="roundRect">
            <a:avLst>
              <a:gd name="adj" fmla="val 50000"/>
            </a:avLst>
          </a:prstGeom>
          <a:solidFill>
            <a:schemeClr val="accent2"/>
          </a:solidFill>
          <a:ln w="12700">
            <a:solidFill>
              <a:schemeClr val="accent2"/>
            </a:solidFill>
            <a:prstDash val="solid"/>
          </a:ln>
        </p:spPr>
      </p:sp>
      <p:sp>
        <p:nvSpPr>
          <p:cNvPr id="4" name="Text prezentator"/>
          <p:cNvSpPr txBox="1"/>
          <p:nvPr/>
        </p:nvSpPr>
        <p:spPr>
          <a:xfrm>
            <a:off x="7589520" y="384048"/>
            <a:ext cx="1097280" cy="292608"/>
          </a:xfrm>
          <a:prstGeom prst="rect">
            <a:avLst/>
          </a:prstGeom>
          <a:noFill/>
          <a:ln/>
        </p:spPr>
        <p:txBody>
          <a:bodyPr wrap="square" lIns="0" tIns="0" rIns="0" bIns="0" rtlCol="0" anchor="ctr"/>
          <a:lstStyle/>
          <a:p>
            <a:pPr algn="ctr" indent="0" marL="0">
              <a:buNone/>
            </a:pPr>
            <a:r>
              <a:rPr lang="en-US" sz="1100" b="1" dirty="0">
                <a:solidFill>
                  <a:schemeClr val="bg1"/>
                </a:solidFill>
              </a:rPr>
              <a:t>B  ·  1,5'</a:t>
            </a:r>
            <a:endParaRPr lang="en-US" sz="1100" dirty="0"/>
          </a:p>
        </p:txBody>
      </p:sp>
      <p:sp>
        <p:nvSpPr>
          <p:cNvPr id="6" name="Card tip A"/>
          <p:cNvSpPr/>
          <p:nvPr/>
        </p:nvSpPr>
        <p:spPr>
          <a:xfrm>
            <a:off x="457200" y="1051560"/>
            <a:ext cx="8229600" cy="548640"/>
          </a:xfrm>
          <a:prstGeom prst="roundRect">
            <a:avLst>
              <a:gd name="adj" fmla="val 16667"/>
            </a:avLst>
          </a:prstGeom>
          <a:solidFill>
            <a:schemeClr val="bg2"/>
          </a:solidFill>
          <a:ln w="12700">
            <a:solidFill>
              <a:schemeClr val="bg2"/>
            </a:solidFill>
            <a:prstDash val="solid"/>
          </a:ln>
        </p:spPr>
      </p:sp>
      <p:sp>
        <p:nvSpPr>
          <p:cNvPr id="7" name="Icon tip A cerc"/>
          <p:cNvSpPr/>
          <p:nvPr/>
        </p:nvSpPr>
        <p:spPr>
          <a:xfrm>
            <a:off x="566928" y="1115568"/>
            <a:ext cx="420624" cy="420624"/>
          </a:xfrm>
          <a:prstGeom prst="ellipse">
            <a:avLst/>
          </a:prstGeom>
          <a:solidFill>
            <a:schemeClr val="accent4"/>
          </a:solidFill>
          <a:ln w="12700">
            <a:solidFill>
              <a:schemeClr val="accent4"/>
            </a:solidFill>
            <a:prstDash val="solid"/>
          </a:ln>
        </p:spPr>
      </p:sp>
      <p:pic>
        <p:nvPicPr>
          <p:cNvPr id="8" name="Icon tip A" descr="preencoded.png">    </p:cNvPr>
          <p:cNvPicPr>
            <a:picLocks noChangeAspect="1"/>
          </p:cNvPicPr>
          <p:nvPr/>
        </p:nvPicPr>
        <p:blipFill>
          <a:blip r:embed="rId1"/>
          <a:stretch>
            <a:fillRect/>
          </a:stretch>
        </p:blipFill>
        <p:spPr>
          <a:xfrm>
            <a:off x="676290" y="1224930"/>
            <a:ext cx="201900" cy="201900"/>
          </a:xfrm>
          <a:prstGeom prst="rect">
            <a:avLst/>
          </a:prstGeom>
        </p:spPr>
      </p:pic>
      <p:sp>
        <p:nvSpPr>
          <p:cNvPr id="9" name="Text 5"/>
          <p:cNvSpPr txBox="1"/>
          <p:nvPr/>
        </p:nvSpPr>
        <p:spPr>
          <a:xfrm>
            <a:off x="1188720" y="1051560"/>
            <a:ext cx="365760" cy="548640"/>
          </a:xfrm>
          <a:prstGeom prst="rect">
            <a:avLst/>
          </a:prstGeom>
          <a:noFill/>
          <a:ln/>
        </p:spPr>
        <p:txBody>
          <a:bodyPr wrap="square" lIns="0" tIns="0" rIns="0" bIns="0" rtlCol="0" anchor="ctr"/>
          <a:lstStyle/>
          <a:p>
            <a:pPr indent="0" marL="0">
              <a:buNone/>
            </a:pPr>
            <a:r>
              <a:rPr lang="en-US" sz="2200" b="1" dirty="0">
                <a:solidFill>
                  <a:schemeClr val="accent4"/>
                </a:solidFill>
              </a:rPr>
              <a:t>A</a:t>
            </a:r>
            <a:endParaRPr lang="en-US" sz="2200" dirty="0"/>
          </a:p>
        </p:txBody>
      </p:sp>
      <p:sp>
        <p:nvSpPr>
          <p:cNvPr id="10" name="Text 6"/>
          <p:cNvSpPr txBox="1"/>
          <p:nvPr/>
        </p:nvSpPr>
        <p:spPr>
          <a:xfrm>
            <a:off x="1600200" y="1051560"/>
            <a:ext cx="2377440" cy="548640"/>
          </a:xfrm>
          <a:prstGeom prst="rect">
            <a:avLst/>
          </a:prstGeom>
          <a:noFill/>
          <a:ln/>
        </p:spPr>
        <p:txBody>
          <a:bodyPr wrap="square" lIns="0" tIns="0" rIns="0" bIns="0" rtlCol="0" anchor="ctr"/>
          <a:lstStyle/>
          <a:p>
            <a:pPr indent="0" marL="0">
              <a:buNone/>
            </a:pPr>
            <a:r>
              <a:rPr lang="en-US" sz="1400" b="1" dirty="0">
                <a:solidFill>
                  <a:schemeClr val="tx1"/>
                </a:solidFill>
              </a:rPr>
              <a:t>Dezvoltare de aplicații</a:t>
            </a:r>
            <a:endParaRPr lang="en-US" sz="1400" dirty="0"/>
          </a:p>
        </p:txBody>
      </p:sp>
      <p:sp>
        <p:nvSpPr>
          <p:cNvPr id="11" name="Text 7"/>
          <p:cNvSpPr txBox="1"/>
          <p:nvPr/>
        </p:nvSpPr>
        <p:spPr>
          <a:xfrm>
            <a:off x="4023360" y="1051560"/>
            <a:ext cx="4572000" cy="548640"/>
          </a:xfrm>
          <a:prstGeom prst="rect">
            <a:avLst/>
          </a:prstGeom>
          <a:noFill/>
          <a:ln/>
        </p:spPr>
        <p:txBody>
          <a:bodyPr wrap="square" lIns="0" tIns="0" rIns="0" bIns="0" rtlCol="0" anchor="ctr"/>
          <a:lstStyle/>
          <a:p>
            <a:pPr indent="0" marL="0">
              <a:buNone/>
            </a:pPr>
            <a:r>
              <a:rPr lang="en-US" sz="1200" dirty="0">
                <a:solidFill>
                  <a:schemeClr val="tx2"/>
                </a:solidFill>
              </a:rPr>
              <a:t>One-off, off-the-shelf sau off-the-shelf customizat (ERP)</a:t>
            </a:r>
            <a:endParaRPr lang="en-US" sz="1200" dirty="0"/>
          </a:p>
        </p:txBody>
      </p:sp>
      <p:sp>
        <p:nvSpPr>
          <p:cNvPr id="12" name="Card tip B"/>
          <p:cNvSpPr/>
          <p:nvPr/>
        </p:nvSpPr>
        <p:spPr>
          <a:xfrm>
            <a:off x="457200" y="1664208"/>
            <a:ext cx="8229600" cy="548640"/>
          </a:xfrm>
          <a:prstGeom prst="roundRect">
            <a:avLst>
              <a:gd name="adj" fmla="val 16667"/>
            </a:avLst>
          </a:prstGeom>
          <a:solidFill>
            <a:schemeClr val="bg2"/>
          </a:solidFill>
          <a:ln w="12700">
            <a:solidFill>
              <a:schemeClr val="bg2"/>
            </a:solidFill>
            <a:prstDash val="solid"/>
          </a:ln>
        </p:spPr>
      </p:sp>
      <p:sp>
        <p:nvSpPr>
          <p:cNvPr id="13" name="Icon tip B cerc"/>
          <p:cNvSpPr/>
          <p:nvPr/>
        </p:nvSpPr>
        <p:spPr>
          <a:xfrm>
            <a:off x="566928" y="1728216"/>
            <a:ext cx="420624" cy="420624"/>
          </a:xfrm>
          <a:prstGeom prst="ellipse">
            <a:avLst/>
          </a:prstGeom>
          <a:solidFill>
            <a:schemeClr val="accent3"/>
          </a:solidFill>
          <a:ln w="12700">
            <a:solidFill>
              <a:schemeClr val="accent3"/>
            </a:solidFill>
            <a:prstDash val="solid"/>
          </a:ln>
        </p:spPr>
      </p:sp>
      <p:pic>
        <p:nvPicPr>
          <p:cNvPr id="14" name="Icon tip B" descr="preencoded.png">    </p:cNvPr>
          <p:cNvPicPr>
            <a:picLocks noChangeAspect="1"/>
          </p:cNvPicPr>
          <p:nvPr/>
        </p:nvPicPr>
        <p:blipFill>
          <a:blip r:embed="rId2"/>
          <a:stretch>
            <a:fillRect/>
          </a:stretch>
        </p:blipFill>
        <p:spPr>
          <a:xfrm>
            <a:off x="676290" y="1837578"/>
            <a:ext cx="201900" cy="201900"/>
          </a:xfrm>
          <a:prstGeom prst="rect">
            <a:avLst/>
          </a:prstGeom>
        </p:spPr>
      </p:pic>
      <p:sp>
        <p:nvSpPr>
          <p:cNvPr id="15" name="Text 10"/>
          <p:cNvSpPr txBox="1"/>
          <p:nvPr/>
        </p:nvSpPr>
        <p:spPr>
          <a:xfrm>
            <a:off x="1188720" y="1664208"/>
            <a:ext cx="365760" cy="548640"/>
          </a:xfrm>
          <a:prstGeom prst="rect">
            <a:avLst/>
          </a:prstGeom>
          <a:noFill/>
          <a:ln/>
        </p:spPr>
        <p:txBody>
          <a:bodyPr wrap="square" lIns="0" tIns="0" rIns="0" bIns="0" rtlCol="0" anchor="ctr"/>
          <a:lstStyle/>
          <a:p>
            <a:pPr indent="0" marL="0">
              <a:buNone/>
            </a:pPr>
            <a:r>
              <a:rPr lang="en-US" sz="2200" b="1" dirty="0">
                <a:solidFill>
                  <a:schemeClr val="accent3"/>
                </a:solidFill>
              </a:rPr>
              <a:t>B</a:t>
            </a:r>
            <a:endParaRPr lang="en-US" sz="2200" dirty="0"/>
          </a:p>
        </p:txBody>
      </p:sp>
      <p:sp>
        <p:nvSpPr>
          <p:cNvPr id="16" name="Text 11"/>
          <p:cNvSpPr txBox="1"/>
          <p:nvPr/>
        </p:nvSpPr>
        <p:spPr>
          <a:xfrm>
            <a:off x="1600200" y="1664208"/>
            <a:ext cx="2377440" cy="548640"/>
          </a:xfrm>
          <a:prstGeom prst="rect">
            <a:avLst/>
          </a:prstGeom>
          <a:noFill/>
          <a:ln/>
        </p:spPr>
        <p:txBody>
          <a:bodyPr wrap="square" lIns="0" tIns="0" rIns="0" bIns="0" rtlCol="0" anchor="ctr"/>
          <a:lstStyle/>
          <a:p>
            <a:pPr indent="0" marL="0">
              <a:buNone/>
            </a:pPr>
            <a:r>
              <a:rPr lang="en-US" sz="1400" b="1" dirty="0">
                <a:solidFill>
                  <a:schemeClr val="tx1"/>
                </a:solidFill>
              </a:rPr>
              <a:t>Reingineria proceselor</a:t>
            </a:r>
            <a:endParaRPr lang="en-US" sz="1400" dirty="0"/>
          </a:p>
        </p:txBody>
      </p:sp>
      <p:sp>
        <p:nvSpPr>
          <p:cNvPr id="17" name="Text 12"/>
          <p:cNvSpPr txBox="1"/>
          <p:nvPr/>
        </p:nvSpPr>
        <p:spPr>
          <a:xfrm>
            <a:off x="4023360" y="1664208"/>
            <a:ext cx="4572000" cy="548640"/>
          </a:xfrm>
          <a:prstGeom prst="rect">
            <a:avLst/>
          </a:prstGeom>
          <a:noFill/>
          <a:ln/>
        </p:spPr>
        <p:txBody>
          <a:bodyPr wrap="square" lIns="0" tIns="0" rIns="0" bIns="0" rtlCol="0" anchor="ctr"/>
          <a:lstStyle/>
          <a:p>
            <a:pPr indent="0" marL="0">
              <a:buNone/>
            </a:pPr>
            <a:r>
              <a:rPr lang="en-US" sz="1200" dirty="0">
                <a:solidFill>
                  <a:schemeClr val="tx2"/>
                </a:solidFill>
              </a:rPr>
              <a:t>Schimbi modul de lucru al organizației; analiză amplă; adesea cu ERP</a:t>
            </a:r>
            <a:endParaRPr lang="en-US" sz="1200" dirty="0"/>
          </a:p>
        </p:txBody>
      </p:sp>
      <p:sp>
        <p:nvSpPr>
          <p:cNvPr id="18" name="Card tip C"/>
          <p:cNvSpPr/>
          <p:nvPr/>
        </p:nvSpPr>
        <p:spPr>
          <a:xfrm>
            <a:off x="457200" y="2276856"/>
            <a:ext cx="8229600" cy="548640"/>
          </a:xfrm>
          <a:prstGeom prst="roundRect">
            <a:avLst>
              <a:gd name="adj" fmla="val 16667"/>
            </a:avLst>
          </a:prstGeom>
          <a:solidFill>
            <a:schemeClr val="bg2"/>
          </a:solidFill>
          <a:ln w="12700">
            <a:solidFill>
              <a:schemeClr val="bg2"/>
            </a:solidFill>
            <a:prstDash val="solid"/>
          </a:ln>
        </p:spPr>
      </p:sp>
      <p:sp>
        <p:nvSpPr>
          <p:cNvPr id="19" name="Icon tip C cerc"/>
          <p:cNvSpPr/>
          <p:nvPr/>
        </p:nvSpPr>
        <p:spPr>
          <a:xfrm>
            <a:off x="566928" y="2340864"/>
            <a:ext cx="420624" cy="420624"/>
          </a:xfrm>
          <a:prstGeom prst="ellipse">
            <a:avLst/>
          </a:prstGeom>
          <a:solidFill>
            <a:schemeClr val="accent2"/>
          </a:solidFill>
          <a:ln w="12700">
            <a:solidFill>
              <a:schemeClr val="accent2"/>
            </a:solidFill>
            <a:prstDash val="solid"/>
          </a:ln>
        </p:spPr>
      </p:sp>
      <p:pic>
        <p:nvPicPr>
          <p:cNvPr id="20" name="Icon tip C" descr="preencoded.png">    </p:cNvPr>
          <p:cNvPicPr>
            <a:picLocks noChangeAspect="1"/>
          </p:cNvPicPr>
          <p:nvPr/>
        </p:nvPicPr>
        <p:blipFill>
          <a:blip r:embed="rId3"/>
          <a:stretch>
            <a:fillRect/>
          </a:stretch>
        </p:blipFill>
        <p:spPr>
          <a:xfrm>
            <a:off x="676290" y="2450226"/>
            <a:ext cx="201900" cy="201900"/>
          </a:xfrm>
          <a:prstGeom prst="rect">
            <a:avLst/>
          </a:prstGeom>
        </p:spPr>
      </p:pic>
      <p:sp>
        <p:nvSpPr>
          <p:cNvPr id="21" name="Text 15"/>
          <p:cNvSpPr txBox="1"/>
          <p:nvPr/>
        </p:nvSpPr>
        <p:spPr>
          <a:xfrm>
            <a:off x="1188720" y="2276856"/>
            <a:ext cx="365760" cy="548640"/>
          </a:xfrm>
          <a:prstGeom prst="rect">
            <a:avLst/>
          </a:prstGeom>
          <a:noFill/>
          <a:ln/>
        </p:spPr>
        <p:txBody>
          <a:bodyPr wrap="square" lIns="0" tIns="0" rIns="0" bIns="0" rtlCol="0" anchor="ctr"/>
          <a:lstStyle/>
          <a:p>
            <a:pPr indent="0" marL="0">
              <a:buNone/>
            </a:pPr>
            <a:r>
              <a:rPr lang="en-US" sz="2200" b="1" dirty="0">
                <a:solidFill>
                  <a:schemeClr val="accent2"/>
                </a:solidFill>
              </a:rPr>
              <a:t>C</a:t>
            </a:r>
            <a:endParaRPr lang="en-US" sz="2200" dirty="0"/>
          </a:p>
        </p:txBody>
      </p:sp>
      <p:sp>
        <p:nvSpPr>
          <p:cNvPr id="22" name="Text 16"/>
          <p:cNvSpPr txBox="1"/>
          <p:nvPr/>
        </p:nvSpPr>
        <p:spPr>
          <a:xfrm>
            <a:off x="1600200" y="2276856"/>
            <a:ext cx="2377440" cy="548640"/>
          </a:xfrm>
          <a:prstGeom prst="rect">
            <a:avLst/>
          </a:prstGeom>
          <a:noFill/>
          <a:ln/>
        </p:spPr>
        <p:txBody>
          <a:bodyPr wrap="square" lIns="0" tIns="0" rIns="0" bIns="0" rtlCol="0" anchor="ctr"/>
          <a:lstStyle/>
          <a:p>
            <a:pPr indent="0" marL="0">
              <a:buNone/>
            </a:pPr>
            <a:r>
              <a:rPr lang="en-US" sz="1400" b="1" dirty="0">
                <a:solidFill>
                  <a:schemeClr val="tx1"/>
                </a:solidFill>
              </a:rPr>
              <a:t>Integrarea sistemelor</a:t>
            </a:r>
            <a:endParaRPr lang="en-US" sz="1400" dirty="0"/>
          </a:p>
        </p:txBody>
      </p:sp>
      <p:sp>
        <p:nvSpPr>
          <p:cNvPr id="23" name="Text 17"/>
          <p:cNvSpPr txBox="1"/>
          <p:nvPr/>
        </p:nvSpPr>
        <p:spPr>
          <a:xfrm>
            <a:off x="4023360" y="2276856"/>
            <a:ext cx="4572000" cy="548640"/>
          </a:xfrm>
          <a:prstGeom prst="rect">
            <a:avLst/>
          </a:prstGeom>
          <a:noFill/>
          <a:ln/>
        </p:spPr>
        <p:txBody>
          <a:bodyPr wrap="square" lIns="0" tIns="0" rIns="0" bIns="0" rtlCol="0" anchor="ctr"/>
          <a:lstStyle/>
          <a:p>
            <a:pPr indent="0" marL="0">
              <a:buNone/>
            </a:pPr>
            <a:r>
              <a:rPr lang="en-US" sz="1200" dirty="0">
                <a:solidFill>
                  <a:schemeClr val="tx2"/>
                </a:solidFill>
              </a:rPr>
              <a:t>Orizontală (sisteme similare) sau verticală (etape ale unei proceduri)</a:t>
            </a:r>
            <a:endParaRPr lang="en-US" sz="1200" dirty="0"/>
          </a:p>
        </p:txBody>
      </p:sp>
      <p:sp>
        <p:nvSpPr>
          <p:cNvPr id="24" name="Card tip D"/>
          <p:cNvSpPr/>
          <p:nvPr/>
        </p:nvSpPr>
        <p:spPr>
          <a:xfrm>
            <a:off x="457200" y="2889504"/>
            <a:ext cx="8229600" cy="548640"/>
          </a:xfrm>
          <a:prstGeom prst="roundRect">
            <a:avLst>
              <a:gd name="adj" fmla="val 16667"/>
            </a:avLst>
          </a:prstGeom>
          <a:solidFill>
            <a:schemeClr val="bg2"/>
          </a:solidFill>
          <a:ln w="12700">
            <a:solidFill>
              <a:schemeClr val="bg2"/>
            </a:solidFill>
            <a:prstDash val="solid"/>
          </a:ln>
        </p:spPr>
      </p:sp>
      <p:sp>
        <p:nvSpPr>
          <p:cNvPr id="25" name="Icon tip D cerc"/>
          <p:cNvSpPr/>
          <p:nvPr/>
        </p:nvSpPr>
        <p:spPr>
          <a:xfrm>
            <a:off x="566928" y="2953512"/>
            <a:ext cx="420624" cy="420624"/>
          </a:xfrm>
          <a:prstGeom prst="ellipse">
            <a:avLst/>
          </a:prstGeom>
          <a:solidFill>
            <a:schemeClr val="accent5"/>
          </a:solidFill>
          <a:ln w="12700">
            <a:solidFill>
              <a:schemeClr val="accent5"/>
            </a:solidFill>
            <a:prstDash val="solid"/>
          </a:ln>
        </p:spPr>
      </p:sp>
      <p:pic>
        <p:nvPicPr>
          <p:cNvPr id="26" name="Icon tip D" descr="preencoded.png">    </p:cNvPr>
          <p:cNvPicPr>
            <a:picLocks noChangeAspect="1"/>
          </p:cNvPicPr>
          <p:nvPr/>
        </p:nvPicPr>
        <p:blipFill>
          <a:blip r:embed="rId4"/>
          <a:stretch>
            <a:fillRect/>
          </a:stretch>
        </p:blipFill>
        <p:spPr>
          <a:xfrm>
            <a:off x="676290" y="3062874"/>
            <a:ext cx="201900" cy="201900"/>
          </a:xfrm>
          <a:prstGeom prst="rect">
            <a:avLst/>
          </a:prstGeom>
        </p:spPr>
      </p:pic>
      <p:sp>
        <p:nvSpPr>
          <p:cNvPr id="27" name="Text 20"/>
          <p:cNvSpPr txBox="1"/>
          <p:nvPr/>
        </p:nvSpPr>
        <p:spPr>
          <a:xfrm>
            <a:off x="1188720" y="2889504"/>
            <a:ext cx="365760" cy="548640"/>
          </a:xfrm>
          <a:prstGeom prst="rect">
            <a:avLst/>
          </a:prstGeom>
          <a:noFill/>
          <a:ln/>
        </p:spPr>
        <p:txBody>
          <a:bodyPr wrap="square" lIns="0" tIns="0" rIns="0" bIns="0" rtlCol="0" anchor="ctr"/>
          <a:lstStyle/>
          <a:p>
            <a:pPr indent="0" marL="0">
              <a:buNone/>
            </a:pPr>
            <a:r>
              <a:rPr lang="en-US" sz="2200" b="1" dirty="0">
                <a:solidFill>
                  <a:schemeClr val="accent5"/>
                </a:solidFill>
              </a:rPr>
              <a:t>D</a:t>
            </a:r>
            <a:endParaRPr lang="en-US" sz="2200" dirty="0"/>
          </a:p>
        </p:txBody>
      </p:sp>
      <p:sp>
        <p:nvSpPr>
          <p:cNvPr id="28" name="Text 21"/>
          <p:cNvSpPr txBox="1"/>
          <p:nvPr/>
        </p:nvSpPr>
        <p:spPr>
          <a:xfrm>
            <a:off x="1600200" y="2889504"/>
            <a:ext cx="2377440" cy="548640"/>
          </a:xfrm>
          <a:prstGeom prst="rect">
            <a:avLst/>
          </a:prstGeom>
          <a:noFill/>
          <a:ln/>
        </p:spPr>
        <p:txBody>
          <a:bodyPr wrap="square" lIns="0" tIns="0" rIns="0" bIns="0" rtlCol="0" anchor="ctr"/>
          <a:lstStyle/>
          <a:p>
            <a:pPr indent="0" marL="0">
              <a:buNone/>
            </a:pPr>
            <a:r>
              <a:rPr lang="en-US" sz="1400" b="1" dirty="0">
                <a:solidFill>
                  <a:schemeClr val="tx1"/>
                </a:solidFill>
              </a:rPr>
              <a:t>Consultanță</a:t>
            </a:r>
            <a:endParaRPr lang="en-US" sz="1400" dirty="0"/>
          </a:p>
        </p:txBody>
      </p:sp>
      <p:sp>
        <p:nvSpPr>
          <p:cNvPr id="29" name="Text 22"/>
          <p:cNvSpPr txBox="1"/>
          <p:nvPr/>
        </p:nvSpPr>
        <p:spPr>
          <a:xfrm>
            <a:off x="4023360" y="2889504"/>
            <a:ext cx="4572000" cy="548640"/>
          </a:xfrm>
          <a:prstGeom prst="rect">
            <a:avLst/>
          </a:prstGeom>
          <a:noFill/>
          <a:ln/>
        </p:spPr>
        <p:txBody>
          <a:bodyPr wrap="square" lIns="0" tIns="0" rIns="0" bIns="0" rtlCol="0" anchor="ctr"/>
          <a:lstStyle/>
          <a:p>
            <a:pPr indent="0" marL="0">
              <a:buNone/>
            </a:pPr>
            <a:r>
              <a:rPr lang="en-US" sz="1200" dirty="0">
                <a:solidFill>
                  <a:schemeClr val="tx2"/>
                </a:solidFill>
              </a:rPr>
              <a:t>Expertiză adusă din exterior echipei</a:t>
            </a:r>
            <a:endParaRPr lang="en-US" sz="1200" dirty="0"/>
          </a:p>
        </p:txBody>
      </p:sp>
      <p:sp>
        <p:nvSpPr>
          <p:cNvPr id="30" name="Card tip E"/>
          <p:cNvSpPr/>
          <p:nvPr/>
        </p:nvSpPr>
        <p:spPr>
          <a:xfrm>
            <a:off x="457200" y="3502152"/>
            <a:ext cx="8229600" cy="548640"/>
          </a:xfrm>
          <a:prstGeom prst="roundRect">
            <a:avLst>
              <a:gd name="adj" fmla="val 16667"/>
            </a:avLst>
          </a:prstGeom>
          <a:solidFill>
            <a:schemeClr val="bg2"/>
          </a:solidFill>
          <a:ln w="12700">
            <a:solidFill>
              <a:schemeClr val="bg2"/>
            </a:solidFill>
            <a:prstDash val="solid"/>
          </a:ln>
        </p:spPr>
      </p:sp>
      <p:sp>
        <p:nvSpPr>
          <p:cNvPr id="31" name="Icon tip E cerc"/>
          <p:cNvSpPr/>
          <p:nvPr/>
        </p:nvSpPr>
        <p:spPr>
          <a:xfrm>
            <a:off x="566928" y="3566160"/>
            <a:ext cx="420624" cy="420624"/>
          </a:xfrm>
          <a:prstGeom prst="ellipse">
            <a:avLst/>
          </a:prstGeom>
          <a:solidFill>
            <a:schemeClr val="accent4"/>
          </a:solidFill>
          <a:ln w="12700">
            <a:solidFill>
              <a:schemeClr val="accent4"/>
            </a:solidFill>
            <a:prstDash val="solid"/>
          </a:ln>
        </p:spPr>
      </p:sp>
      <p:pic>
        <p:nvPicPr>
          <p:cNvPr id="32" name="Icon tip E" descr="preencoded.png">    </p:cNvPr>
          <p:cNvPicPr>
            <a:picLocks noChangeAspect="1"/>
          </p:cNvPicPr>
          <p:nvPr/>
        </p:nvPicPr>
        <p:blipFill>
          <a:blip r:embed="rId5"/>
          <a:stretch>
            <a:fillRect/>
          </a:stretch>
        </p:blipFill>
        <p:spPr>
          <a:xfrm>
            <a:off x="676290" y="3675522"/>
            <a:ext cx="201900" cy="201900"/>
          </a:xfrm>
          <a:prstGeom prst="rect">
            <a:avLst/>
          </a:prstGeom>
        </p:spPr>
      </p:pic>
      <p:sp>
        <p:nvSpPr>
          <p:cNvPr id="33" name="Text 25"/>
          <p:cNvSpPr txBox="1"/>
          <p:nvPr/>
        </p:nvSpPr>
        <p:spPr>
          <a:xfrm>
            <a:off x="1188720" y="3502152"/>
            <a:ext cx="365760" cy="548640"/>
          </a:xfrm>
          <a:prstGeom prst="rect">
            <a:avLst/>
          </a:prstGeom>
          <a:noFill/>
          <a:ln/>
        </p:spPr>
        <p:txBody>
          <a:bodyPr wrap="square" lIns="0" tIns="0" rIns="0" bIns="0" rtlCol="0" anchor="ctr"/>
          <a:lstStyle/>
          <a:p>
            <a:pPr indent="0" marL="0">
              <a:buNone/>
            </a:pPr>
            <a:r>
              <a:rPr lang="en-US" sz="2200" b="1" dirty="0">
                <a:solidFill>
                  <a:schemeClr val="accent4"/>
                </a:solidFill>
              </a:rPr>
              <a:t>E</a:t>
            </a:r>
            <a:endParaRPr lang="en-US" sz="2200" dirty="0"/>
          </a:p>
        </p:txBody>
      </p:sp>
      <p:sp>
        <p:nvSpPr>
          <p:cNvPr id="34" name="Text 26"/>
          <p:cNvSpPr txBox="1"/>
          <p:nvPr/>
        </p:nvSpPr>
        <p:spPr>
          <a:xfrm>
            <a:off x="1600200" y="3502152"/>
            <a:ext cx="2377440" cy="548640"/>
          </a:xfrm>
          <a:prstGeom prst="rect">
            <a:avLst/>
          </a:prstGeom>
          <a:noFill/>
          <a:ln/>
        </p:spPr>
        <p:txBody>
          <a:bodyPr wrap="square" lIns="0" tIns="0" rIns="0" bIns="0" rtlCol="0" anchor="ctr"/>
          <a:lstStyle/>
          <a:p>
            <a:pPr indent="0" marL="0">
              <a:buNone/>
            </a:pPr>
            <a:r>
              <a:rPr lang="en-US" sz="1400" b="1" dirty="0">
                <a:solidFill>
                  <a:schemeClr val="tx1"/>
                </a:solidFill>
              </a:rPr>
              <a:t>Instalare și training</a:t>
            </a:r>
            <a:endParaRPr lang="en-US" sz="1400" dirty="0"/>
          </a:p>
        </p:txBody>
      </p:sp>
      <p:sp>
        <p:nvSpPr>
          <p:cNvPr id="35" name="Text 27"/>
          <p:cNvSpPr txBox="1"/>
          <p:nvPr/>
        </p:nvSpPr>
        <p:spPr>
          <a:xfrm>
            <a:off x="4023360" y="3502152"/>
            <a:ext cx="4572000" cy="548640"/>
          </a:xfrm>
          <a:prstGeom prst="rect">
            <a:avLst/>
          </a:prstGeom>
          <a:noFill/>
          <a:ln/>
        </p:spPr>
        <p:txBody>
          <a:bodyPr wrap="square" lIns="0" tIns="0" rIns="0" bIns="0" rtlCol="0" anchor="ctr"/>
          <a:lstStyle/>
          <a:p>
            <a:pPr indent="0" marL="0">
              <a:buNone/>
            </a:pPr>
            <a:r>
              <a:rPr lang="en-US" sz="1200" dirty="0">
                <a:solidFill>
                  <a:schemeClr val="tx2"/>
                </a:solidFill>
              </a:rPr>
              <a:t>Sursă de venit și în open source</a:t>
            </a:r>
            <a:endParaRPr lang="en-US" sz="1200" dirty="0"/>
          </a:p>
        </p:txBody>
      </p:sp>
      <p:sp>
        <p:nvSpPr>
          <p:cNvPr id="36" name="Bara intrebare"/>
          <p:cNvSpPr/>
          <p:nvPr/>
        </p:nvSpPr>
        <p:spPr>
          <a:xfrm>
            <a:off x="457200" y="4206240"/>
            <a:ext cx="8229600" cy="502920"/>
          </a:xfrm>
          <a:prstGeom prst="roundRect">
            <a:avLst>
              <a:gd name="adj" fmla="val 18182"/>
            </a:avLst>
          </a:prstGeom>
          <a:solidFill>
            <a:schemeClr val="tx1"/>
          </a:solidFill>
          <a:ln w="12700">
            <a:solidFill>
              <a:schemeClr val="tx1"/>
            </a:solidFill>
            <a:prstDash val="solid"/>
          </a:ln>
        </p:spPr>
      </p:sp>
      <p:sp>
        <p:nvSpPr>
          <p:cNvPr id="37" name="Eticheta intrebare"/>
          <p:cNvSpPr txBox="1"/>
          <p:nvPr/>
        </p:nvSpPr>
        <p:spPr>
          <a:xfrm>
            <a:off x="640080" y="4206240"/>
            <a:ext cx="1234440" cy="502920"/>
          </a:xfrm>
          <a:prstGeom prst="rect">
            <a:avLst/>
          </a:prstGeom>
          <a:noFill/>
          <a:ln/>
        </p:spPr>
        <p:txBody>
          <a:bodyPr wrap="square" lIns="0" tIns="0" rIns="0" bIns="0" rtlCol="0" anchor="ctr"/>
          <a:lstStyle/>
          <a:p>
            <a:pPr indent="0" marL="0">
              <a:buNone/>
            </a:pPr>
            <a:r>
              <a:rPr lang="en-US" sz="1100" b="1" dirty="0">
                <a:solidFill>
                  <a:schemeClr val="accent1"/>
                </a:solidFill>
              </a:rPr>
              <a:t>ÎNTREBARE</a:t>
            </a:r>
            <a:endParaRPr lang="en-US" sz="1100" dirty="0"/>
          </a:p>
        </p:txBody>
      </p:sp>
      <p:sp>
        <p:nvSpPr>
          <p:cNvPr id="38" name="Text intrebare"/>
          <p:cNvSpPr txBox="1"/>
          <p:nvPr/>
        </p:nvSpPr>
        <p:spPr>
          <a:xfrm>
            <a:off x="1920240" y="4206240"/>
            <a:ext cx="6583680" cy="502920"/>
          </a:xfrm>
          <a:prstGeom prst="rect">
            <a:avLst/>
          </a:prstGeom>
          <a:noFill/>
          <a:ln/>
        </p:spPr>
        <p:txBody>
          <a:bodyPr wrap="square" lIns="0" tIns="0" rIns="0" bIns="0" rtlCol="0" anchor="ctr"/>
          <a:lstStyle/>
          <a:p>
            <a:pPr indent="0" marL="0">
              <a:buNone/>
            </a:pPr>
            <a:r>
              <a:rPr lang="en-US" sz="1300" dirty="0">
                <a:solidFill>
                  <a:schemeClr val="bg1"/>
                </a:solidFill>
              </a:rPr>
              <a:t>La ce categorie intră un proiect personal pe care îl aveți (sau l-ați avut)?</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200" b="1" dirty="0">
                <a:solidFill>
                  <a:schemeClr val="tx1"/>
                </a:solidFill>
              </a:rPr>
              <a:t>Cele 7 faze ale oricărui proiect</a:t>
            </a:r>
            <a:endParaRPr lang="en-US" sz="2200" dirty="0"/>
          </a:p>
        </p:txBody>
      </p:sp>
      <p:sp>
        <p:nvSpPr>
          <p:cNvPr id="3" name="Chip prezentator"/>
          <p:cNvSpPr/>
          <p:nvPr/>
        </p:nvSpPr>
        <p:spPr>
          <a:xfrm>
            <a:off x="7589520" y="384048"/>
            <a:ext cx="1097280" cy="292608"/>
          </a:xfrm>
          <a:prstGeom prst="roundRect">
            <a:avLst>
              <a:gd name="adj" fmla="val 50000"/>
            </a:avLst>
          </a:prstGeom>
          <a:solidFill>
            <a:schemeClr val="accent2"/>
          </a:solidFill>
          <a:ln w="12700">
            <a:solidFill>
              <a:schemeClr val="accent2"/>
            </a:solidFill>
            <a:prstDash val="solid"/>
          </a:ln>
        </p:spPr>
      </p:sp>
      <p:sp>
        <p:nvSpPr>
          <p:cNvPr id="4" name="Text prezentator"/>
          <p:cNvSpPr txBox="1"/>
          <p:nvPr/>
        </p:nvSpPr>
        <p:spPr>
          <a:xfrm>
            <a:off x="7589520" y="384048"/>
            <a:ext cx="1097280" cy="292608"/>
          </a:xfrm>
          <a:prstGeom prst="rect">
            <a:avLst/>
          </a:prstGeom>
          <a:noFill/>
          <a:ln/>
        </p:spPr>
        <p:txBody>
          <a:bodyPr wrap="square" lIns="0" tIns="0" rIns="0" bIns="0" rtlCol="0" anchor="ctr"/>
          <a:lstStyle/>
          <a:p>
            <a:pPr algn="ctr" indent="0" marL="0">
              <a:buNone/>
            </a:pPr>
            <a:r>
              <a:rPr lang="en-US" sz="1100" b="1" dirty="0">
                <a:solidFill>
                  <a:schemeClr val="bg1"/>
                </a:solidFill>
              </a:rPr>
              <a:t>B  ·  1'</a:t>
            </a:r>
            <a:endParaRPr lang="en-US" sz="1100" dirty="0"/>
          </a:p>
        </p:txBody>
      </p:sp>
      <p:graphicFrame>
        <p:nvGraphicFramePr>
          <p:cNvPr id="6" name="Chart 0" descr=""/>
          <p:cNvGraphicFramePr/>
          <p:nvPr/>
        </p:nvGraphicFramePr>
        <p:xfrm>
          <a:off x="457200" y="1097280"/>
          <a:ext cx="8229600" cy="34747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200" b="1" dirty="0">
                <a:solidFill>
                  <a:schemeClr val="tx1"/>
                </a:solidFill>
              </a:rPr>
              <a:t>Stakeholderii: cine câștigă sau pierde?</a:t>
            </a:r>
            <a:endParaRPr lang="en-US" sz="2200" dirty="0"/>
          </a:p>
        </p:txBody>
      </p:sp>
      <p:sp>
        <p:nvSpPr>
          <p:cNvPr id="3" name="Chip prezentator"/>
          <p:cNvSpPr/>
          <p:nvPr/>
        </p:nvSpPr>
        <p:spPr>
          <a:xfrm>
            <a:off x="7589520" y="384048"/>
            <a:ext cx="1097280" cy="292608"/>
          </a:xfrm>
          <a:prstGeom prst="roundRect">
            <a:avLst>
              <a:gd name="adj" fmla="val 50000"/>
            </a:avLst>
          </a:prstGeom>
          <a:solidFill>
            <a:schemeClr val="accent2"/>
          </a:solidFill>
          <a:ln w="12700">
            <a:solidFill>
              <a:schemeClr val="accent2"/>
            </a:solidFill>
            <a:prstDash val="solid"/>
          </a:ln>
        </p:spPr>
      </p:sp>
      <p:sp>
        <p:nvSpPr>
          <p:cNvPr id="4" name="Text prezentator"/>
          <p:cNvSpPr txBox="1"/>
          <p:nvPr/>
        </p:nvSpPr>
        <p:spPr>
          <a:xfrm>
            <a:off x="7589520" y="384048"/>
            <a:ext cx="1097280" cy="292608"/>
          </a:xfrm>
          <a:prstGeom prst="rect">
            <a:avLst/>
          </a:prstGeom>
          <a:noFill/>
          <a:ln/>
        </p:spPr>
        <p:txBody>
          <a:bodyPr wrap="square" lIns="0" tIns="0" rIns="0" bIns="0" rtlCol="0" anchor="ctr"/>
          <a:lstStyle/>
          <a:p>
            <a:pPr algn="ctr" indent="0" marL="0">
              <a:buNone/>
            </a:pPr>
            <a:r>
              <a:rPr lang="en-US" sz="1100" b="1" dirty="0">
                <a:solidFill>
                  <a:schemeClr val="bg1"/>
                </a:solidFill>
              </a:rPr>
              <a:t>B  ·  2'</a:t>
            </a:r>
            <a:endParaRPr lang="en-US" sz="1100" dirty="0"/>
          </a:p>
        </p:txBody>
      </p:sp>
      <p:sp>
        <p:nvSpPr>
          <p:cNvPr id="6" name="Inel EXTERNI"/>
          <p:cNvSpPr/>
          <p:nvPr/>
        </p:nvSpPr>
        <p:spPr>
          <a:xfrm>
            <a:off x="822960" y="1280160"/>
            <a:ext cx="3383280" cy="3383280"/>
          </a:xfrm>
          <a:prstGeom prst="ellipse">
            <a:avLst/>
          </a:prstGeom>
          <a:solidFill>
            <a:schemeClr val="bg2"/>
          </a:solidFill>
          <a:ln w="25400">
            <a:solidFill>
              <a:schemeClr val="bg1"/>
            </a:solidFill>
            <a:prstDash val="solid"/>
          </a:ln>
        </p:spPr>
      </p:sp>
      <p:sp>
        <p:nvSpPr>
          <p:cNvPr id="7" name="Inel DE MIJLOC"/>
          <p:cNvSpPr/>
          <p:nvPr/>
        </p:nvSpPr>
        <p:spPr>
          <a:xfrm>
            <a:off x="1325880" y="1783080"/>
            <a:ext cx="2377440" cy="2377440"/>
          </a:xfrm>
          <a:prstGeom prst="ellipse">
            <a:avLst/>
          </a:prstGeom>
          <a:solidFill>
            <a:schemeClr val="accent6"/>
          </a:solidFill>
          <a:ln w="25400">
            <a:solidFill>
              <a:schemeClr val="bg1"/>
            </a:solidFill>
            <a:prstDash val="solid"/>
          </a:ln>
        </p:spPr>
      </p:sp>
      <p:sp>
        <p:nvSpPr>
          <p:cNvPr id="8" name="Inel INTERNI"/>
          <p:cNvSpPr/>
          <p:nvPr/>
        </p:nvSpPr>
        <p:spPr>
          <a:xfrm>
            <a:off x="1828800" y="2286000"/>
            <a:ext cx="1371600" cy="1371600"/>
          </a:xfrm>
          <a:prstGeom prst="ellipse">
            <a:avLst/>
          </a:prstGeom>
          <a:solidFill>
            <a:schemeClr val="accent4"/>
          </a:solidFill>
          <a:ln w="25400">
            <a:solidFill>
              <a:schemeClr val="bg1"/>
            </a:solidFill>
            <a:prstDash val="solid"/>
          </a:ln>
        </p:spPr>
      </p:sp>
      <p:sp>
        <p:nvSpPr>
          <p:cNvPr id="9" name="Text 6"/>
          <p:cNvSpPr txBox="1"/>
          <p:nvPr/>
        </p:nvSpPr>
        <p:spPr>
          <a:xfrm>
            <a:off x="1691640" y="1417320"/>
            <a:ext cx="1645920" cy="274320"/>
          </a:xfrm>
          <a:prstGeom prst="rect">
            <a:avLst/>
          </a:prstGeom>
          <a:noFill/>
          <a:ln/>
        </p:spPr>
        <p:txBody>
          <a:bodyPr wrap="square" lIns="0" tIns="0" rIns="0" bIns="0" rtlCol="0" anchor="t"/>
          <a:lstStyle/>
          <a:p>
            <a:pPr algn="ctr" indent="0" marL="0">
              <a:buNone/>
            </a:pPr>
            <a:r>
              <a:rPr lang="en-US" sz="1100" b="1" dirty="0">
                <a:solidFill>
                  <a:schemeClr val="tx2"/>
                </a:solidFill>
              </a:rPr>
              <a:t>EXTERNI</a:t>
            </a:r>
            <a:endParaRPr lang="en-US" sz="1100" dirty="0"/>
          </a:p>
        </p:txBody>
      </p:sp>
      <p:sp>
        <p:nvSpPr>
          <p:cNvPr id="10" name="Text 7"/>
          <p:cNvSpPr txBox="1"/>
          <p:nvPr/>
        </p:nvSpPr>
        <p:spPr>
          <a:xfrm>
            <a:off x="1691640" y="1920240"/>
            <a:ext cx="1645920" cy="274320"/>
          </a:xfrm>
          <a:prstGeom prst="rect">
            <a:avLst/>
          </a:prstGeom>
          <a:noFill/>
          <a:ln/>
        </p:spPr>
        <p:txBody>
          <a:bodyPr wrap="square" lIns="0" tIns="0" rIns="0" bIns="0" rtlCol="0" anchor="t"/>
          <a:lstStyle/>
          <a:p>
            <a:pPr algn="ctr" indent="0" marL="0">
              <a:buNone/>
            </a:pPr>
            <a:r>
              <a:rPr lang="en-US" sz="1100" b="1" dirty="0">
                <a:solidFill>
                  <a:schemeClr val="tx1"/>
                </a:solidFill>
              </a:rPr>
              <a:t>DE MIJLOC</a:t>
            </a:r>
            <a:endParaRPr lang="en-US" sz="1100" dirty="0"/>
          </a:p>
        </p:txBody>
      </p:sp>
      <p:sp>
        <p:nvSpPr>
          <p:cNvPr id="11" name="Text 8"/>
          <p:cNvSpPr txBox="1"/>
          <p:nvPr/>
        </p:nvSpPr>
        <p:spPr>
          <a:xfrm>
            <a:off x="1691640" y="2697480"/>
            <a:ext cx="1645920" cy="274320"/>
          </a:xfrm>
          <a:prstGeom prst="rect">
            <a:avLst/>
          </a:prstGeom>
          <a:noFill/>
          <a:ln/>
        </p:spPr>
        <p:txBody>
          <a:bodyPr wrap="square" lIns="0" tIns="0" rIns="0" bIns="0" rtlCol="0" anchor="t"/>
          <a:lstStyle/>
          <a:p>
            <a:pPr algn="ctr" indent="0" marL="0">
              <a:buNone/>
            </a:pPr>
            <a:r>
              <a:rPr lang="en-US" sz="1100" b="1" dirty="0">
                <a:solidFill>
                  <a:schemeClr val="bg1"/>
                </a:solidFill>
              </a:rPr>
              <a:t>INTERNI</a:t>
            </a:r>
            <a:endParaRPr lang="en-US" sz="1100" dirty="0"/>
          </a:p>
        </p:txBody>
      </p:sp>
      <p:sp>
        <p:nvSpPr>
          <p:cNvPr id="12" name="Text 9"/>
          <p:cNvSpPr txBox="1"/>
          <p:nvPr/>
        </p:nvSpPr>
        <p:spPr>
          <a:xfrm>
            <a:off x="1965960" y="2926080"/>
            <a:ext cx="1097280" cy="502920"/>
          </a:xfrm>
          <a:prstGeom prst="rect">
            <a:avLst/>
          </a:prstGeom>
          <a:noFill/>
          <a:ln/>
        </p:spPr>
        <p:txBody>
          <a:bodyPr wrap="square" lIns="0" tIns="0" rIns="0" bIns="0" rtlCol="0" anchor="t"/>
          <a:lstStyle/>
          <a:p>
            <a:pPr algn="ctr" indent="0" marL="0">
              <a:buNone/>
            </a:pPr>
            <a:r>
              <a:rPr lang="en-US" sz="950" dirty="0">
                <a:solidFill>
                  <a:schemeClr val="bg1"/>
                </a:solidFill>
              </a:rPr>
              <a:t>Echipă +</a:t>
            </a:r>
            <a:endParaRPr lang="en-US" sz="950" dirty="0"/>
          </a:p>
          <a:p>
            <a:pPr algn="ctr" indent="0" marL="0">
              <a:buNone/>
            </a:pPr>
            <a:r>
              <a:rPr lang="en-US" sz="950" dirty="0">
                <a:solidFill>
                  <a:schemeClr val="bg1"/>
                </a:solidFill>
              </a:rPr>
              <a:t>management</a:t>
            </a:r>
            <a:endParaRPr lang="en-US" sz="950" dirty="0"/>
          </a:p>
        </p:txBody>
      </p:sp>
      <p:sp>
        <p:nvSpPr>
          <p:cNvPr id="13" name="Marcaj Interni"/>
          <p:cNvSpPr/>
          <p:nvPr/>
        </p:nvSpPr>
        <p:spPr>
          <a:xfrm>
            <a:off x="4754880" y="1261872"/>
            <a:ext cx="274320" cy="274320"/>
          </a:xfrm>
          <a:prstGeom prst="ellipse">
            <a:avLst/>
          </a:prstGeom>
          <a:solidFill>
            <a:schemeClr val="accent4"/>
          </a:solidFill>
          <a:ln w="12700">
            <a:solidFill>
              <a:schemeClr val="accent4"/>
            </a:solidFill>
            <a:prstDash val="solid"/>
          </a:ln>
        </p:spPr>
      </p:sp>
      <p:sp>
        <p:nvSpPr>
          <p:cNvPr id="14" name="Text 11"/>
          <p:cNvSpPr txBox="1"/>
          <p:nvPr/>
        </p:nvSpPr>
        <p:spPr>
          <a:xfrm>
            <a:off x="5166360" y="1188720"/>
            <a:ext cx="3520440" cy="685800"/>
          </a:xfrm>
          <a:prstGeom prst="rect">
            <a:avLst/>
          </a:prstGeom>
          <a:noFill/>
          <a:ln/>
        </p:spPr>
        <p:txBody>
          <a:bodyPr wrap="square" lIns="0" tIns="0" rIns="0" bIns="0" rtlCol="0" anchor="t"/>
          <a:lstStyle/>
          <a:p>
            <a:pPr indent="0" marL="0">
              <a:buNone/>
            </a:pPr>
            <a:r>
              <a:rPr lang="en-US" sz="1400" b="1" dirty="0">
                <a:solidFill>
                  <a:schemeClr val="tx1"/>
                </a:solidFill>
              </a:rPr>
              <a:t>Interni</a:t>
            </a:r>
            <a:endParaRPr lang="en-US" sz="1400" dirty="0"/>
          </a:p>
          <a:p>
            <a:pPr indent="0" marL="0">
              <a:buNone/>
            </a:pPr>
            <a:r>
              <a:rPr lang="en-US" sz="1100" dirty="0">
                <a:solidFill>
                  <a:schemeClr val="tx2"/>
                </a:solidFill>
              </a:rPr>
              <a:t>Echipa de proiect și echipa de management al proiectului</a:t>
            </a:r>
            <a:endParaRPr lang="en-US" sz="1400" dirty="0"/>
          </a:p>
        </p:txBody>
      </p:sp>
      <p:sp>
        <p:nvSpPr>
          <p:cNvPr id="15" name="Marcaj De mijloc"/>
          <p:cNvSpPr/>
          <p:nvPr/>
        </p:nvSpPr>
        <p:spPr>
          <a:xfrm>
            <a:off x="4754880" y="2039112"/>
            <a:ext cx="274320" cy="274320"/>
          </a:xfrm>
          <a:prstGeom prst="ellipse">
            <a:avLst/>
          </a:prstGeom>
          <a:solidFill>
            <a:schemeClr val="accent6"/>
          </a:solidFill>
          <a:ln w="12700">
            <a:solidFill>
              <a:schemeClr val="accent6"/>
            </a:solidFill>
            <a:prstDash val="solid"/>
          </a:ln>
        </p:spPr>
      </p:sp>
      <p:sp>
        <p:nvSpPr>
          <p:cNvPr id="16" name="Text 13"/>
          <p:cNvSpPr txBox="1"/>
          <p:nvPr/>
        </p:nvSpPr>
        <p:spPr>
          <a:xfrm>
            <a:off x="5166360" y="1965960"/>
            <a:ext cx="3520440" cy="685800"/>
          </a:xfrm>
          <a:prstGeom prst="rect">
            <a:avLst/>
          </a:prstGeom>
          <a:noFill/>
          <a:ln/>
        </p:spPr>
        <p:txBody>
          <a:bodyPr wrap="square" lIns="0" tIns="0" rIns="0" bIns="0" rtlCol="0" anchor="t"/>
          <a:lstStyle/>
          <a:p>
            <a:pPr indent="0" marL="0">
              <a:buNone/>
            </a:pPr>
            <a:r>
              <a:rPr lang="en-US" sz="1400" b="1" dirty="0">
                <a:solidFill>
                  <a:schemeClr val="tx1"/>
                </a:solidFill>
              </a:rPr>
              <a:t>De mijloc</a:t>
            </a:r>
            <a:endParaRPr lang="en-US" sz="1400" dirty="0"/>
          </a:p>
          <a:p>
            <a:pPr indent="0" marL="0">
              <a:buNone/>
            </a:pPr>
            <a:r>
              <a:rPr lang="en-US" sz="1100" dirty="0">
                <a:solidFill>
                  <a:schemeClr val="tx2"/>
                </a:solidFill>
              </a:rPr>
              <a:t>Client/utilizator, sponsor (finanțare), organizația participantă</a:t>
            </a:r>
            <a:endParaRPr lang="en-US" sz="1400" dirty="0"/>
          </a:p>
        </p:txBody>
      </p:sp>
      <p:sp>
        <p:nvSpPr>
          <p:cNvPr id="17" name="Marcaj Externi"/>
          <p:cNvSpPr/>
          <p:nvPr/>
        </p:nvSpPr>
        <p:spPr>
          <a:xfrm>
            <a:off x="4754880" y="2816352"/>
            <a:ext cx="274320" cy="274320"/>
          </a:xfrm>
          <a:prstGeom prst="ellipse">
            <a:avLst/>
          </a:prstGeom>
          <a:solidFill>
            <a:schemeClr val="accent3"/>
          </a:solidFill>
          <a:ln w="12700">
            <a:solidFill>
              <a:schemeClr val="accent3"/>
            </a:solidFill>
            <a:prstDash val="solid"/>
          </a:ln>
        </p:spPr>
      </p:sp>
      <p:sp>
        <p:nvSpPr>
          <p:cNvPr id="18" name="Text 15"/>
          <p:cNvSpPr txBox="1"/>
          <p:nvPr/>
        </p:nvSpPr>
        <p:spPr>
          <a:xfrm>
            <a:off x="5166360" y="2743200"/>
            <a:ext cx="3520440" cy="685800"/>
          </a:xfrm>
          <a:prstGeom prst="rect">
            <a:avLst/>
          </a:prstGeom>
          <a:noFill/>
          <a:ln/>
        </p:spPr>
        <p:txBody>
          <a:bodyPr wrap="square" lIns="0" tIns="0" rIns="0" bIns="0" rtlCol="0" anchor="t"/>
          <a:lstStyle/>
          <a:p>
            <a:pPr indent="0" marL="0">
              <a:buNone/>
            </a:pPr>
            <a:r>
              <a:rPr lang="en-US" sz="1400" b="1" dirty="0">
                <a:solidFill>
                  <a:schemeClr val="tx1"/>
                </a:solidFill>
              </a:rPr>
              <a:t>Externi</a:t>
            </a:r>
            <a:endParaRPr lang="en-US" sz="1400" dirty="0"/>
          </a:p>
          <a:p>
            <a:pPr indent="0" marL="0">
              <a:buNone/>
            </a:pPr>
            <a:r>
              <a:rPr lang="en-US" sz="1100" dirty="0">
                <a:solidFill>
                  <a:schemeClr val="tx2"/>
                </a:solidFill>
              </a:rPr>
              <a:t>Influenceri: nu sunt în proiect, dar îi pot schimba cursul</a:t>
            </a:r>
            <a:endParaRPr lang="en-US" sz="1400" dirty="0"/>
          </a:p>
        </p:txBody>
      </p:sp>
      <p:sp>
        <p:nvSpPr>
          <p:cNvPr id="19" name="Card definitie stakeholder"/>
          <p:cNvSpPr/>
          <p:nvPr/>
        </p:nvSpPr>
        <p:spPr>
          <a:xfrm>
            <a:off x="4754880" y="3611880"/>
            <a:ext cx="3931920" cy="1005840"/>
          </a:xfrm>
          <a:prstGeom prst="roundRect">
            <a:avLst>
              <a:gd name="adj" fmla="val 9091"/>
            </a:avLst>
          </a:prstGeom>
          <a:solidFill>
            <a:schemeClr val="tx1"/>
          </a:solidFill>
          <a:ln w="12700">
            <a:solidFill>
              <a:schemeClr val="tx1"/>
            </a:solidFill>
            <a:prstDash val="solid"/>
          </a:ln>
        </p:spPr>
      </p:sp>
      <p:sp>
        <p:nvSpPr>
          <p:cNvPr id="20" name="Text 17"/>
          <p:cNvSpPr txBox="1"/>
          <p:nvPr/>
        </p:nvSpPr>
        <p:spPr>
          <a:xfrm>
            <a:off x="4937760" y="3611880"/>
            <a:ext cx="3566160" cy="1005840"/>
          </a:xfrm>
          <a:prstGeom prst="rect">
            <a:avLst/>
          </a:prstGeom>
          <a:noFill/>
          <a:ln/>
        </p:spPr>
        <p:txBody>
          <a:bodyPr wrap="square" lIns="0" tIns="0" rIns="0" bIns="0" rtlCol="0" anchor="ctr"/>
          <a:lstStyle/>
          <a:p>
            <a:pPr indent="0" marL="0">
              <a:buNone/>
            </a:pPr>
            <a:r>
              <a:rPr lang="en-US" sz="1200" b="1" dirty="0">
                <a:solidFill>
                  <a:schemeClr val="accent1"/>
                </a:solidFill>
              </a:rPr>
              <a:t>PMBOK: </a:t>
            </a:r>
            <a:pPr indent="0" marL="0">
              <a:buNone/>
            </a:pPr>
            <a:r>
              <a:rPr lang="en-US" sz="1200" dirty="0">
                <a:solidFill>
                  <a:schemeClr val="bg1"/>
                </a:solidFill>
              </a:rPr>
              <a:t>oricine este implicat activ sau al cărui interes poate fi afectat, pozitiv sau negativ, de proiect.</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200" b="1" dirty="0">
                <a:solidFill>
                  <a:schemeClr val="tx1"/>
                </a:solidFill>
              </a:rPr>
              <a:t>Exercițiu: identificați stakeholderii</a:t>
            </a:r>
            <a:endParaRPr lang="en-US" sz="2200" dirty="0"/>
          </a:p>
        </p:txBody>
      </p:sp>
      <p:sp>
        <p:nvSpPr>
          <p:cNvPr id="3" name="Chip prezentator"/>
          <p:cNvSpPr/>
          <p:nvPr/>
        </p:nvSpPr>
        <p:spPr>
          <a:xfrm>
            <a:off x="7589520" y="384048"/>
            <a:ext cx="1097280" cy="292608"/>
          </a:xfrm>
          <a:prstGeom prst="roundRect">
            <a:avLst>
              <a:gd name="adj" fmla="val 50000"/>
            </a:avLst>
          </a:prstGeom>
          <a:solidFill>
            <a:schemeClr val="accent2"/>
          </a:solidFill>
          <a:ln w="12700">
            <a:solidFill>
              <a:schemeClr val="accent2"/>
            </a:solidFill>
            <a:prstDash val="solid"/>
          </a:ln>
        </p:spPr>
      </p:sp>
      <p:sp>
        <p:nvSpPr>
          <p:cNvPr id="4" name="Text prezentator"/>
          <p:cNvSpPr txBox="1"/>
          <p:nvPr/>
        </p:nvSpPr>
        <p:spPr>
          <a:xfrm>
            <a:off x="7589520" y="384048"/>
            <a:ext cx="1097280" cy="292608"/>
          </a:xfrm>
          <a:prstGeom prst="rect">
            <a:avLst/>
          </a:prstGeom>
          <a:noFill/>
          <a:ln/>
        </p:spPr>
        <p:txBody>
          <a:bodyPr wrap="square" lIns="0" tIns="0" rIns="0" bIns="0" rtlCol="0" anchor="ctr"/>
          <a:lstStyle/>
          <a:p>
            <a:pPr algn="ctr" indent="0" marL="0">
              <a:buNone/>
            </a:pPr>
            <a:r>
              <a:rPr lang="en-US" sz="1100" b="1" dirty="0">
                <a:solidFill>
                  <a:schemeClr val="bg1"/>
                </a:solidFill>
              </a:rPr>
              <a:t>B  ·  2'</a:t>
            </a:r>
            <a:endParaRPr lang="en-US" sz="1100" dirty="0"/>
          </a:p>
        </p:txBody>
      </p:sp>
      <p:sp>
        <p:nvSpPr>
          <p:cNvPr id="6" name="Card proiect exercitiu 1"/>
          <p:cNvSpPr/>
          <p:nvPr/>
        </p:nvSpPr>
        <p:spPr>
          <a:xfrm>
            <a:off x="457200" y="1143000"/>
            <a:ext cx="2651760" cy="1234440"/>
          </a:xfrm>
          <a:prstGeom prst="roundRect">
            <a:avLst>
              <a:gd name="adj" fmla="val 7407"/>
            </a:avLst>
          </a:prstGeom>
          <a:solidFill>
            <a:schemeClr val="bg2"/>
          </a:solidFill>
          <a:ln w="12700">
            <a:solidFill>
              <a:schemeClr val="bg2"/>
            </a:solidFill>
            <a:prstDash val="solid"/>
          </a:ln>
        </p:spPr>
      </p:sp>
      <p:sp>
        <p:nvSpPr>
          <p:cNvPr id="7" name="Icon proiect exercitiu 1 cerc"/>
          <p:cNvSpPr/>
          <p:nvPr/>
        </p:nvSpPr>
        <p:spPr>
          <a:xfrm>
            <a:off x="594360" y="1280160"/>
            <a:ext cx="502920" cy="502920"/>
          </a:xfrm>
          <a:prstGeom prst="ellipse">
            <a:avLst/>
          </a:prstGeom>
          <a:solidFill>
            <a:schemeClr val="accent4"/>
          </a:solidFill>
          <a:ln w="12700">
            <a:solidFill>
              <a:schemeClr val="accent4"/>
            </a:solidFill>
            <a:prstDash val="solid"/>
          </a:ln>
        </p:spPr>
      </p:sp>
      <p:pic>
        <p:nvPicPr>
          <p:cNvPr id="8" name="Icon proiect exercitiu 1" descr="preencoded.png">    </p:cNvPr>
          <p:cNvPicPr>
            <a:picLocks noChangeAspect="1"/>
          </p:cNvPicPr>
          <p:nvPr/>
        </p:nvPicPr>
        <p:blipFill>
          <a:blip r:embed="rId1"/>
          <a:stretch>
            <a:fillRect/>
          </a:stretch>
        </p:blipFill>
        <p:spPr>
          <a:xfrm>
            <a:off x="725119" y="1410919"/>
            <a:ext cx="241402" cy="241402"/>
          </a:xfrm>
          <a:prstGeom prst="rect">
            <a:avLst/>
          </a:prstGeom>
        </p:spPr>
      </p:pic>
      <p:sp>
        <p:nvSpPr>
          <p:cNvPr id="9" name="Text 5"/>
          <p:cNvSpPr txBox="1"/>
          <p:nvPr/>
        </p:nvSpPr>
        <p:spPr>
          <a:xfrm>
            <a:off x="2514600" y="1234440"/>
            <a:ext cx="457200" cy="457200"/>
          </a:xfrm>
          <a:prstGeom prst="rect">
            <a:avLst/>
          </a:prstGeom>
          <a:noFill/>
          <a:ln/>
        </p:spPr>
        <p:txBody>
          <a:bodyPr wrap="square" lIns="0" tIns="0" rIns="0" bIns="0" rtlCol="0" anchor="t"/>
          <a:lstStyle/>
          <a:p>
            <a:pPr algn="r" indent="0" marL="0">
              <a:buNone/>
            </a:pPr>
            <a:r>
              <a:rPr lang="en-US" sz="2600" b="1" dirty="0">
                <a:solidFill>
                  <a:schemeClr val="accent6"/>
                </a:solidFill>
              </a:rPr>
              <a:t>1</a:t>
            </a:r>
            <a:endParaRPr lang="en-US" sz="2600" dirty="0"/>
          </a:p>
        </p:txBody>
      </p:sp>
      <p:sp>
        <p:nvSpPr>
          <p:cNvPr id="10" name="Text 6"/>
          <p:cNvSpPr txBox="1"/>
          <p:nvPr/>
        </p:nvSpPr>
        <p:spPr>
          <a:xfrm>
            <a:off x="594360" y="1874520"/>
            <a:ext cx="2423160" cy="457200"/>
          </a:xfrm>
          <a:prstGeom prst="rect">
            <a:avLst/>
          </a:prstGeom>
          <a:noFill/>
          <a:ln/>
        </p:spPr>
        <p:txBody>
          <a:bodyPr wrap="square" lIns="0" tIns="0" rIns="0" bIns="0" rtlCol="0" anchor="t"/>
          <a:lstStyle/>
          <a:p>
            <a:pPr indent="0" marL="0">
              <a:buNone/>
            </a:pPr>
            <a:r>
              <a:rPr lang="en-US" sz="1200" b="1" dirty="0">
                <a:solidFill>
                  <a:schemeClr val="tx1"/>
                </a:solidFill>
              </a:rPr>
              <a:t>Un pod către o insulă</a:t>
            </a:r>
            <a:endParaRPr lang="en-US" sz="1200" dirty="0"/>
          </a:p>
        </p:txBody>
      </p:sp>
      <p:sp>
        <p:nvSpPr>
          <p:cNvPr id="11" name="Card proiect exercitiu 2"/>
          <p:cNvSpPr/>
          <p:nvPr/>
        </p:nvSpPr>
        <p:spPr>
          <a:xfrm>
            <a:off x="3246120" y="1143000"/>
            <a:ext cx="2651760" cy="1234440"/>
          </a:xfrm>
          <a:prstGeom prst="roundRect">
            <a:avLst>
              <a:gd name="adj" fmla="val 7407"/>
            </a:avLst>
          </a:prstGeom>
          <a:solidFill>
            <a:schemeClr val="bg2"/>
          </a:solidFill>
          <a:ln w="12700">
            <a:solidFill>
              <a:schemeClr val="bg2"/>
            </a:solidFill>
            <a:prstDash val="solid"/>
          </a:ln>
        </p:spPr>
      </p:sp>
      <p:sp>
        <p:nvSpPr>
          <p:cNvPr id="12" name="Icon proiect exercitiu 2 cerc"/>
          <p:cNvSpPr/>
          <p:nvPr/>
        </p:nvSpPr>
        <p:spPr>
          <a:xfrm>
            <a:off x="3383280" y="1280160"/>
            <a:ext cx="502920" cy="502920"/>
          </a:xfrm>
          <a:prstGeom prst="ellipse">
            <a:avLst/>
          </a:prstGeom>
          <a:solidFill>
            <a:schemeClr val="accent3"/>
          </a:solidFill>
          <a:ln w="12700">
            <a:solidFill>
              <a:schemeClr val="accent3"/>
            </a:solidFill>
            <a:prstDash val="solid"/>
          </a:ln>
        </p:spPr>
      </p:sp>
      <p:pic>
        <p:nvPicPr>
          <p:cNvPr id="13" name="Icon proiect exercitiu 2" descr="preencoded.png">    </p:cNvPr>
          <p:cNvPicPr>
            <a:picLocks noChangeAspect="1"/>
          </p:cNvPicPr>
          <p:nvPr/>
        </p:nvPicPr>
        <p:blipFill>
          <a:blip r:embed="rId2"/>
          <a:stretch>
            <a:fillRect/>
          </a:stretch>
        </p:blipFill>
        <p:spPr>
          <a:xfrm>
            <a:off x="3514039" y="1410919"/>
            <a:ext cx="241402" cy="241402"/>
          </a:xfrm>
          <a:prstGeom prst="rect">
            <a:avLst/>
          </a:prstGeom>
        </p:spPr>
      </p:pic>
      <p:sp>
        <p:nvSpPr>
          <p:cNvPr id="14" name="Text 9"/>
          <p:cNvSpPr txBox="1"/>
          <p:nvPr/>
        </p:nvSpPr>
        <p:spPr>
          <a:xfrm>
            <a:off x="5303520" y="1234440"/>
            <a:ext cx="457200" cy="457200"/>
          </a:xfrm>
          <a:prstGeom prst="rect">
            <a:avLst/>
          </a:prstGeom>
          <a:noFill/>
          <a:ln/>
        </p:spPr>
        <p:txBody>
          <a:bodyPr wrap="square" lIns="0" tIns="0" rIns="0" bIns="0" rtlCol="0" anchor="t"/>
          <a:lstStyle/>
          <a:p>
            <a:pPr algn="r" indent="0" marL="0">
              <a:buNone/>
            </a:pPr>
            <a:r>
              <a:rPr lang="en-US" sz="2600" b="1" dirty="0">
                <a:solidFill>
                  <a:schemeClr val="accent6"/>
                </a:solidFill>
              </a:rPr>
              <a:t>2</a:t>
            </a:r>
            <a:endParaRPr lang="en-US" sz="2600" dirty="0"/>
          </a:p>
        </p:txBody>
      </p:sp>
      <p:sp>
        <p:nvSpPr>
          <p:cNvPr id="15" name="Text 10"/>
          <p:cNvSpPr txBox="1"/>
          <p:nvPr/>
        </p:nvSpPr>
        <p:spPr>
          <a:xfrm>
            <a:off x="3383280" y="1874520"/>
            <a:ext cx="2423160" cy="457200"/>
          </a:xfrm>
          <a:prstGeom prst="rect">
            <a:avLst/>
          </a:prstGeom>
          <a:noFill/>
          <a:ln/>
        </p:spPr>
        <p:txBody>
          <a:bodyPr wrap="square" lIns="0" tIns="0" rIns="0" bIns="0" rtlCol="0" anchor="t"/>
          <a:lstStyle/>
          <a:p>
            <a:pPr indent="0" marL="0">
              <a:buNone/>
            </a:pPr>
            <a:r>
              <a:rPr lang="en-US" sz="1200" b="1" dirty="0">
                <a:solidFill>
                  <a:schemeClr val="tx1"/>
                </a:solidFill>
              </a:rPr>
              <a:t>O groapă de gunoi</a:t>
            </a:r>
            <a:endParaRPr lang="en-US" sz="1200" dirty="0"/>
          </a:p>
        </p:txBody>
      </p:sp>
      <p:sp>
        <p:nvSpPr>
          <p:cNvPr id="16" name="Card proiect exercitiu 3"/>
          <p:cNvSpPr/>
          <p:nvPr/>
        </p:nvSpPr>
        <p:spPr>
          <a:xfrm>
            <a:off x="6035040" y="1143000"/>
            <a:ext cx="2651760" cy="1234440"/>
          </a:xfrm>
          <a:prstGeom prst="roundRect">
            <a:avLst>
              <a:gd name="adj" fmla="val 7407"/>
            </a:avLst>
          </a:prstGeom>
          <a:solidFill>
            <a:schemeClr val="bg2"/>
          </a:solidFill>
          <a:ln w="12700">
            <a:solidFill>
              <a:schemeClr val="bg2"/>
            </a:solidFill>
            <a:prstDash val="solid"/>
          </a:ln>
        </p:spPr>
      </p:sp>
      <p:sp>
        <p:nvSpPr>
          <p:cNvPr id="17" name="Icon proiect exercitiu 3 cerc"/>
          <p:cNvSpPr/>
          <p:nvPr/>
        </p:nvSpPr>
        <p:spPr>
          <a:xfrm>
            <a:off x="6172200" y="1280160"/>
            <a:ext cx="502920" cy="502920"/>
          </a:xfrm>
          <a:prstGeom prst="ellipse">
            <a:avLst/>
          </a:prstGeom>
          <a:solidFill>
            <a:schemeClr val="accent2"/>
          </a:solidFill>
          <a:ln w="12700">
            <a:solidFill>
              <a:schemeClr val="accent2"/>
            </a:solidFill>
            <a:prstDash val="solid"/>
          </a:ln>
        </p:spPr>
      </p:sp>
      <p:pic>
        <p:nvPicPr>
          <p:cNvPr id="18" name="Icon proiect exercitiu 3" descr="preencoded.png">    </p:cNvPr>
          <p:cNvPicPr>
            <a:picLocks noChangeAspect="1"/>
          </p:cNvPicPr>
          <p:nvPr/>
        </p:nvPicPr>
        <p:blipFill>
          <a:blip r:embed="rId3"/>
          <a:stretch>
            <a:fillRect/>
          </a:stretch>
        </p:blipFill>
        <p:spPr>
          <a:xfrm>
            <a:off x="6302959" y="1410919"/>
            <a:ext cx="241402" cy="241402"/>
          </a:xfrm>
          <a:prstGeom prst="rect">
            <a:avLst/>
          </a:prstGeom>
        </p:spPr>
      </p:pic>
      <p:sp>
        <p:nvSpPr>
          <p:cNvPr id="19" name="Text 13"/>
          <p:cNvSpPr txBox="1"/>
          <p:nvPr/>
        </p:nvSpPr>
        <p:spPr>
          <a:xfrm>
            <a:off x="8092440" y="1234440"/>
            <a:ext cx="457200" cy="457200"/>
          </a:xfrm>
          <a:prstGeom prst="rect">
            <a:avLst/>
          </a:prstGeom>
          <a:noFill/>
          <a:ln/>
        </p:spPr>
        <p:txBody>
          <a:bodyPr wrap="square" lIns="0" tIns="0" rIns="0" bIns="0" rtlCol="0" anchor="t"/>
          <a:lstStyle/>
          <a:p>
            <a:pPr algn="r" indent="0" marL="0">
              <a:buNone/>
            </a:pPr>
            <a:r>
              <a:rPr lang="en-US" sz="2600" b="1" dirty="0">
                <a:solidFill>
                  <a:schemeClr val="accent6"/>
                </a:solidFill>
              </a:rPr>
              <a:t>3</a:t>
            </a:r>
            <a:endParaRPr lang="en-US" sz="2600" dirty="0"/>
          </a:p>
        </p:txBody>
      </p:sp>
      <p:sp>
        <p:nvSpPr>
          <p:cNvPr id="20" name="Text 14"/>
          <p:cNvSpPr txBox="1"/>
          <p:nvPr/>
        </p:nvSpPr>
        <p:spPr>
          <a:xfrm>
            <a:off x="6172200" y="1874520"/>
            <a:ext cx="2423160" cy="457200"/>
          </a:xfrm>
          <a:prstGeom prst="rect">
            <a:avLst/>
          </a:prstGeom>
          <a:noFill/>
          <a:ln/>
        </p:spPr>
        <p:txBody>
          <a:bodyPr wrap="square" lIns="0" tIns="0" rIns="0" bIns="0" rtlCol="0" anchor="t"/>
          <a:lstStyle/>
          <a:p>
            <a:pPr indent="0" marL="0">
              <a:buNone/>
            </a:pPr>
            <a:r>
              <a:rPr lang="en-US" sz="1200" b="1" dirty="0">
                <a:solidFill>
                  <a:schemeClr val="tx1"/>
                </a:solidFill>
              </a:rPr>
              <a:t>Un spreadsheet open source</a:t>
            </a:r>
            <a:endParaRPr lang="en-US" sz="1200" dirty="0"/>
          </a:p>
        </p:txBody>
      </p:sp>
      <p:sp>
        <p:nvSpPr>
          <p:cNvPr id="21" name="Card proiect exercitiu 4"/>
          <p:cNvSpPr/>
          <p:nvPr/>
        </p:nvSpPr>
        <p:spPr>
          <a:xfrm>
            <a:off x="457200" y="2514600"/>
            <a:ext cx="2651760" cy="1234440"/>
          </a:xfrm>
          <a:prstGeom prst="roundRect">
            <a:avLst>
              <a:gd name="adj" fmla="val 7407"/>
            </a:avLst>
          </a:prstGeom>
          <a:solidFill>
            <a:schemeClr val="bg2"/>
          </a:solidFill>
          <a:ln w="12700">
            <a:solidFill>
              <a:schemeClr val="bg2"/>
            </a:solidFill>
            <a:prstDash val="solid"/>
          </a:ln>
        </p:spPr>
      </p:sp>
      <p:sp>
        <p:nvSpPr>
          <p:cNvPr id="22" name="Icon proiect exercitiu 4 cerc"/>
          <p:cNvSpPr/>
          <p:nvPr/>
        </p:nvSpPr>
        <p:spPr>
          <a:xfrm>
            <a:off x="594360" y="2651760"/>
            <a:ext cx="502920" cy="502920"/>
          </a:xfrm>
          <a:prstGeom prst="ellipse">
            <a:avLst/>
          </a:prstGeom>
          <a:solidFill>
            <a:schemeClr val="accent5"/>
          </a:solidFill>
          <a:ln w="12700">
            <a:solidFill>
              <a:schemeClr val="accent5"/>
            </a:solidFill>
            <a:prstDash val="solid"/>
          </a:ln>
        </p:spPr>
      </p:sp>
      <p:pic>
        <p:nvPicPr>
          <p:cNvPr id="23" name="Icon proiect exercitiu 4" descr="preencoded.png">    </p:cNvPr>
          <p:cNvPicPr>
            <a:picLocks noChangeAspect="1"/>
          </p:cNvPicPr>
          <p:nvPr/>
        </p:nvPicPr>
        <p:blipFill>
          <a:blip r:embed="rId4"/>
          <a:stretch>
            <a:fillRect/>
          </a:stretch>
        </p:blipFill>
        <p:spPr>
          <a:xfrm>
            <a:off x="725119" y="2782519"/>
            <a:ext cx="241402" cy="241402"/>
          </a:xfrm>
          <a:prstGeom prst="rect">
            <a:avLst/>
          </a:prstGeom>
        </p:spPr>
      </p:pic>
      <p:sp>
        <p:nvSpPr>
          <p:cNvPr id="24" name="Text 17"/>
          <p:cNvSpPr txBox="1"/>
          <p:nvPr/>
        </p:nvSpPr>
        <p:spPr>
          <a:xfrm>
            <a:off x="2514600" y="2606040"/>
            <a:ext cx="457200" cy="457200"/>
          </a:xfrm>
          <a:prstGeom prst="rect">
            <a:avLst/>
          </a:prstGeom>
          <a:noFill/>
          <a:ln/>
        </p:spPr>
        <p:txBody>
          <a:bodyPr wrap="square" lIns="0" tIns="0" rIns="0" bIns="0" rtlCol="0" anchor="t"/>
          <a:lstStyle/>
          <a:p>
            <a:pPr algn="r" indent="0" marL="0">
              <a:buNone/>
            </a:pPr>
            <a:r>
              <a:rPr lang="en-US" sz="2600" b="1" dirty="0">
                <a:solidFill>
                  <a:schemeClr val="accent6"/>
                </a:solidFill>
              </a:rPr>
              <a:t>4</a:t>
            </a:r>
            <a:endParaRPr lang="en-US" sz="2600" dirty="0"/>
          </a:p>
        </p:txBody>
      </p:sp>
      <p:sp>
        <p:nvSpPr>
          <p:cNvPr id="25" name="Text 18"/>
          <p:cNvSpPr txBox="1"/>
          <p:nvPr/>
        </p:nvSpPr>
        <p:spPr>
          <a:xfrm>
            <a:off x="594360" y="3246120"/>
            <a:ext cx="2423160" cy="457200"/>
          </a:xfrm>
          <a:prstGeom prst="rect">
            <a:avLst/>
          </a:prstGeom>
          <a:noFill/>
          <a:ln/>
        </p:spPr>
        <p:txBody>
          <a:bodyPr wrap="square" lIns="0" tIns="0" rIns="0" bIns="0" rtlCol="0" anchor="t"/>
          <a:lstStyle/>
          <a:p>
            <a:pPr indent="0" marL="0">
              <a:buNone/>
            </a:pPr>
            <a:r>
              <a:rPr lang="en-US" sz="1200" b="1" dirty="0">
                <a:solidFill>
                  <a:schemeClr val="tx1"/>
                </a:solidFill>
              </a:rPr>
              <a:t>O aplicație web pentru monitorizarea masei corporale</a:t>
            </a:r>
            <a:endParaRPr lang="en-US" sz="1200" dirty="0"/>
          </a:p>
        </p:txBody>
      </p:sp>
      <p:sp>
        <p:nvSpPr>
          <p:cNvPr id="26" name="Card proiect exercitiu 5"/>
          <p:cNvSpPr/>
          <p:nvPr/>
        </p:nvSpPr>
        <p:spPr>
          <a:xfrm>
            <a:off x="3246120" y="2514600"/>
            <a:ext cx="2651760" cy="1234440"/>
          </a:xfrm>
          <a:prstGeom prst="roundRect">
            <a:avLst>
              <a:gd name="adj" fmla="val 7407"/>
            </a:avLst>
          </a:prstGeom>
          <a:solidFill>
            <a:schemeClr val="bg2"/>
          </a:solidFill>
          <a:ln w="12700">
            <a:solidFill>
              <a:schemeClr val="bg2"/>
            </a:solidFill>
            <a:prstDash val="solid"/>
          </a:ln>
        </p:spPr>
      </p:sp>
      <p:sp>
        <p:nvSpPr>
          <p:cNvPr id="27" name="Icon proiect exercitiu 5 cerc"/>
          <p:cNvSpPr/>
          <p:nvPr/>
        </p:nvSpPr>
        <p:spPr>
          <a:xfrm>
            <a:off x="3383280" y="2651760"/>
            <a:ext cx="502920" cy="502920"/>
          </a:xfrm>
          <a:prstGeom prst="ellipse">
            <a:avLst/>
          </a:prstGeom>
          <a:solidFill>
            <a:schemeClr val="accent4"/>
          </a:solidFill>
          <a:ln w="12700">
            <a:solidFill>
              <a:schemeClr val="accent4"/>
            </a:solidFill>
            <a:prstDash val="solid"/>
          </a:ln>
        </p:spPr>
      </p:sp>
      <p:pic>
        <p:nvPicPr>
          <p:cNvPr id="28" name="Icon proiect exercitiu 5" descr="preencoded.png">    </p:cNvPr>
          <p:cNvPicPr>
            <a:picLocks noChangeAspect="1"/>
          </p:cNvPicPr>
          <p:nvPr/>
        </p:nvPicPr>
        <p:blipFill>
          <a:blip r:embed="rId5"/>
          <a:stretch>
            <a:fillRect/>
          </a:stretch>
        </p:blipFill>
        <p:spPr>
          <a:xfrm>
            <a:off x="3514039" y="2782519"/>
            <a:ext cx="241402" cy="241402"/>
          </a:xfrm>
          <a:prstGeom prst="rect">
            <a:avLst/>
          </a:prstGeom>
        </p:spPr>
      </p:pic>
      <p:sp>
        <p:nvSpPr>
          <p:cNvPr id="29" name="Text 21"/>
          <p:cNvSpPr txBox="1"/>
          <p:nvPr/>
        </p:nvSpPr>
        <p:spPr>
          <a:xfrm>
            <a:off x="5303520" y="2606040"/>
            <a:ext cx="457200" cy="457200"/>
          </a:xfrm>
          <a:prstGeom prst="rect">
            <a:avLst/>
          </a:prstGeom>
          <a:noFill/>
          <a:ln/>
        </p:spPr>
        <p:txBody>
          <a:bodyPr wrap="square" lIns="0" tIns="0" rIns="0" bIns="0" rtlCol="0" anchor="t"/>
          <a:lstStyle/>
          <a:p>
            <a:pPr algn="r" indent="0" marL="0">
              <a:buNone/>
            </a:pPr>
            <a:r>
              <a:rPr lang="en-US" sz="2600" b="1" dirty="0">
                <a:solidFill>
                  <a:schemeClr val="accent6"/>
                </a:solidFill>
              </a:rPr>
              <a:t>5</a:t>
            </a:r>
            <a:endParaRPr lang="en-US" sz="2600" dirty="0"/>
          </a:p>
        </p:txBody>
      </p:sp>
      <p:sp>
        <p:nvSpPr>
          <p:cNvPr id="30" name="Text 22"/>
          <p:cNvSpPr txBox="1"/>
          <p:nvPr/>
        </p:nvSpPr>
        <p:spPr>
          <a:xfrm>
            <a:off x="3383280" y="3246120"/>
            <a:ext cx="2423160" cy="457200"/>
          </a:xfrm>
          <a:prstGeom prst="rect">
            <a:avLst/>
          </a:prstGeom>
          <a:noFill/>
          <a:ln/>
        </p:spPr>
        <p:txBody>
          <a:bodyPr wrap="square" lIns="0" tIns="0" rIns="0" bIns="0" rtlCol="0" anchor="t"/>
          <a:lstStyle/>
          <a:p>
            <a:pPr indent="0" marL="0">
              <a:buNone/>
            </a:pPr>
            <a:r>
              <a:rPr lang="en-US" sz="1200" b="1" dirty="0">
                <a:solidFill>
                  <a:schemeClr val="tx1"/>
                </a:solidFill>
              </a:rPr>
              <a:t>OpenOffice portat pe Android</a:t>
            </a:r>
            <a:endParaRPr lang="en-US" sz="1200" dirty="0"/>
          </a:p>
        </p:txBody>
      </p:sp>
      <p:sp>
        <p:nvSpPr>
          <p:cNvPr id="31" name="Card reguli exercitiu"/>
          <p:cNvSpPr/>
          <p:nvPr/>
        </p:nvSpPr>
        <p:spPr>
          <a:xfrm>
            <a:off x="6035040" y="2514600"/>
            <a:ext cx="2651760" cy="1234440"/>
          </a:xfrm>
          <a:prstGeom prst="roundRect">
            <a:avLst>
              <a:gd name="adj" fmla="val 7407"/>
            </a:avLst>
          </a:prstGeom>
          <a:solidFill>
            <a:schemeClr val="tx1"/>
          </a:solidFill>
          <a:ln w="12700">
            <a:solidFill>
              <a:schemeClr val="tx1"/>
            </a:solidFill>
            <a:prstDash val="solid"/>
          </a:ln>
        </p:spPr>
      </p:sp>
      <p:sp>
        <p:nvSpPr>
          <p:cNvPr id="32" name="Text 24"/>
          <p:cNvSpPr txBox="1"/>
          <p:nvPr/>
        </p:nvSpPr>
        <p:spPr>
          <a:xfrm>
            <a:off x="6172200" y="2514600"/>
            <a:ext cx="2377440" cy="1234440"/>
          </a:xfrm>
          <a:prstGeom prst="rect">
            <a:avLst/>
          </a:prstGeom>
          <a:noFill/>
          <a:ln/>
        </p:spPr>
        <p:txBody>
          <a:bodyPr wrap="square" lIns="0" tIns="0" rIns="0" bIns="0" rtlCol="0" anchor="ctr"/>
          <a:lstStyle/>
          <a:p>
            <a:pPr indent="0" marL="0">
              <a:buNone/>
            </a:pPr>
            <a:r>
              <a:rPr lang="en-US" sz="1400" b="1" dirty="0">
                <a:solidFill>
                  <a:schemeClr val="accent1"/>
                </a:solidFill>
              </a:rPr>
              <a:t>2 minute, pe grupe</a:t>
            </a:r>
            <a:endParaRPr lang="en-US" sz="1400" dirty="0"/>
          </a:p>
          <a:p>
            <a:pPr indent="0" marL="0">
              <a:buNone/>
            </a:pPr>
            <a:r>
              <a:rPr lang="en-US" sz="1200" dirty="0">
                <a:solidFill>
                  <a:schemeClr val="bg1"/>
                </a:solidFill>
              </a:rPr>
              <a:t>Găsiți 3 stakeholderi, dintre care unul ascuns: nici sponsor, nici client.</a:t>
            </a:r>
            <a:endParaRPr lang="en-US" sz="1400" dirty="0"/>
          </a:p>
        </p:txBody>
      </p:sp>
      <p:sp>
        <p:nvSpPr>
          <p:cNvPr id="33" name="Bara intrebare"/>
          <p:cNvSpPr/>
          <p:nvPr/>
        </p:nvSpPr>
        <p:spPr>
          <a:xfrm>
            <a:off x="457200" y="3977640"/>
            <a:ext cx="8229600" cy="502920"/>
          </a:xfrm>
          <a:prstGeom prst="roundRect">
            <a:avLst>
              <a:gd name="adj" fmla="val 18182"/>
            </a:avLst>
          </a:prstGeom>
          <a:solidFill>
            <a:schemeClr val="tx1"/>
          </a:solidFill>
          <a:ln w="12700">
            <a:solidFill>
              <a:schemeClr val="tx1"/>
            </a:solidFill>
            <a:prstDash val="solid"/>
          </a:ln>
        </p:spPr>
      </p:sp>
      <p:sp>
        <p:nvSpPr>
          <p:cNvPr id="34" name="Eticheta intrebare"/>
          <p:cNvSpPr txBox="1"/>
          <p:nvPr/>
        </p:nvSpPr>
        <p:spPr>
          <a:xfrm>
            <a:off x="640080" y="3977640"/>
            <a:ext cx="1234440" cy="502920"/>
          </a:xfrm>
          <a:prstGeom prst="rect">
            <a:avLst/>
          </a:prstGeom>
          <a:noFill/>
          <a:ln/>
        </p:spPr>
        <p:txBody>
          <a:bodyPr wrap="square" lIns="0" tIns="0" rIns="0" bIns="0" rtlCol="0" anchor="ctr"/>
          <a:lstStyle/>
          <a:p>
            <a:pPr indent="0" marL="0">
              <a:buNone/>
            </a:pPr>
            <a:r>
              <a:rPr lang="en-US" sz="1100" b="1" dirty="0">
                <a:solidFill>
                  <a:schemeClr val="accent1"/>
                </a:solidFill>
              </a:rPr>
              <a:t>REȚINEȚI</a:t>
            </a:r>
            <a:endParaRPr lang="en-US" sz="1100" dirty="0"/>
          </a:p>
        </p:txBody>
      </p:sp>
      <p:sp>
        <p:nvSpPr>
          <p:cNvPr id="35" name="Text intrebare"/>
          <p:cNvSpPr txBox="1"/>
          <p:nvPr/>
        </p:nvSpPr>
        <p:spPr>
          <a:xfrm>
            <a:off x="1920240" y="3977640"/>
            <a:ext cx="6583680" cy="502920"/>
          </a:xfrm>
          <a:prstGeom prst="rect">
            <a:avLst/>
          </a:prstGeom>
          <a:noFill/>
          <a:ln/>
        </p:spPr>
        <p:txBody>
          <a:bodyPr wrap="square" lIns="0" tIns="0" rIns="0" bIns="0" rtlCol="0" anchor="ctr"/>
          <a:lstStyle/>
          <a:p>
            <a:pPr indent="0" marL="0">
              <a:buNone/>
            </a:pPr>
            <a:r>
              <a:rPr lang="en-US" sz="1300" dirty="0">
                <a:solidFill>
                  <a:schemeClr val="bg1"/>
                </a:solidFill>
              </a:rPr>
              <a:t>Un stakeholder ignorat nu dispare: apare târziu, ca risc sau ca schimbare de cerințe.</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200" b="1" dirty="0">
                <a:solidFill>
                  <a:schemeClr val="tx1"/>
                </a:solidFill>
              </a:rPr>
              <a:t>Putere vs. interes: pe cine ascultăm?</a:t>
            </a:r>
            <a:endParaRPr lang="en-US" sz="2200" dirty="0"/>
          </a:p>
        </p:txBody>
      </p:sp>
      <p:sp>
        <p:nvSpPr>
          <p:cNvPr id="3" name="Chip prezentator"/>
          <p:cNvSpPr/>
          <p:nvPr/>
        </p:nvSpPr>
        <p:spPr>
          <a:xfrm>
            <a:off x="7589520" y="384048"/>
            <a:ext cx="1097280" cy="292608"/>
          </a:xfrm>
          <a:prstGeom prst="roundRect">
            <a:avLst>
              <a:gd name="adj" fmla="val 50000"/>
            </a:avLst>
          </a:prstGeom>
          <a:solidFill>
            <a:schemeClr val="accent2"/>
          </a:solidFill>
          <a:ln w="12700">
            <a:solidFill>
              <a:schemeClr val="accent2"/>
            </a:solidFill>
            <a:prstDash val="solid"/>
          </a:ln>
        </p:spPr>
      </p:sp>
      <p:sp>
        <p:nvSpPr>
          <p:cNvPr id="4" name="Text prezentator"/>
          <p:cNvSpPr txBox="1"/>
          <p:nvPr/>
        </p:nvSpPr>
        <p:spPr>
          <a:xfrm>
            <a:off x="7589520" y="384048"/>
            <a:ext cx="1097280" cy="292608"/>
          </a:xfrm>
          <a:prstGeom prst="rect">
            <a:avLst/>
          </a:prstGeom>
          <a:noFill/>
          <a:ln/>
        </p:spPr>
        <p:txBody>
          <a:bodyPr wrap="square" lIns="0" tIns="0" rIns="0" bIns="0" rtlCol="0" anchor="ctr"/>
          <a:lstStyle/>
          <a:p>
            <a:pPr algn="ctr" indent="0" marL="0">
              <a:buNone/>
            </a:pPr>
            <a:r>
              <a:rPr lang="en-US" sz="1100" b="1" dirty="0">
                <a:solidFill>
                  <a:schemeClr val="bg1"/>
                </a:solidFill>
              </a:rPr>
              <a:t>B  ·  1,5'</a:t>
            </a:r>
            <a:endParaRPr lang="en-US" sz="1100" dirty="0"/>
          </a:p>
        </p:txBody>
      </p:sp>
      <p:sp>
        <p:nvSpPr>
          <p:cNvPr id="6" name="Cadran Menține satisfăcut"/>
          <p:cNvSpPr/>
          <p:nvPr/>
        </p:nvSpPr>
        <p:spPr>
          <a:xfrm>
            <a:off x="1828800" y="1097280"/>
            <a:ext cx="2706624" cy="1563624"/>
          </a:xfrm>
          <a:prstGeom prst="rect">
            <a:avLst/>
          </a:prstGeom>
          <a:solidFill>
            <a:schemeClr val="bg2"/>
          </a:solidFill>
          <a:ln w="12700">
            <a:solidFill>
              <a:schemeClr val="bg1"/>
            </a:solidFill>
            <a:prstDash val="solid"/>
          </a:ln>
        </p:spPr>
      </p:sp>
      <p:sp>
        <p:nvSpPr>
          <p:cNvPr id="7" name="Text 4"/>
          <p:cNvSpPr txBox="1"/>
          <p:nvPr/>
        </p:nvSpPr>
        <p:spPr>
          <a:xfrm>
            <a:off x="1920240" y="1170432"/>
            <a:ext cx="2468880" cy="274320"/>
          </a:xfrm>
          <a:prstGeom prst="rect">
            <a:avLst/>
          </a:prstGeom>
          <a:noFill/>
          <a:ln/>
        </p:spPr>
        <p:txBody>
          <a:bodyPr wrap="square" lIns="0" tIns="0" rIns="0" bIns="0" rtlCol="0" anchor="t"/>
          <a:lstStyle/>
          <a:p>
            <a:pPr indent="0" marL="0">
              <a:buNone/>
            </a:pPr>
            <a:r>
              <a:rPr lang="en-US" sz="1100" b="1" dirty="0">
                <a:solidFill>
                  <a:schemeClr val="tx2"/>
                </a:solidFill>
              </a:rPr>
              <a:t>Menține satisfăcut</a:t>
            </a:r>
            <a:endParaRPr lang="en-US" sz="1100" dirty="0"/>
          </a:p>
        </p:txBody>
      </p:sp>
      <p:sp>
        <p:nvSpPr>
          <p:cNvPr id="8" name="Cadran Gestionează îndeaproape"/>
          <p:cNvSpPr/>
          <p:nvPr/>
        </p:nvSpPr>
        <p:spPr>
          <a:xfrm>
            <a:off x="4572000" y="1097280"/>
            <a:ext cx="2706624" cy="1563624"/>
          </a:xfrm>
          <a:prstGeom prst="rect">
            <a:avLst/>
          </a:prstGeom>
          <a:solidFill>
            <a:schemeClr val="accent1">
              <a:alpha val="30000"/>
            </a:schemeClr>
          </a:solidFill>
          <a:ln w="12700">
            <a:solidFill>
              <a:schemeClr val="bg1"/>
            </a:solidFill>
            <a:prstDash val="solid"/>
          </a:ln>
        </p:spPr>
      </p:sp>
      <p:sp>
        <p:nvSpPr>
          <p:cNvPr id="9" name="Text 6"/>
          <p:cNvSpPr txBox="1"/>
          <p:nvPr/>
        </p:nvSpPr>
        <p:spPr>
          <a:xfrm>
            <a:off x="4663440" y="1170432"/>
            <a:ext cx="2468880" cy="274320"/>
          </a:xfrm>
          <a:prstGeom prst="rect">
            <a:avLst/>
          </a:prstGeom>
          <a:noFill/>
          <a:ln/>
        </p:spPr>
        <p:txBody>
          <a:bodyPr wrap="square" lIns="0" tIns="0" rIns="0" bIns="0" rtlCol="0" anchor="t"/>
          <a:lstStyle/>
          <a:p>
            <a:pPr indent="0" marL="0">
              <a:buNone/>
            </a:pPr>
            <a:r>
              <a:rPr lang="en-US" sz="1100" b="1" dirty="0">
                <a:solidFill>
                  <a:schemeClr val="tx2"/>
                </a:solidFill>
              </a:rPr>
              <a:t>Gestionează îndeaproape</a:t>
            </a:r>
            <a:endParaRPr lang="en-US" sz="1100" dirty="0"/>
          </a:p>
        </p:txBody>
      </p:sp>
      <p:sp>
        <p:nvSpPr>
          <p:cNvPr id="10" name="Cadran Monitorizează"/>
          <p:cNvSpPr/>
          <p:nvPr/>
        </p:nvSpPr>
        <p:spPr>
          <a:xfrm>
            <a:off x="1828800" y="2697480"/>
            <a:ext cx="2706624" cy="1563624"/>
          </a:xfrm>
          <a:prstGeom prst="rect">
            <a:avLst/>
          </a:prstGeom>
          <a:solidFill>
            <a:schemeClr val="bg2"/>
          </a:solidFill>
          <a:ln w="12700">
            <a:solidFill>
              <a:schemeClr val="bg1"/>
            </a:solidFill>
            <a:prstDash val="solid"/>
          </a:ln>
        </p:spPr>
      </p:sp>
      <p:sp>
        <p:nvSpPr>
          <p:cNvPr id="11" name="Text 8"/>
          <p:cNvSpPr txBox="1"/>
          <p:nvPr/>
        </p:nvSpPr>
        <p:spPr>
          <a:xfrm>
            <a:off x="1920240" y="2770632"/>
            <a:ext cx="2468880" cy="274320"/>
          </a:xfrm>
          <a:prstGeom prst="rect">
            <a:avLst/>
          </a:prstGeom>
          <a:noFill/>
          <a:ln/>
        </p:spPr>
        <p:txBody>
          <a:bodyPr wrap="square" lIns="0" tIns="0" rIns="0" bIns="0" rtlCol="0" anchor="t"/>
          <a:lstStyle/>
          <a:p>
            <a:pPr indent="0" marL="0">
              <a:buNone/>
            </a:pPr>
            <a:r>
              <a:rPr lang="en-US" sz="1100" b="1" dirty="0">
                <a:solidFill>
                  <a:schemeClr val="tx2"/>
                </a:solidFill>
              </a:rPr>
              <a:t>Monitorizează</a:t>
            </a:r>
            <a:endParaRPr lang="en-US" sz="1100" dirty="0"/>
          </a:p>
        </p:txBody>
      </p:sp>
      <p:sp>
        <p:nvSpPr>
          <p:cNvPr id="12" name="Cadran Informează"/>
          <p:cNvSpPr/>
          <p:nvPr/>
        </p:nvSpPr>
        <p:spPr>
          <a:xfrm>
            <a:off x="4572000" y="2697480"/>
            <a:ext cx="2706624" cy="1563624"/>
          </a:xfrm>
          <a:prstGeom prst="rect">
            <a:avLst/>
          </a:prstGeom>
          <a:solidFill>
            <a:schemeClr val="bg2"/>
          </a:solidFill>
          <a:ln w="12700">
            <a:solidFill>
              <a:schemeClr val="bg1"/>
            </a:solidFill>
            <a:prstDash val="solid"/>
          </a:ln>
        </p:spPr>
      </p:sp>
      <p:sp>
        <p:nvSpPr>
          <p:cNvPr id="13" name="Text 10"/>
          <p:cNvSpPr txBox="1"/>
          <p:nvPr/>
        </p:nvSpPr>
        <p:spPr>
          <a:xfrm>
            <a:off x="4663440" y="2770632"/>
            <a:ext cx="2468880" cy="274320"/>
          </a:xfrm>
          <a:prstGeom prst="rect">
            <a:avLst/>
          </a:prstGeom>
          <a:noFill/>
          <a:ln/>
        </p:spPr>
        <p:txBody>
          <a:bodyPr wrap="square" lIns="0" tIns="0" rIns="0" bIns="0" rtlCol="0" anchor="t"/>
          <a:lstStyle/>
          <a:p>
            <a:pPr indent="0" marL="0">
              <a:buNone/>
            </a:pPr>
            <a:r>
              <a:rPr lang="en-US" sz="1100" b="1" dirty="0">
                <a:solidFill>
                  <a:schemeClr val="tx2"/>
                </a:solidFill>
              </a:rPr>
              <a:t>Informează</a:t>
            </a:r>
            <a:endParaRPr lang="en-US" sz="1100" dirty="0"/>
          </a:p>
        </p:txBody>
      </p:sp>
      <p:sp>
        <p:nvSpPr>
          <p:cNvPr id="14" name="Text 11"/>
          <p:cNvSpPr txBox="1"/>
          <p:nvPr/>
        </p:nvSpPr>
        <p:spPr>
          <a:xfrm>
            <a:off x="1828800" y="4343400"/>
            <a:ext cx="5486400" cy="228600"/>
          </a:xfrm>
          <a:prstGeom prst="rect">
            <a:avLst/>
          </a:prstGeom>
          <a:noFill/>
          <a:ln/>
        </p:spPr>
        <p:txBody>
          <a:bodyPr wrap="square" lIns="0" tIns="0" rIns="0" bIns="0" rtlCol="0" anchor="t"/>
          <a:lstStyle/>
          <a:p>
            <a:pPr algn="ctr" indent="0" marL="0">
              <a:buNone/>
            </a:pPr>
            <a:r>
              <a:rPr lang="en-US" sz="1000" b="1" dirty="0">
                <a:solidFill>
                  <a:schemeClr val="tx2"/>
                </a:solidFill>
              </a:rPr>
              <a:t>INTERES →</a:t>
            </a:r>
            <a:endParaRPr lang="en-US" sz="1000" dirty="0"/>
          </a:p>
        </p:txBody>
      </p:sp>
      <p:sp>
        <p:nvSpPr>
          <p:cNvPr id="15" name="Axa putere"/>
          <p:cNvSpPr txBox="1"/>
          <p:nvPr/>
        </p:nvSpPr>
        <p:spPr>
          <a:xfrm rot="16200000">
            <a:off x="182880" y="2560320"/>
            <a:ext cx="1371600" cy="274320"/>
          </a:xfrm>
          <a:prstGeom prst="rect">
            <a:avLst/>
          </a:prstGeom>
          <a:noFill/>
          <a:ln/>
        </p:spPr>
        <p:txBody>
          <a:bodyPr wrap="square" lIns="0" tIns="0" rIns="0" bIns="0" rtlCol="0" anchor="ctr"/>
          <a:lstStyle/>
          <a:p>
            <a:pPr algn="ctr" indent="0" marL="0">
              <a:buNone/>
            </a:pPr>
            <a:r>
              <a:rPr lang="en-US" sz="1000" b="1" dirty="0">
                <a:solidFill>
                  <a:schemeClr val="tx2"/>
                </a:solidFill>
              </a:rPr>
              <a:t>PUTERE →</a:t>
            </a:r>
            <a:endParaRPr lang="en-US" sz="1000" dirty="0"/>
          </a:p>
        </p:txBody>
      </p:sp>
      <p:sp>
        <p:nvSpPr>
          <p:cNvPr id="16" name="Punct Sponsor / investitor"/>
          <p:cNvSpPr/>
          <p:nvPr/>
        </p:nvSpPr>
        <p:spPr>
          <a:xfrm>
            <a:off x="6409944" y="1655064"/>
            <a:ext cx="164592" cy="164592"/>
          </a:xfrm>
          <a:prstGeom prst="ellipse">
            <a:avLst/>
          </a:prstGeom>
          <a:solidFill>
            <a:schemeClr val="accent3"/>
          </a:solidFill>
          <a:ln w="19050">
            <a:solidFill>
              <a:schemeClr val="bg1"/>
            </a:solidFill>
            <a:prstDash val="solid"/>
          </a:ln>
        </p:spPr>
      </p:sp>
      <p:sp>
        <p:nvSpPr>
          <p:cNvPr id="17" name="Text 14"/>
          <p:cNvSpPr txBox="1"/>
          <p:nvPr/>
        </p:nvSpPr>
        <p:spPr>
          <a:xfrm>
            <a:off x="5577840" y="1828800"/>
            <a:ext cx="1828800" cy="228600"/>
          </a:xfrm>
          <a:prstGeom prst="rect">
            <a:avLst/>
          </a:prstGeom>
          <a:noFill/>
          <a:ln/>
        </p:spPr>
        <p:txBody>
          <a:bodyPr wrap="square" lIns="0" tIns="0" rIns="0" bIns="0" rtlCol="0" anchor="t"/>
          <a:lstStyle/>
          <a:p>
            <a:pPr algn="ctr" indent="0" marL="0">
              <a:buNone/>
            </a:pPr>
            <a:r>
              <a:rPr lang="en-US" sz="950" b="1" dirty="0">
                <a:solidFill>
                  <a:schemeClr val="tx1"/>
                </a:solidFill>
              </a:rPr>
              <a:t>Sponsor / investitor</a:t>
            </a:r>
            <a:endParaRPr lang="en-US" sz="950" dirty="0"/>
          </a:p>
        </p:txBody>
      </p:sp>
      <p:sp>
        <p:nvSpPr>
          <p:cNvPr id="18" name="Punct Magazine de aplicații"/>
          <p:cNvSpPr/>
          <p:nvPr/>
        </p:nvSpPr>
        <p:spPr>
          <a:xfrm>
            <a:off x="2843784" y="1719072"/>
            <a:ext cx="164592" cy="164592"/>
          </a:xfrm>
          <a:prstGeom prst="ellipse">
            <a:avLst/>
          </a:prstGeom>
          <a:solidFill>
            <a:schemeClr val="accent4"/>
          </a:solidFill>
          <a:ln w="19050">
            <a:solidFill>
              <a:schemeClr val="bg1"/>
            </a:solidFill>
            <a:prstDash val="solid"/>
          </a:ln>
        </p:spPr>
      </p:sp>
      <p:sp>
        <p:nvSpPr>
          <p:cNvPr id="19" name="Text 16"/>
          <p:cNvSpPr txBox="1"/>
          <p:nvPr/>
        </p:nvSpPr>
        <p:spPr>
          <a:xfrm>
            <a:off x="2011680" y="1892808"/>
            <a:ext cx="1828800" cy="228600"/>
          </a:xfrm>
          <a:prstGeom prst="rect">
            <a:avLst/>
          </a:prstGeom>
          <a:noFill/>
          <a:ln/>
        </p:spPr>
        <p:txBody>
          <a:bodyPr wrap="square" lIns="0" tIns="0" rIns="0" bIns="0" rtlCol="0" anchor="t"/>
          <a:lstStyle/>
          <a:p>
            <a:pPr algn="ctr" indent="0" marL="0">
              <a:buNone/>
            </a:pPr>
            <a:r>
              <a:rPr lang="en-US" sz="950" b="1" dirty="0">
                <a:solidFill>
                  <a:schemeClr val="tx1"/>
                </a:solidFill>
              </a:rPr>
              <a:t>Magazine de aplicații</a:t>
            </a:r>
            <a:endParaRPr lang="en-US" sz="950" dirty="0"/>
          </a:p>
        </p:txBody>
      </p:sp>
      <p:sp>
        <p:nvSpPr>
          <p:cNvPr id="20" name="Punct Autoritatea GDPR"/>
          <p:cNvSpPr/>
          <p:nvPr/>
        </p:nvSpPr>
        <p:spPr>
          <a:xfrm>
            <a:off x="3282696" y="2199132"/>
            <a:ext cx="164592" cy="164592"/>
          </a:xfrm>
          <a:prstGeom prst="ellipse">
            <a:avLst/>
          </a:prstGeom>
          <a:solidFill>
            <a:schemeClr val="accent4"/>
          </a:solidFill>
          <a:ln w="19050">
            <a:solidFill>
              <a:schemeClr val="bg1"/>
            </a:solidFill>
            <a:prstDash val="solid"/>
          </a:ln>
        </p:spPr>
      </p:sp>
      <p:sp>
        <p:nvSpPr>
          <p:cNvPr id="21" name="Text 18"/>
          <p:cNvSpPr txBox="1"/>
          <p:nvPr/>
        </p:nvSpPr>
        <p:spPr>
          <a:xfrm>
            <a:off x="2450592" y="2372868"/>
            <a:ext cx="1828800" cy="228600"/>
          </a:xfrm>
          <a:prstGeom prst="rect">
            <a:avLst/>
          </a:prstGeom>
          <a:noFill/>
          <a:ln/>
        </p:spPr>
        <p:txBody>
          <a:bodyPr wrap="square" lIns="0" tIns="0" rIns="0" bIns="0" rtlCol="0" anchor="t"/>
          <a:lstStyle/>
          <a:p>
            <a:pPr algn="ctr" indent="0" marL="0">
              <a:buNone/>
            </a:pPr>
            <a:r>
              <a:rPr lang="en-US" sz="950" b="1" dirty="0">
                <a:solidFill>
                  <a:schemeClr val="tx1"/>
                </a:solidFill>
              </a:rPr>
              <a:t>Autoritatea GDPR</a:t>
            </a:r>
            <a:endParaRPr lang="en-US" sz="950" dirty="0"/>
          </a:p>
        </p:txBody>
      </p:sp>
      <p:sp>
        <p:nvSpPr>
          <p:cNvPr id="22" name="Punct Echipa de dezvoltare"/>
          <p:cNvSpPr/>
          <p:nvPr/>
        </p:nvSpPr>
        <p:spPr>
          <a:xfrm>
            <a:off x="5861304" y="2295144"/>
            <a:ext cx="164592" cy="164592"/>
          </a:xfrm>
          <a:prstGeom prst="ellipse">
            <a:avLst/>
          </a:prstGeom>
          <a:solidFill>
            <a:schemeClr val="accent2"/>
          </a:solidFill>
          <a:ln w="19050">
            <a:solidFill>
              <a:schemeClr val="bg1"/>
            </a:solidFill>
            <a:prstDash val="solid"/>
          </a:ln>
        </p:spPr>
      </p:sp>
      <p:sp>
        <p:nvSpPr>
          <p:cNvPr id="23" name="Text 20"/>
          <p:cNvSpPr txBox="1"/>
          <p:nvPr/>
        </p:nvSpPr>
        <p:spPr>
          <a:xfrm>
            <a:off x="5029200" y="2468880"/>
            <a:ext cx="1828800" cy="228600"/>
          </a:xfrm>
          <a:prstGeom prst="rect">
            <a:avLst/>
          </a:prstGeom>
          <a:noFill/>
          <a:ln/>
        </p:spPr>
        <p:txBody>
          <a:bodyPr wrap="square" lIns="0" tIns="0" rIns="0" bIns="0" rtlCol="0" anchor="t"/>
          <a:lstStyle/>
          <a:p>
            <a:pPr algn="ctr" indent="0" marL="0">
              <a:buNone/>
            </a:pPr>
            <a:r>
              <a:rPr lang="en-US" sz="950" b="1" dirty="0">
                <a:solidFill>
                  <a:schemeClr val="tx1"/>
                </a:solidFill>
              </a:rPr>
              <a:t>Echipa de dezvoltare</a:t>
            </a:r>
            <a:endParaRPr lang="en-US" sz="950" dirty="0"/>
          </a:p>
        </p:txBody>
      </p:sp>
      <p:sp>
        <p:nvSpPr>
          <p:cNvPr id="24" name="Punct Utilizatori"/>
          <p:cNvSpPr/>
          <p:nvPr/>
        </p:nvSpPr>
        <p:spPr>
          <a:xfrm>
            <a:off x="6684264" y="2999232"/>
            <a:ext cx="164592" cy="164592"/>
          </a:xfrm>
          <a:prstGeom prst="ellipse">
            <a:avLst/>
          </a:prstGeom>
          <a:solidFill>
            <a:schemeClr val="accent2"/>
          </a:solidFill>
          <a:ln w="19050">
            <a:solidFill>
              <a:schemeClr val="bg1"/>
            </a:solidFill>
            <a:prstDash val="solid"/>
          </a:ln>
        </p:spPr>
      </p:sp>
      <p:sp>
        <p:nvSpPr>
          <p:cNvPr id="25" name="Text 22"/>
          <p:cNvSpPr txBox="1"/>
          <p:nvPr/>
        </p:nvSpPr>
        <p:spPr>
          <a:xfrm>
            <a:off x="5852160" y="3172968"/>
            <a:ext cx="1828800" cy="228600"/>
          </a:xfrm>
          <a:prstGeom prst="rect">
            <a:avLst/>
          </a:prstGeom>
          <a:noFill/>
          <a:ln/>
        </p:spPr>
        <p:txBody>
          <a:bodyPr wrap="square" lIns="0" tIns="0" rIns="0" bIns="0" rtlCol="0" anchor="t"/>
          <a:lstStyle/>
          <a:p>
            <a:pPr algn="ctr" indent="0" marL="0">
              <a:buNone/>
            </a:pPr>
            <a:r>
              <a:rPr lang="en-US" sz="950" b="1" dirty="0">
                <a:solidFill>
                  <a:schemeClr val="tx1"/>
                </a:solidFill>
              </a:rPr>
              <a:t>Utilizatori</a:t>
            </a:r>
            <a:endParaRPr lang="en-US" sz="950" dirty="0"/>
          </a:p>
        </p:txBody>
      </p:sp>
      <p:sp>
        <p:nvSpPr>
          <p:cNvPr id="26" name="Punct Medici / nutriționiști"/>
          <p:cNvSpPr/>
          <p:nvPr/>
        </p:nvSpPr>
        <p:spPr>
          <a:xfrm>
            <a:off x="5148072" y="3511296"/>
            <a:ext cx="164592" cy="164592"/>
          </a:xfrm>
          <a:prstGeom prst="ellipse">
            <a:avLst/>
          </a:prstGeom>
          <a:solidFill>
            <a:schemeClr val="accent2"/>
          </a:solidFill>
          <a:ln w="19050">
            <a:solidFill>
              <a:schemeClr val="bg1"/>
            </a:solidFill>
            <a:prstDash val="solid"/>
          </a:ln>
        </p:spPr>
      </p:sp>
      <p:sp>
        <p:nvSpPr>
          <p:cNvPr id="27" name="Text 24"/>
          <p:cNvSpPr txBox="1"/>
          <p:nvPr/>
        </p:nvSpPr>
        <p:spPr>
          <a:xfrm>
            <a:off x="4315968" y="3685032"/>
            <a:ext cx="1828800" cy="228600"/>
          </a:xfrm>
          <a:prstGeom prst="rect">
            <a:avLst/>
          </a:prstGeom>
          <a:noFill/>
          <a:ln/>
        </p:spPr>
        <p:txBody>
          <a:bodyPr wrap="square" lIns="0" tIns="0" rIns="0" bIns="0" rtlCol="0" anchor="t"/>
          <a:lstStyle/>
          <a:p>
            <a:pPr algn="ctr" indent="0" marL="0">
              <a:buNone/>
            </a:pPr>
            <a:r>
              <a:rPr lang="en-US" sz="950" b="1" dirty="0">
                <a:solidFill>
                  <a:schemeClr val="tx1"/>
                </a:solidFill>
              </a:rPr>
              <a:t>Medici / nutriționiști</a:t>
            </a:r>
            <a:endParaRPr lang="en-US" sz="950" dirty="0"/>
          </a:p>
        </p:txBody>
      </p:sp>
      <p:sp>
        <p:nvSpPr>
          <p:cNvPr id="28" name="Punct Concurenți"/>
          <p:cNvSpPr/>
          <p:nvPr/>
        </p:nvSpPr>
        <p:spPr>
          <a:xfrm>
            <a:off x="2843784" y="3511296"/>
            <a:ext cx="164592" cy="164592"/>
          </a:xfrm>
          <a:prstGeom prst="ellipse">
            <a:avLst/>
          </a:prstGeom>
          <a:solidFill>
            <a:schemeClr val="accent6"/>
          </a:solidFill>
          <a:ln w="19050">
            <a:solidFill>
              <a:schemeClr val="bg1"/>
            </a:solidFill>
            <a:prstDash val="solid"/>
          </a:ln>
        </p:spPr>
      </p:sp>
      <p:sp>
        <p:nvSpPr>
          <p:cNvPr id="29" name="Text 26"/>
          <p:cNvSpPr txBox="1"/>
          <p:nvPr/>
        </p:nvSpPr>
        <p:spPr>
          <a:xfrm>
            <a:off x="2011680" y="3685032"/>
            <a:ext cx="1828800" cy="228600"/>
          </a:xfrm>
          <a:prstGeom prst="rect">
            <a:avLst/>
          </a:prstGeom>
          <a:noFill/>
          <a:ln/>
        </p:spPr>
        <p:txBody>
          <a:bodyPr wrap="square" lIns="0" tIns="0" rIns="0" bIns="0" rtlCol="0" anchor="t"/>
          <a:lstStyle/>
          <a:p>
            <a:pPr algn="ctr" indent="0" marL="0">
              <a:buNone/>
            </a:pPr>
            <a:r>
              <a:rPr lang="en-US" sz="950" b="1" dirty="0">
                <a:solidFill>
                  <a:schemeClr val="tx1"/>
                </a:solidFill>
              </a:rPr>
              <a:t>Concurenți</a:t>
            </a:r>
            <a:endParaRPr lang="en-US" sz="9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200" b="1" dirty="0">
                <a:solidFill>
                  <a:schemeClr val="tx1"/>
                </a:solidFill>
              </a:rPr>
              <a:t>Managerul de proiect: tehnic sau om?</a:t>
            </a:r>
            <a:endParaRPr lang="en-US" sz="2200" dirty="0"/>
          </a:p>
        </p:txBody>
      </p:sp>
      <p:sp>
        <p:nvSpPr>
          <p:cNvPr id="3" name="Chip prezentator"/>
          <p:cNvSpPr/>
          <p:nvPr/>
        </p:nvSpPr>
        <p:spPr>
          <a:xfrm>
            <a:off x="7589520" y="384048"/>
            <a:ext cx="1097280" cy="292608"/>
          </a:xfrm>
          <a:prstGeom prst="roundRect">
            <a:avLst>
              <a:gd name="adj" fmla="val 50000"/>
            </a:avLst>
          </a:prstGeom>
          <a:solidFill>
            <a:schemeClr val="accent2"/>
          </a:solidFill>
          <a:ln w="12700">
            <a:solidFill>
              <a:schemeClr val="accent2"/>
            </a:solidFill>
            <a:prstDash val="solid"/>
          </a:ln>
        </p:spPr>
      </p:sp>
      <p:sp>
        <p:nvSpPr>
          <p:cNvPr id="4" name="Text prezentator"/>
          <p:cNvSpPr txBox="1"/>
          <p:nvPr/>
        </p:nvSpPr>
        <p:spPr>
          <a:xfrm>
            <a:off x="7589520" y="384048"/>
            <a:ext cx="1097280" cy="292608"/>
          </a:xfrm>
          <a:prstGeom prst="rect">
            <a:avLst/>
          </a:prstGeom>
          <a:noFill/>
          <a:ln/>
        </p:spPr>
        <p:txBody>
          <a:bodyPr wrap="square" lIns="0" tIns="0" rIns="0" bIns="0" rtlCol="0" anchor="ctr"/>
          <a:lstStyle/>
          <a:p>
            <a:pPr algn="ctr" indent="0" marL="0">
              <a:buNone/>
            </a:pPr>
            <a:r>
              <a:rPr lang="en-US" sz="1100" b="1" dirty="0">
                <a:solidFill>
                  <a:schemeClr val="bg1"/>
                </a:solidFill>
              </a:rPr>
              <a:t>B  ·  1,5'</a:t>
            </a:r>
            <a:endParaRPr lang="en-US" sz="1100" dirty="0"/>
          </a:p>
        </p:txBody>
      </p:sp>
      <p:sp>
        <p:nvSpPr>
          <p:cNvPr id="6" name="Card competente Oameni"/>
          <p:cNvSpPr/>
          <p:nvPr/>
        </p:nvSpPr>
        <p:spPr>
          <a:xfrm>
            <a:off x="457200" y="1143000"/>
            <a:ext cx="2651760" cy="2377440"/>
          </a:xfrm>
          <a:prstGeom prst="roundRect">
            <a:avLst>
              <a:gd name="adj" fmla="val 3846"/>
            </a:avLst>
          </a:prstGeom>
          <a:solidFill>
            <a:schemeClr val="bg2"/>
          </a:solidFill>
          <a:ln w="12700">
            <a:solidFill>
              <a:schemeClr val="bg2"/>
            </a:solidFill>
            <a:prstDash val="solid"/>
          </a:ln>
        </p:spPr>
      </p:sp>
      <p:sp>
        <p:nvSpPr>
          <p:cNvPr id="7" name="Icon competente Oameni cerc"/>
          <p:cNvSpPr/>
          <p:nvPr/>
        </p:nvSpPr>
        <p:spPr>
          <a:xfrm>
            <a:off x="594360" y="1280160"/>
            <a:ext cx="502920" cy="502920"/>
          </a:xfrm>
          <a:prstGeom prst="ellipse">
            <a:avLst/>
          </a:prstGeom>
          <a:solidFill>
            <a:schemeClr val="accent4"/>
          </a:solidFill>
          <a:ln w="12700">
            <a:solidFill>
              <a:schemeClr val="accent4"/>
            </a:solidFill>
            <a:prstDash val="solid"/>
          </a:ln>
        </p:spPr>
      </p:sp>
      <p:pic>
        <p:nvPicPr>
          <p:cNvPr id="8" name="Icon competente Oameni" descr="preencoded.png">    </p:cNvPr>
          <p:cNvPicPr>
            <a:picLocks noChangeAspect="1"/>
          </p:cNvPicPr>
          <p:nvPr/>
        </p:nvPicPr>
        <p:blipFill>
          <a:blip r:embed="rId1"/>
          <a:stretch>
            <a:fillRect/>
          </a:stretch>
        </p:blipFill>
        <p:spPr>
          <a:xfrm>
            <a:off x="725119" y="1410919"/>
            <a:ext cx="241402" cy="241402"/>
          </a:xfrm>
          <a:prstGeom prst="rect">
            <a:avLst/>
          </a:prstGeom>
        </p:spPr>
      </p:pic>
      <p:sp>
        <p:nvSpPr>
          <p:cNvPr id="9" name="Text 5"/>
          <p:cNvSpPr txBox="1"/>
          <p:nvPr/>
        </p:nvSpPr>
        <p:spPr>
          <a:xfrm>
            <a:off x="1234440" y="1280160"/>
            <a:ext cx="1783080" cy="502920"/>
          </a:xfrm>
          <a:prstGeom prst="rect">
            <a:avLst/>
          </a:prstGeom>
          <a:noFill/>
          <a:ln/>
        </p:spPr>
        <p:txBody>
          <a:bodyPr wrap="square" lIns="0" tIns="0" rIns="0" bIns="0" rtlCol="0" anchor="ctr"/>
          <a:lstStyle/>
          <a:p>
            <a:pPr indent="0" marL="0">
              <a:buNone/>
            </a:pPr>
            <a:r>
              <a:rPr lang="en-US" sz="1600" b="1" dirty="0">
                <a:solidFill>
                  <a:schemeClr val="tx1"/>
                </a:solidFill>
              </a:rPr>
              <a:t>Oameni</a:t>
            </a:r>
            <a:endParaRPr lang="en-US" sz="1600" dirty="0"/>
          </a:p>
        </p:txBody>
      </p:sp>
      <p:sp>
        <p:nvSpPr>
          <p:cNvPr id="10" name="Text 6"/>
          <p:cNvSpPr txBox="1"/>
          <p:nvPr/>
        </p:nvSpPr>
        <p:spPr>
          <a:xfrm>
            <a:off x="640080" y="1920240"/>
            <a:ext cx="2331720" cy="15087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Comunicare și negociere</a:t>
            </a:r>
            <a:endParaRPr lang="en-US" sz="1300" dirty="0"/>
          </a:p>
          <a:p>
            <a:pPr marL="342900" indent="-342900">
              <a:spcAft>
                <a:spcPts val="500"/>
              </a:spcAft>
              <a:buSzPct val="100000"/>
              <a:buChar char="•"/>
            </a:pPr>
            <a:r>
              <a:rPr lang="en-US" sz="1300" dirty="0">
                <a:solidFill>
                  <a:schemeClr val="tx1"/>
                </a:solidFill>
              </a:rPr>
              <a:t>Abilități de leader</a:t>
            </a:r>
            <a:endParaRPr lang="en-US" sz="1300" dirty="0"/>
          </a:p>
          <a:p>
            <a:pPr marL="342900" indent="-342900">
              <a:spcAft>
                <a:spcPts val="500"/>
              </a:spcAft>
              <a:buSzPct val="100000"/>
              <a:buChar char="•"/>
            </a:pPr>
            <a:r>
              <a:rPr lang="en-US" sz="1300" dirty="0">
                <a:solidFill>
                  <a:schemeClr val="tx1"/>
                </a:solidFill>
              </a:rPr>
              <a:t>Bun simț și stil</a:t>
            </a:r>
            <a:endParaRPr lang="en-US" sz="1300" dirty="0"/>
          </a:p>
        </p:txBody>
      </p:sp>
      <p:sp>
        <p:nvSpPr>
          <p:cNvPr id="11" name="Card competente Mindset"/>
          <p:cNvSpPr/>
          <p:nvPr/>
        </p:nvSpPr>
        <p:spPr>
          <a:xfrm>
            <a:off x="3246120" y="1143000"/>
            <a:ext cx="2651760" cy="2377440"/>
          </a:xfrm>
          <a:prstGeom prst="roundRect">
            <a:avLst>
              <a:gd name="adj" fmla="val 3846"/>
            </a:avLst>
          </a:prstGeom>
          <a:solidFill>
            <a:schemeClr val="bg2"/>
          </a:solidFill>
          <a:ln w="12700">
            <a:solidFill>
              <a:schemeClr val="bg2"/>
            </a:solidFill>
            <a:prstDash val="solid"/>
          </a:ln>
        </p:spPr>
      </p:sp>
      <p:sp>
        <p:nvSpPr>
          <p:cNvPr id="12" name="Icon competente Mindset cerc"/>
          <p:cNvSpPr/>
          <p:nvPr/>
        </p:nvSpPr>
        <p:spPr>
          <a:xfrm>
            <a:off x="3383280" y="1280160"/>
            <a:ext cx="502920" cy="502920"/>
          </a:xfrm>
          <a:prstGeom prst="ellipse">
            <a:avLst/>
          </a:prstGeom>
          <a:solidFill>
            <a:schemeClr val="accent2"/>
          </a:solidFill>
          <a:ln w="12700">
            <a:solidFill>
              <a:schemeClr val="accent2"/>
            </a:solidFill>
            <a:prstDash val="solid"/>
          </a:ln>
        </p:spPr>
      </p:sp>
      <p:pic>
        <p:nvPicPr>
          <p:cNvPr id="13" name="Icon competente Mindset" descr="preencoded.png">    </p:cNvPr>
          <p:cNvPicPr>
            <a:picLocks noChangeAspect="1"/>
          </p:cNvPicPr>
          <p:nvPr/>
        </p:nvPicPr>
        <p:blipFill>
          <a:blip r:embed="rId2"/>
          <a:stretch>
            <a:fillRect/>
          </a:stretch>
        </p:blipFill>
        <p:spPr>
          <a:xfrm>
            <a:off x="3514039" y="1410919"/>
            <a:ext cx="241402" cy="241402"/>
          </a:xfrm>
          <a:prstGeom prst="rect">
            <a:avLst/>
          </a:prstGeom>
        </p:spPr>
      </p:pic>
      <p:sp>
        <p:nvSpPr>
          <p:cNvPr id="14" name="Text 9"/>
          <p:cNvSpPr txBox="1"/>
          <p:nvPr/>
        </p:nvSpPr>
        <p:spPr>
          <a:xfrm>
            <a:off x="4023360" y="1280160"/>
            <a:ext cx="1783080" cy="502920"/>
          </a:xfrm>
          <a:prstGeom prst="rect">
            <a:avLst/>
          </a:prstGeom>
          <a:noFill/>
          <a:ln/>
        </p:spPr>
        <p:txBody>
          <a:bodyPr wrap="square" lIns="0" tIns="0" rIns="0" bIns="0" rtlCol="0" anchor="ctr"/>
          <a:lstStyle/>
          <a:p>
            <a:pPr indent="0" marL="0">
              <a:buNone/>
            </a:pPr>
            <a:r>
              <a:rPr lang="en-US" sz="1600" b="1" dirty="0">
                <a:solidFill>
                  <a:schemeClr val="tx1"/>
                </a:solidFill>
              </a:rPr>
              <a:t>Mindset</a:t>
            </a:r>
            <a:endParaRPr lang="en-US" sz="1600" dirty="0"/>
          </a:p>
        </p:txBody>
      </p:sp>
      <p:sp>
        <p:nvSpPr>
          <p:cNvPr id="15" name="Text 10"/>
          <p:cNvSpPr txBox="1"/>
          <p:nvPr/>
        </p:nvSpPr>
        <p:spPr>
          <a:xfrm>
            <a:off x="3429000" y="1920240"/>
            <a:ext cx="2331720" cy="15087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Orientare către scop</a:t>
            </a:r>
            <a:endParaRPr lang="en-US" sz="1300" dirty="0"/>
          </a:p>
          <a:p>
            <a:pPr marL="342900" indent="-342900">
              <a:spcAft>
                <a:spcPts val="500"/>
              </a:spcAft>
              <a:buSzPct val="100000"/>
              <a:buChar char="•"/>
            </a:pPr>
            <a:r>
              <a:rPr lang="en-US" sz="1300" dirty="0">
                <a:solidFill>
                  <a:schemeClr val="tx1"/>
                </a:solidFill>
              </a:rPr>
              <a:t>Predispoziție către risc</a:t>
            </a:r>
            <a:endParaRPr lang="en-US" sz="1300" dirty="0"/>
          </a:p>
          <a:p>
            <a:pPr marL="342900" indent="-342900">
              <a:spcAft>
                <a:spcPts val="500"/>
              </a:spcAft>
              <a:buSzPct val="100000"/>
              <a:buChar char="•"/>
            </a:pPr>
            <a:r>
              <a:rPr lang="en-US" sz="1300" dirty="0">
                <a:solidFill>
                  <a:schemeClr val="tx1"/>
                </a:solidFill>
              </a:rPr>
              <a:t>Gândire creativă</a:t>
            </a:r>
            <a:endParaRPr lang="en-US" sz="1300" dirty="0"/>
          </a:p>
          <a:p>
            <a:pPr marL="342900" indent="-342900">
              <a:spcAft>
                <a:spcPts val="500"/>
              </a:spcAft>
              <a:buSzPct val="100000"/>
              <a:buChar char="•"/>
            </a:pPr>
            <a:r>
              <a:rPr lang="en-US" sz="1300" dirty="0">
                <a:solidFill>
                  <a:schemeClr val="tx1"/>
                </a:solidFill>
              </a:rPr>
              <a:t>Corectitudine profesională</a:t>
            </a:r>
            <a:endParaRPr lang="en-US" sz="1300" dirty="0"/>
          </a:p>
        </p:txBody>
      </p:sp>
      <p:sp>
        <p:nvSpPr>
          <p:cNvPr id="16" name="Card competente Tehnic"/>
          <p:cNvSpPr/>
          <p:nvPr/>
        </p:nvSpPr>
        <p:spPr>
          <a:xfrm>
            <a:off x="6035040" y="1143000"/>
            <a:ext cx="2651760" cy="2377440"/>
          </a:xfrm>
          <a:prstGeom prst="roundRect">
            <a:avLst>
              <a:gd name="adj" fmla="val 3846"/>
            </a:avLst>
          </a:prstGeom>
          <a:solidFill>
            <a:schemeClr val="bg2"/>
          </a:solidFill>
          <a:ln w="12700">
            <a:solidFill>
              <a:schemeClr val="bg2"/>
            </a:solidFill>
            <a:prstDash val="solid"/>
          </a:ln>
        </p:spPr>
      </p:sp>
      <p:sp>
        <p:nvSpPr>
          <p:cNvPr id="17" name="Icon competente Tehnic cerc"/>
          <p:cNvSpPr/>
          <p:nvPr/>
        </p:nvSpPr>
        <p:spPr>
          <a:xfrm>
            <a:off x="6172200" y="1280160"/>
            <a:ext cx="502920" cy="502920"/>
          </a:xfrm>
          <a:prstGeom prst="ellipse">
            <a:avLst/>
          </a:prstGeom>
          <a:solidFill>
            <a:schemeClr val="accent3"/>
          </a:solidFill>
          <a:ln w="12700">
            <a:solidFill>
              <a:schemeClr val="accent3"/>
            </a:solidFill>
            <a:prstDash val="solid"/>
          </a:ln>
        </p:spPr>
      </p:sp>
      <p:pic>
        <p:nvPicPr>
          <p:cNvPr id="18" name="Icon competente Tehnic" descr="preencoded.png">    </p:cNvPr>
          <p:cNvPicPr>
            <a:picLocks noChangeAspect="1"/>
          </p:cNvPicPr>
          <p:nvPr/>
        </p:nvPicPr>
        <p:blipFill>
          <a:blip r:embed="rId3"/>
          <a:stretch>
            <a:fillRect/>
          </a:stretch>
        </p:blipFill>
        <p:spPr>
          <a:xfrm>
            <a:off x="6302959" y="1410919"/>
            <a:ext cx="241402" cy="241402"/>
          </a:xfrm>
          <a:prstGeom prst="rect">
            <a:avLst/>
          </a:prstGeom>
        </p:spPr>
      </p:pic>
      <p:sp>
        <p:nvSpPr>
          <p:cNvPr id="19" name="Text 13"/>
          <p:cNvSpPr txBox="1"/>
          <p:nvPr/>
        </p:nvSpPr>
        <p:spPr>
          <a:xfrm>
            <a:off x="6812280" y="1280160"/>
            <a:ext cx="1783080" cy="502920"/>
          </a:xfrm>
          <a:prstGeom prst="rect">
            <a:avLst/>
          </a:prstGeom>
          <a:noFill/>
          <a:ln/>
        </p:spPr>
        <p:txBody>
          <a:bodyPr wrap="square" lIns="0" tIns="0" rIns="0" bIns="0" rtlCol="0" anchor="ctr"/>
          <a:lstStyle/>
          <a:p>
            <a:pPr indent="0" marL="0">
              <a:buNone/>
            </a:pPr>
            <a:r>
              <a:rPr lang="en-US" sz="1600" b="1" dirty="0">
                <a:solidFill>
                  <a:schemeClr val="tx1"/>
                </a:solidFill>
              </a:rPr>
              <a:t>Tehnic</a:t>
            </a:r>
            <a:endParaRPr lang="en-US" sz="1600" dirty="0"/>
          </a:p>
        </p:txBody>
      </p:sp>
      <p:sp>
        <p:nvSpPr>
          <p:cNvPr id="20" name="Text 14"/>
          <p:cNvSpPr txBox="1"/>
          <p:nvPr/>
        </p:nvSpPr>
        <p:spPr>
          <a:xfrm>
            <a:off x="6217920" y="1920240"/>
            <a:ext cx="2331720" cy="15087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Cunoștințe tehnice solide</a:t>
            </a:r>
            <a:endParaRPr lang="en-US" sz="1300" dirty="0"/>
          </a:p>
        </p:txBody>
      </p:sp>
      <p:sp>
        <p:nvSpPr>
          <p:cNvPr id="21" name="Bara poll"/>
          <p:cNvSpPr/>
          <p:nvPr/>
        </p:nvSpPr>
        <p:spPr>
          <a:xfrm>
            <a:off x="457200" y="3886200"/>
            <a:ext cx="8229600" cy="731520"/>
          </a:xfrm>
          <a:prstGeom prst="roundRect">
            <a:avLst>
              <a:gd name="adj" fmla="val 12500"/>
            </a:avLst>
          </a:prstGeom>
          <a:solidFill>
            <a:schemeClr val="tx1"/>
          </a:solidFill>
          <a:ln w="12700">
            <a:solidFill>
              <a:schemeClr val="tx1"/>
            </a:solidFill>
            <a:prstDash val="solid"/>
          </a:ln>
        </p:spPr>
      </p:sp>
      <p:sp>
        <p:nvSpPr>
          <p:cNvPr id="22" name="Eticheta poll"/>
          <p:cNvSpPr txBox="1"/>
          <p:nvPr/>
        </p:nvSpPr>
        <p:spPr>
          <a:xfrm>
            <a:off x="640080" y="3886200"/>
            <a:ext cx="1188720" cy="731520"/>
          </a:xfrm>
          <a:prstGeom prst="rect">
            <a:avLst/>
          </a:prstGeom>
          <a:noFill/>
          <a:ln/>
        </p:spPr>
        <p:txBody>
          <a:bodyPr wrap="square" lIns="0" tIns="0" rIns="0" bIns="0" rtlCol="0" anchor="ctr"/>
          <a:lstStyle/>
          <a:p>
            <a:pPr indent="0" marL="0">
              <a:buNone/>
            </a:pPr>
            <a:r>
              <a:rPr lang="en-US" sz="1200" b="1" dirty="0">
                <a:solidFill>
                  <a:schemeClr val="accent1"/>
                </a:solidFill>
              </a:rPr>
              <a:t>POLL</a:t>
            </a:r>
            <a:endParaRPr lang="en-US" sz="1200" dirty="0"/>
          </a:p>
          <a:p>
            <a:pPr indent="0" marL="0">
              <a:buNone/>
            </a:pPr>
            <a:r>
              <a:rPr lang="en-US" sz="1000" dirty="0">
                <a:solidFill>
                  <a:schemeClr val="accent1"/>
                </a:solidFill>
              </a:rPr>
              <a:t>Întrebarea 4</a:t>
            </a:r>
            <a:endParaRPr lang="en-US" sz="1200" dirty="0"/>
          </a:p>
        </p:txBody>
      </p:sp>
      <p:sp>
        <p:nvSpPr>
          <p:cNvPr id="23" name="Text poll"/>
          <p:cNvSpPr txBox="1"/>
          <p:nvPr/>
        </p:nvSpPr>
        <p:spPr>
          <a:xfrm>
            <a:off x="1874520" y="3886200"/>
            <a:ext cx="6583680" cy="731520"/>
          </a:xfrm>
          <a:prstGeom prst="rect">
            <a:avLst/>
          </a:prstGeom>
          <a:noFill/>
          <a:ln/>
        </p:spPr>
        <p:txBody>
          <a:bodyPr wrap="square" lIns="0" tIns="0" rIns="0" bIns="0" rtlCol="0" anchor="ctr"/>
          <a:lstStyle/>
          <a:p>
            <a:pPr indent="0" marL="0">
              <a:buNone/>
            </a:pPr>
            <a:r>
              <a:rPr lang="en-US" sz="1400" dirty="0">
                <a:solidFill>
                  <a:schemeClr val="bg1"/>
                </a:solidFill>
              </a:rPr>
              <a:t>Ce manager de proiect alegi: tehnician genial cu comunicare slabă sau comunicator excelent cu tehnic mediu?</a:t>
            </a:r>
            <a:endParaRPr lang="en-US" sz="1400" dirty="0"/>
          </a:p>
          <a:p>
            <a:pPr indent="0" marL="0">
              <a:buNone/>
            </a:pPr>
            <a:r>
              <a:rPr lang="en-US" sz="900" dirty="0">
                <a:solidFill>
                  <a:schemeClr val="accent6"/>
                </a:solidFill>
              </a:rPr>
              <a:t>Votați de pe telefon, în pagina de poll deschisă după scanarea codului</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200" b="1" dirty="0">
                <a:solidFill>
                  <a:schemeClr val="tx1"/>
                </a:solidFill>
              </a:rPr>
              <a:t>Un mic exercițiu de gândire</a:t>
            </a:r>
            <a:endParaRPr lang="en-US" sz="2200" dirty="0"/>
          </a:p>
        </p:txBody>
      </p:sp>
      <p:sp>
        <p:nvSpPr>
          <p:cNvPr id="3" name="Chip prezentator"/>
          <p:cNvSpPr/>
          <p:nvPr/>
        </p:nvSpPr>
        <p:spPr>
          <a:xfrm>
            <a:off x="7589520" y="384048"/>
            <a:ext cx="1097280" cy="292608"/>
          </a:xfrm>
          <a:prstGeom prst="roundRect">
            <a:avLst>
              <a:gd name="adj" fmla="val 50000"/>
            </a:avLst>
          </a:prstGeom>
          <a:solidFill>
            <a:schemeClr val="accent1"/>
          </a:solidFill>
          <a:ln w="12700">
            <a:solidFill>
              <a:schemeClr val="accent1"/>
            </a:solidFill>
            <a:prstDash val="solid"/>
          </a:ln>
        </p:spPr>
      </p:sp>
      <p:sp>
        <p:nvSpPr>
          <p:cNvPr id="4" name="Text prezentator"/>
          <p:cNvSpPr txBox="1"/>
          <p:nvPr/>
        </p:nvSpPr>
        <p:spPr>
          <a:xfrm>
            <a:off x="7589520" y="384048"/>
            <a:ext cx="1097280" cy="292608"/>
          </a:xfrm>
          <a:prstGeom prst="rect">
            <a:avLst/>
          </a:prstGeom>
          <a:noFill/>
          <a:ln/>
        </p:spPr>
        <p:txBody>
          <a:bodyPr wrap="square" lIns="0" tIns="0" rIns="0" bIns="0" rtlCol="0" anchor="ctr"/>
          <a:lstStyle/>
          <a:p>
            <a:pPr algn="ctr" indent="0" marL="0">
              <a:buNone/>
            </a:pPr>
            <a:r>
              <a:rPr lang="en-US" sz="1100" b="1" dirty="0">
                <a:solidFill>
                  <a:schemeClr val="tx1"/>
                </a:solidFill>
              </a:rPr>
              <a:t>A + B  ·  2'</a:t>
            </a:r>
            <a:endParaRPr lang="en-US" sz="1100" dirty="0"/>
          </a:p>
        </p:txBody>
      </p:sp>
      <p:sp>
        <p:nvSpPr>
          <p:cNvPr id="6" name="Cerc intrebare"/>
          <p:cNvSpPr/>
          <p:nvPr/>
        </p:nvSpPr>
        <p:spPr>
          <a:xfrm>
            <a:off x="457200" y="1234440"/>
            <a:ext cx="914400" cy="914400"/>
          </a:xfrm>
          <a:prstGeom prst="ellipse">
            <a:avLst/>
          </a:prstGeom>
          <a:solidFill>
            <a:schemeClr val="accent1"/>
          </a:solidFill>
          <a:ln w="12700">
            <a:solidFill>
              <a:schemeClr val="accent1"/>
            </a:solidFill>
            <a:prstDash val="solid"/>
          </a:ln>
        </p:spPr>
      </p:sp>
      <p:pic>
        <p:nvPicPr>
          <p:cNvPr id="7" name="Icon intrebare" descr="preencoded.png">    </p:cNvPr>
          <p:cNvPicPr>
            <a:picLocks noChangeAspect="1"/>
          </p:cNvPicPr>
          <p:nvPr/>
        </p:nvPicPr>
        <p:blipFill>
          <a:blip r:embed="rId1"/>
          <a:stretch>
            <a:fillRect/>
          </a:stretch>
        </p:blipFill>
        <p:spPr>
          <a:xfrm>
            <a:off x="685800" y="1463040"/>
            <a:ext cx="457200" cy="457200"/>
          </a:xfrm>
          <a:prstGeom prst="rect">
            <a:avLst/>
          </a:prstGeom>
        </p:spPr>
      </p:pic>
      <p:sp>
        <p:nvSpPr>
          <p:cNvPr id="8" name="Text 4"/>
          <p:cNvSpPr txBox="1"/>
          <p:nvPr/>
        </p:nvSpPr>
        <p:spPr>
          <a:xfrm>
            <a:off x="1645920" y="1188720"/>
            <a:ext cx="7040880" cy="548640"/>
          </a:xfrm>
          <a:prstGeom prst="rect">
            <a:avLst/>
          </a:prstGeom>
          <a:noFill/>
          <a:ln/>
        </p:spPr>
        <p:txBody>
          <a:bodyPr wrap="square" lIns="0" tIns="0" rIns="0" bIns="0" rtlCol="0" anchor="t"/>
          <a:lstStyle/>
          <a:p>
            <a:pPr indent="0" marL="0">
              <a:buNone/>
            </a:pPr>
            <a:r>
              <a:rPr lang="en-US" sz="1800" dirty="0">
                <a:solidFill>
                  <a:schemeClr val="tx2"/>
                </a:solidFill>
              </a:rPr>
              <a:t>Gândiți-vă la ultimul proiect de echipă care a mers prost.</a:t>
            </a:r>
            <a:endParaRPr lang="en-US" sz="1800" dirty="0"/>
          </a:p>
        </p:txBody>
      </p:sp>
      <p:sp>
        <p:nvSpPr>
          <p:cNvPr id="9" name="Text 5"/>
          <p:cNvSpPr txBox="1"/>
          <p:nvPr/>
        </p:nvSpPr>
        <p:spPr>
          <a:xfrm>
            <a:off x="1645920" y="1691640"/>
            <a:ext cx="7040880" cy="640080"/>
          </a:xfrm>
          <a:prstGeom prst="rect">
            <a:avLst/>
          </a:prstGeom>
          <a:noFill/>
          <a:ln/>
        </p:spPr>
        <p:txBody>
          <a:bodyPr wrap="square" lIns="0" tIns="0" rIns="0" bIns="0" rtlCol="0" anchor="t"/>
          <a:lstStyle/>
          <a:p>
            <a:pPr indent="0" marL="0">
              <a:buNone/>
            </a:pPr>
            <a:r>
              <a:rPr lang="en-US" sz="3000" b="1" dirty="0">
                <a:solidFill>
                  <a:schemeClr val="tx1"/>
                </a:solidFill>
              </a:rPr>
              <a:t>Ce a lipsit cel mai mult?</a:t>
            </a:r>
            <a:endParaRPr lang="en-US" sz="3000" dirty="0"/>
          </a:p>
        </p:txBody>
      </p:sp>
      <p:sp>
        <p:nvSpPr>
          <p:cNvPr id="10" name="Card varianta 1"/>
          <p:cNvSpPr/>
          <p:nvPr/>
        </p:nvSpPr>
        <p:spPr>
          <a:xfrm>
            <a:off x="457200" y="2560320"/>
            <a:ext cx="2651760" cy="1188720"/>
          </a:xfrm>
          <a:prstGeom prst="roundRect">
            <a:avLst>
              <a:gd name="adj" fmla="val 7692"/>
            </a:avLst>
          </a:prstGeom>
          <a:solidFill>
            <a:schemeClr val="bg2"/>
          </a:solidFill>
          <a:ln w="12700">
            <a:solidFill>
              <a:schemeClr val="bg2"/>
            </a:solidFill>
            <a:prstDash val="solid"/>
          </a:ln>
        </p:spPr>
      </p:sp>
      <p:sp>
        <p:nvSpPr>
          <p:cNvPr id="11" name="Icon varianta 1 cerc"/>
          <p:cNvSpPr/>
          <p:nvPr/>
        </p:nvSpPr>
        <p:spPr>
          <a:xfrm>
            <a:off x="594360" y="2697480"/>
            <a:ext cx="502920" cy="502920"/>
          </a:xfrm>
          <a:prstGeom prst="ellipse">
            <a:avLst/>
          </a:prstGeom>
          <a:solidFill>
            <a:schemeClr val="accent4"/>
          </a:solidFill>
          <a:ln w="12700">
            <a:solidFill>
              <a:schemeClr val="accent4"/>
            </a:solidFill>
            <a:prstDash val="solid"/>
          </a:ln>
        </p:spPr>
      </p:sp>
      <p:pic>
        <p:nvPicPr>
          <p:cNvPr id="12" name="Icon varianta 1" descr="preencoded.png">    </p:cNvPr>
          <p:cNvPicPr>
            <a:picLocks noChangeAspect="1"/>
          </p:cNvPicPr>
          <p:nvPr/>
        </p:nvPicPr>
        <p:blipFill>
          <a:blip r:embed="rId2"/>
          <a:stretch>
            <a:fillRect/>
          </a:stretch>
        </p:blipFill>
        <p:spPr>
          <a:xfrm>
            <a:off x="725119" y="2828239"/>
            <a:ext cx="241402" cy="241402"/>
          </a:xfrm>
          <a:prstGeom prst="rect">
            <a:avLst/>
          </a:prstGeom>
        </p:spPr>
      </p:pic>
      <p:sp>
        <p:nvSpPr>
          <p:cNvPr id="13" name="Text 8"/>
          <p:cNvSpPr txBox="1"/>
          <p:nvPr/>
        </p:nvSpPr>
        <p:spPr>
          <a:xfrm>
            <a:off x="1234440" y="2697480"/>
            <a:ext cx="1783080" cy="502920"/>
          </a:xfrm>
          <a:prstGeom prst="rect">
            <a:avLst/>
          </a:prstGeom>
          <a:noFill/>
          <a:ln/>
        </p:spPr>
        <p:txBody>
          <a:bodyPr wrap="square" lIns="0" tIns="0" rIns="0" bIns="0" rtlCol="0" anchor="ctr"/>
          <a:lstStyle/>
          <a:p>
            <a:pPr indent="0" marL="0">
              <a:buNone/>
            </a:pPr>
            <a:r>
              <a:rPr lang="en-US" sz="1400" b="1" dirty="0">
                <a:solidFill>
                  <a:schemeClr val="tx1"/>
                </a:solidFill>
              </a:rPr>
              <a:t>Un plan clar</a:t>
            </a:r>
            <a:endParaRPr lang="en-US" sz="1400" dirty="0"/>
          </a:p>
        </p:txBody>
      </p:sp>
      <p:sp>
        <p:nvSpPr>
          <p:cNvPr id="14" name="Text 9"/>
          <p:cNvSpPr txBox="1"/>
          <p:nvPr/>
        </p:nvSpPr>
        <p:spPr>
          <a:xfrm>
            <a:off x="594360" y="3291840"/>
            <a:ext cx="2423160" cy="411480"/>
          </a:xfrm>
          <a:prstGeom prst="rect">
            <a:avLst/>
          </a:prstGeom>
          <a:noFill/>
          <a:ln/>
        </p:spPr>
        <p:txBody>
          <a:bodyPr wrap="square" lIns="0" tIns="0" rIns="0" bIns="0" rtlCol="0" anchor="t"/>
          <a:lstStyle/>
          <a:p>
            <a:pPr indent="0" marL="0">
              <a:buNone/>
            </a:pPr>
            <a:r>
              <a:rPr lang="en-US" sz="1100" dirty="0">
                <a:solidFill>
                  <a:schemeClr val="tx2"/>
                </a:solidFill>
              </a:rPr>
              <a:t>Cine face ce, până când</a:t>
            </a:r>
            <a:endParaRPr lang="en-US" sz="1100" dirty="0"/>
          </a:p>
        </p:txBody>
      </p:sp>
      <p:sp>
        <p:nvSpPr>
          <p:cNvPr id="15" name="Card varianta 2"/>
          <p:cNvSpPr/>
          <p:nvPr/>
        </p:nvSpPr>
        <p:spPr>
          <a:xfrm>
            <a:off x="3246120" y="2560320"/>
            <a:ext cx="2651760" cy="1188720"/>
          </a:xfrm>
          <a:prstGeom prst="roundRect">
            <a:avLst>
              <a:gd name="adj" fmla="val 7692"/>
            </a:avLst>
          </a:prstGeom>
          <a:solidFill>
            <a:schemeClr val="bg2"/>
          </a:solidFill>
          <a:ln w="12700">
            <a:solidFill>
              <a:schemeClr val="bg2"/>
            </a:solidFill>
            <a:prstDash val="solid"/>
          </a:ln>
        </p:spPr>
      </p:sp>
      <p:sp>
        <p:nvSpPr>
          <p:cNvPr id="16" name="Icon varianta 2 cerc"/>
          <p:cNvSpPr/>
          <p:nvPr/>
        </p:nvSpPr>
        <p:spPr>
          <a:xfrm>
            <a:off x="3383280" y="2697480"/>
            <a:ext cx="502920" cy="502920"/>
          </a:xfrm>
          <a:prstGeom prst="ellipse">
            <a:avLst/>
          </a:prstGeom>
          <a:solidFill>
            <a:schemeClr val="accent2"/>
          </a:solidFill>
          <a:ln w="12700">
            <a:solidFill>
              <a:schemeClr val="accent2"/>
            </a:solidFill>
            <a:prstDash val="solid"/>
          </a:ln>
        </p:spPr>
      </p:sp>
      <p:pic>
        <p:nvPicPr>
          <p:cNvPr id="17" name="Icon varianta 2" descr="preencoded.png">    </p:cNvPr>
          <p:cNvPicPr>
            <a:picLocks noChangeAspect="1"/>
          </p:cNvPicPr>
          <p:nvPr/>
        </p:nvPicPr>
        <p:blipFill>
          <a:blip r:embed="rId3"/>
          <a:stretch>
            <a:fillRect/>
          </a:stretch>
        </p:blipFill>
        <p:spPr>
          <a:xfrm>
            <a:off x="3514039" y="2828239"/>
            <a:ext cx="241402" cy="241402"/>
          </a:xfrm>
          <a:prstGeom prst="rect">
            <a:avLst/>
          </a:prstGeom>
        </p:spPr>
      </p:pic>
      <p:sp>
        <p:nvSpPr>
          <p:cNvPr id="18" name="Text 12"/>
          <p:cNvSpPr txBox="1"/>
          <p:nvPr/>
        </p:nvSpPr>
        <p:spPr>
          <a:xfrm>
            <a:off x="4023360" y="2697480"/>
            <a:ext cx="1783080" cy="502920"/>
          </a:xfrm>
          <a:prstGeom prst="rect">
            <a:avLst/>
          </a:prstGeom>
          <a:noFill/>
          <a:ln/>
        </p:spPr>
        <p:txBody>
          <a:bodyPr wrap="square" lIns="0" tIns="0" rIns="0" bIns="0" rtlCol="0" anchor="ctr"/>
          <a:lstStyle/>
          <a:p>
            <a:pPr indent="0" marL="0">
              <a:buNone/>
            </a:pPr>
            <a:r>
              <a:rPr lang="en-US" sz="1400" b="1" dirty="0">
                <a:solidFill>
                  <a:schemeClr val="tx1"/>
                </a:solidFill>
              </a:rPr>
              <a:t>Un stakeholder implicat</a:t>
            </a:r>
            <a:endParaRPr lang="en-US" sz="1400" dirty="0"/>
          </a:p>
        </p:txBody>
      </p:sp>
      <p:sp>
        <p:nvSpPr>
          <p:cNvPr id="19" name="Text 13"/>
          <p:cNvSpPr txBox="1"/>
          <p:nvPr/>
        </p:nvSpPr>
        <p:spPr>
          <a:xfrm>
            <a:off x="3383280" y="3291840"/>
            <a:ext cx="2423160" cy="411480"/>
          </a:xfrm>
          <a:prstGeom prst="rect">
            <a:avLst/>
          </a:prstGeom>
          <a:noFill/>
          <a:ln/>
        </p:spPr>
        <p:txBody>
          <a:bodyPr wrap="square" lIns="0" tIns="0" rIns="0" bIns="0" rtlCol="0" anchor="t"/>
          <a:lstStyle/>
          <a:p>
            <a:pPr indent="0" marL="0">
              <a:buNone/>
            </a:pPr>
            <a:r>
              <a:rPr lang="en-US" sz="1100" dirty="0">
                <a:solidFill>
                  <a:schemeClr val="tx2"/>
                </a:solidFill>
              </a:rPr>
              <a:t>Cineva important a apărut prea târziu</a:t>
            </a:r>
            <a:endParaRPr lang="en-US" sz="1100" dirty="0"/>
          </a:p>
        </p:txBody>
      </p:sp>
      <p:sp>
        <p:nvSpPr>
          <p:cNvPr id="20" name="Card varianta 3"/>
          <p:cNvSpPr/>
          <p:nvPr/>
        </p:nvSpPr>
        <p:spPr>
          <a:xfrm>
            <a:off x="6035040" y="2560320"/>
            <a:ext cx="2651760" cy="1188720"/>
          </a:xfrm>
          <a:prstGeom prst="roundRect">
            <a:avLst>
              <a:gd name="adj" fmla="val 7692"/>
            </a:avLst>
          </a:prstGeom>
          <a:solidFill>
            <a:schemeClr val="bg2"/>
          </a:solidFill>
          <a:ln w="12700">
            <a:solidFill>
              <a:schemeClr val="bg2"/>
            </a:solidFill>
            <a:prstDash val="solid"/>
          </a:ln>
        </p:spPr>
      </p:sp>
      <p:sp>
        <p:nvSpPr>
          <p:cNvPr id="21" name="Icon varianta 3 cerc"/>
          <p:cNvSpPr/>
          <p:nvPr/>
        </p:nvSpPr>
        <p:spPr>
          <a:xfrm>
            <a:off x="6172200" y="2697480"/>
            <a:ext cx="502920" cy="502920"/>
          </a:xfrm>
          <a:prstGeom prst="ellipse">
            <a:avLst/>
          </a:prstGeom>
          <a:solidFill>
            <a:schemeClr val="accent3"/>
          </a:solidFill>
          <a:ln w="12700">
            <a:solidFill>
              <a:schemeClr val="accent3"/>
            </a:solidFill>
            <a:prstDash val="solid"/>
          </a:ln>
        </p:spPr>
      </p:sp>
      <p:pic>
        <p:nvPicPr>
          <p:cNvPr id="22" name="Icon varianta 3" descr="preencoded.png">    </p:cNvPr>
          <p:cNvPicPr>
            <a:picLocks noChangeAspect="1"/>
          </p:cNvPicPr>
          <p:nvPr/>
        </p:nvPicPr>
        <p:blipFill>
          <a:blip r:embed="rId4"/>
          <a:stretch>
            <a:fillRect/>
          </a:stretch>
        </p:blipFill>
        <p:spPr>
          <a:xfrm>
            <a:off x="6302959" y="2828239"/>
            <a:ext cx="241402" cy="241402"/>
          </a:xfrm>
          <a:prstGeom prst="rect">
            <a:avLst/>
          </a:prstGeom>
        </p:spPr>
      </p:pic>
      <p:sp>
        <p:nvSpPr>
          <p:cNvPr id="23" name="Text 16"/>
          <p:cNvSpPr txBox="1"/>
          <p:nvPr/>
        </p:nvSpPr>
        <p:spPr>
          <a:xfrm>
            <a:off x="6812280" y="2697480"/>
            <a:ext cx="1783080" cy="502920"/>
          </a:xfrm>
          <a:prstGeom prst="rect">
            <a:avLst/>
          </a:prstGeom>
          <a:noFill/>
          <a:ln/>
        </p:spPr>
        <p:txBody>
          <a:bodyPr wrap="square" lIns="0" tIns="0" rIns="0" bIns="0" rtlCol="0" anchor="ctr"/>
          <a:lstStyle/>
          <a:p>
            <a:pPr indent="0" marL="0">
              <a:buNone/>
            </a:pPr>
            <a:r>
              <a:rPr lang="en-US" sz="1400" b="1" dirty="0">
                <a:solidFill>
                  <a:schemeClr val="tx1"/>
                </a:solidFill>
              </a:rPr>
              <a:t>Comunicarea în echipă</a:t>
            </a:r>
            <a:endParaRPr lang="en-US" sz="1400" dirty="0"/>
          </a:p>
        </p:txBody>
      </p:sp>
      <p:sp>
        <p:nvSpPr>
          <p:cNvPr id="24" name="Text 17"/>
          <p:cNvSpPr txBox="1"/>
          <p:nvPr/>
        </p:nvSpPr>
        <p:spPr>
          <a:xfrm>
            <a:off x="6172200" y="3291840"/>
            <a:ext cx="2423160" cy="411480"/>
          </a:xfrm>
          <a:prstGeom prst="rect">
            <a:avLst/>
          </a:prstGeom>
          <a:noFill/>
          <a:ln/>
        </p:spPr>
        <p:txBody>
          <a:bodyPr wrap="square" lIns="0" tIns="0" rIns="0" bIns="0" rtlCol="0" anchor="t"/>
          <a:lstStyle/>
          <a:p>
            <a:pPr indent="0" marL="0">
              <a:buNone/>
            </a:pPr>
            <a:r>
              <a:rPr lang="en-US" sz="1100" dirty="0">
                <a:solidFill>
                  <a:schemeClr val="tx2"/>
                </a:solidFill>
              </a:rPr>
              <a:t>Fiecare a înțeles altceva</a:t>
            </a:r>
            <a:endParaRPr lang="en-US" sz="1100" dirty="0"/>
          </a:p>
        </p:txBody>
      </p:sp>
      <p:sp>
        <p:nvSpPr>
          <p:cNvPr id="25" name="Bara poll"/>
          <p:cNvSpPr/>
          <p:nvPr/>
        </p:nvSpPr>
        <p:spPr>
          <a:xfrm>
            <a:off x="457200" y="3931920"/>
            <a:ext cx="8229600" cy="731520"/>
          </a:xfrm>
          <a:prstGeom prst="roundRect">
            <a:avLst>
              <a:gd name="adj" fmla="val 12500"/>
            </a:avLst>
          </a:prstGeom>
          <a:solidFill>
            <a:schemeClr val="tx1"/>
          </a:solidFill>
          <a:ln w="12700">
            <a:solidFill>
              <a:schemeClr val="tx1"/>
            </a:solidFill>
            <a:prstDash val="solid"/>
          </a:ln>
        </p:spPr>
      </p:sp>
      <p:sp>
        <p:nvSpPr>
          <p:cNvPr id="26" name="Eticheta poll"/>
          <p:cNvSpPr txBox="1"/>
          <p:nvPr/>
        </p:nvSpPr>
        <p:spPr>
          <a:xfrm>
            <a:off x="640080" y="3931920"/>
            <a:ext cx="1188720" cy="731520"/>
          </a:xfrm>
          <a:prstGeom prst="rect">
            <a:avLst/>
          </a:prstGeom>
          <a:noFill/>
          <a:ln/>
        </p:spPr>
        <p:txBody>
          <a:bodyPr wrap="square" lIns="0" tIns="0" rIns="0" bIns="0" rtlCol="0" anchor="ctr"/>
          <a:lstStyle/>
          <a:p>
            <a:pPr indent="0" marL="0">
              <a:buNone/>
            </a:pPr>
            <a:r>
              <a:rPr lang="en-US" sz="1200" b="1" dirty="0">
                <a:solidFill>
                  <a:schemeClr val="accent1"/>
                </a:solidFill>
              </a:rPr>
              <a:t>POLL</a:t>
            </a:r>
            <a:endParaRPr lang="en-US" sz="1200" dirty="0"/>
          </a:p>
          <a:p>
            <a:pPr indent="0" marL="0">
              <a:buNone/>
            </a:pPr>
            <a:r>
              <a:rPr lang="en-US" sz="1000" dirty="0">
                <a:solidFill>
                  <a:schemeClr val="accent1"/>
                </a:solidFill>
              </a:rPr>
              <a:t>Întrebarea 5</a:t>
            </a:r>
            <a:endParaRPr lang="en-US" sz="1200" dirty="0"/>
          </a:p>
        </p:txBody>
      </p:sp>
      <p:sp>
        <p:nvSpPr>
          <p:cNvPr id="27" name="Text poll"/>
          <p:cNvSpPr txBox="1"/>
          <p:nvPr/>
        </p:nvSpPr>
        <p:spPr>
          <a:xfrm>
            <a:off x="1874520" y="3931920"/>
            <a:ext cx="6583680" cy="731520"/>
          </a:xfrm>
          <a:prstGeom prst="rect">
            <a:avLst/>
          </a:prstGeom>
          <a:noFill/>
          <a:ln/>
        </p:spPr>
        <p:txBody>
          <a:bodyPr wrap="square" lIns="0" tIns="0" rIns="0" bIns="0" rtlCol="0" anchor="ctr"/>
          <a:lstStyle/>
          <a:p>
            <a:pPr indent="0" marL="0">
              <a:buNone/>
            </a:pPr>
            <a:r>
              <a:rPr lang="en-US" sz="1400" dirty="0">
                <a:solidFill>
                  <a:schemeClr val="bg1"/>
                </a:solidFill>
              </a:rPr>
              <a:t>Votați ce a lipsit cel mai mult în ultimul vostru proiect de echipă.</a:t>
            </a:r>
            <a:endParaRPr lang="en-US" sz="1400" dirty="0"/>
          </a:p>
          <a:p>
            <a:pPr indent="0" marL="0">
              <a:buNone/>
            </a:pPr>
            <a:r>
              <a:rPr lang="en-US" sz="900" dirty="0">
                <a:solidFill>
                  <a:schemeClr val="accent6"/>
                </a:solidFill>
              </a:rPr>
              <a:t>Votați de pe telefon, în pagina de poll deschisă după scanarea codului</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200" b="1" dirty="0">
                <a:solidFill>
                  <a:schemeClr val="tx1"/>
                </a:solidFill>
              </a:rPr>
              <a:t>Cadrul de gestiune a proiectului</a:t>
            </a:r>
            <a:endParaRPr lang="en-US" sz="2200" dirty="0"/>
          </a:p>
        </p:txBody>
      </p:sp>
      <p:sp>
        <p:nvSpPr>
          <p:cNvPr id="3" name="Chip prezentator"/>
          <p:cNvSpPr/>
          <p:nvPr/>
        </p:nvSpPr>
        <p:spPr>
          <a:xfrm>
            <a:off x="7589520" y="384048"/>
            <a:ext cx="1097280" cy="292608"/>
          </a:xfrm>
          <a:prstGeom prst="roundRect">
            <a:avLst>
              <a:gd name="adj" fmla="val 50000"/>
            </a:avLst>
          </a:prstGeom>
          <a:solidFill>
            <a:schemeClr val="accent1"/>
          </a:solidFill>
          <a:ln w="12700">
            <a:solidFill>
              <a:schemeClr val="accent1"/>
            </a:solidFill>
            <a:prstDash val="solid"/>
          </a:ln>
        </p:spPr>
      </p:sp>
      <p:sp>
        <p:nvSpPr>
          <p:cNvPr id="4" name="Text prezentator"/>
          <p:cNvSpPr txBox="1"/>
          <p:nvPr/>
        </p:nvSpPr>
        <p:spPr>
          <a:xfrm>
            <a:off x="7589520" y="384048"/>
            <a:ext cx="1097280" cy="292608"/>
          </a:xfrm>
          <a:prstGeom prst="rect">
            <a:avLst/>
          </a:prstGeom>
          <a:noFill/>
          <a:ln/>
        </p:spPr>
        <p:txBody>
          <a:bodyPr wrap="square" lIns="0" tIns="0" rIns="0" bIns="0" rtlCol="0" anchor="ctr"/>
          <a:lstStyle/>
          <a:p>
            <a:pPr algn="ctr" indent="0" marL="0">
              <a:buNone/>
            </a:pPr>
            <a:r>
              <a:rPr lang="en-US" sz="1100" b="1" dirty="0">
                <a:solidFill>
                  <a:schemeClr val="tx1"/>
                </a:solidFill>
              </a:rPr>
              <a:t>A + B  ·  1'</a:t>
            </a:r>
            <a:endParaRPr lang="en-US" sz="1100" dirty="0"/>
          </a:p>
        </p:txBody>
      </p:sp>
      <p:sp>
        <p:nvSpPr>
          <p:cNvPr id="6" name="Card preocupare 1"/>
          <p:cNvSpPr/>
          <p:nvPr/>
        </p:nvSpPr>
        <p:spPr>
          <a:xfrm>
            <a:off x="457200" y="1143000"/>
            <a:ext cx="1965960" cy="1097280"/>
          </a:xfrm>
          <a:prstGeom prst="roundRect">
            <a:avLst>
              <a:gd name="adj" fmla="val 8333"/>
            </a:avLst>
          </a:prstGeom>
          <a:solidFill>
            <a:schemeClr val="bg2"/>
          </a:solidFill>
          <a:ln w="12700">
            <a:solidFill>
              <a:schemeClr val="bg2"/>
            </a:solidFill>
            <a:prstDash val="solid"/>
          </a:ln>
        </p:spPr>
      </p:sp>
      <p:sp>
        <p:nvSpPr>
          <p:cNvPr id="7" name="Icon preocupare 1 cerc"/>
          <p:cNvSpPr/>
          <p:nvPr/>
        </p:nvSpPr>
        <p:spPr>
          <a:xfrm>
            <a:off x="594360" y="1280160"/>
            <a:ext cx="502920" cy="502920"/>
          </a:xfrm>
          <a:prstGeom prst="ellipse">
            <a:avLst/>
          </a:prstGeom>
          <a:solidFill>
            <a:schemeClr val="accent4"/>
          </a:solidFill>
          <a:ln w="12700">
            <a:solidFill>
              <a:schemeClr val="accent4"/>
            </a:solidFill>
            <a:prstDash val="solid"/>
          </a:ln>
        </p:spPr>
      </p:sp>
      <p:pic>
        <p:nvPicPr>
          <p:cNvPr id="8" name="Icon preocupare 1" descr="preencoded.png">    </p:cNvPr>
          <p:cNvPicPr>
            <a:picLocks noChangeAspect="1"/>
          </p:cNvPicPr>
          <p:nvPr/>
        </p:nvPicPr>
        <p:blipFill>
          <a:blip r:embed="rId1"/>
          <a:stretch>
            <a:fillRect/>
          </a:stretch>
        </p:blipFill>
        <p:spPr>
          <a:xfrm>
            <a:off x="725119" y="1410919"/>
            <a:ext cx="241402" cy="241402"/>
          </a:xfrm>
          <a:prstGeom prst="rect">
            <a:avLst/>
          </a:prstGeom>
        </p:spPr>
      </p:pic>
      <p:sp>
        <p:nvSpPr>
          <p:cNvPr id="9" name="Text 5"/>
          <p:cNvSpPr txBox="1"/>
          <p:nvPr/>
        </p:nvSpPr>
        <p:spPr>
          <a:xfrm>
            <a:off x="594360" y="1856232"/>
            <a:ext cx="1737360" cy="347472"/>
          </a:xfrm>
          <a:prstGeom prst="rect">
            <a:avLst/>
          </a:prstGeom>
          <a:noFill/>
          <a:ln/>
        </p:spPr>
        <p:txBody>
          <a:bodyPr wrap="square" lIns="0" tIns="0" rIns="0" bIns="0" rtlCol="0" anchor="t"/>
          <a:lstStyle/>
          <a:p>
            <a:pPr indent="0" marL="0">
              <a:buNone/>
            </a:pPr>
            <a:r>
              <a:rPr lang="en-US" sz="1250" b="1" dirty="0">
                <a:solidFill>
                  <a:schemeClr val="tx1"/>
                </a:solidFill>
              </a:rPr>
              <a:t>Fezabilitate</a:t>
            </a:r>
            <a:endParaRPr lang="en-US" sz="1250" dirty="0"/>
          </a:p>
        </p:txBody>
      </p:sp>
      <p:sp>
        <p:nvSpPr>
          <p:cNvPr id="10" name="Card preocupare 2"/>
          <p:cNvSpPr/>
          <p:nvPr/>
        </p:nvSpPr>
        <p:spPr>
          <a:xfrm>
            <a:off x="2542032" y="1143000"/>
            <a:ext cx="1965960" cy="1097280"/>
          </a:xfrm>
          <a:prstGeom prst="roundRect">
            <a:avLst>
              <a:gd name="adj" fmla="val 8333"/>
            </a:avLst>
          </a:prstGeom>
          <a:solidFill>
            <a:schemeClr val="bg2"/>
          </a:solidFill>
          <a:ln w="12700">
            <a:solidFill>
              <a:schemeClr val="bg2"/>
            </a:solidFill>
            <a:prstDash val="solid"/>
          </a:ln>
        </p:spPr>
      </p:sp>
      <p:sp>
        <p:nvSpPr>
          <p:cNvPr id="11" name="Icon preocupare 2 cerc"/>
          <p:cNvSpPr/>
          <p:nvPr/>
        </p:nvSpPr>
        <p:spPr>
          <a:xfrm>
            <a:off x="2679192" y="1280160"/>
            <a:ext cx="502920" cy="502920"/>
          </a:xfrm>
          <a:prstGeom prst="ellipse">
            <a:avLst/>
          </a:prstGeom>
          <a:solidFill>
            <a:schemeClr val="accent2"/>
          </a:solidFill>
          <a:ln w="12700">
            <a:solidFill>
              <a:schemeClr val="accent2"/>
            </a:solidFill>
            <a:prstDash val="solid"/>
          </a:ln>
        </p:spPr>
      </p:sp>
      <p:pic>
        <p:nvPicPr>
          <p:cNvPr id="12" name="Icon preocupare 2" descr="preencoded.png">    </p:cNvPr>
          <p:cNvPicPr>
            <a:picLocks noChangeAspect="1"/>
          </p:cNvPicPr>
          <p:nvPr/>
        </p:nvPicPr>
        <p:blipFill>
          <a:blip r:embed="rId2"/>
          <a:stretch>
            <a:fillRect/>
          </a:stretch>
        </p:blipFill>
        <p:spPr>
          <a:xfrm>
            <a:off x="2809951" y="1410919"/>
            <a:ext cx="241402" cy="241402"/>
          </a:xfrm>
          <a:prstGeom prst="rect">
            <a:avLst/>
          </a:prstGeom>
        </p:spPr>
      </p:pic>
      <p:sp>
        <p:nvSpPr>
          <p:cNvPr id="13" name="Text 8"/>
          <p:cNvSpPr txBox="1"/>
          <p:nvPr/>
        </p:nvSpPr>
        <p:spPr>
          <a:xfrm>
            <a:off x="2679192" y="1856232"/>
            <a:ext cx="1737360" cy="347472"/>
          </a:xfrm>
          <a:prstGeom prst="rect">
            <a:avLst/>
          </a:prstGeom>
          <a:noFill/>
          <a:ln/>
        </p:spPr>
        <p:txBody>
          <a:bodyPr wrap="square" lIns="0" tIns="0" rIns="0" bIns="0" rtlCol="0" anchor="t"/>
          <a:lstStyle/>
          <a:p>
            <a:pPr indent="0" marL="0">
              <a:buNone/>
            </a:pPr>
            <a:r>
              <a:rPr lang="en-US" sz="1250" b="1" dirty="0">
                <a:solidFill>
                  <a:schemeClr val="tx1"/>
                </a:solidFill>
              </a:rPr>
              <a:t>Scopuri</a:t>
            </a:r>
            <a:endParaRPr lang="en-US" sz="1250" dirty="0"/>
          </a:p>
        </p:txBody>
      </p:sp>
      <p:sp>
        <p:nvSpPr>
          <p:cNvPr id="14" name="Card preocupare 3"/>
          <p:cNvSpPr/>
          <p:nvPr/>
        </p:nvSpPr>
        <p:spPr>
          <a:xfrm>
            <a:off x="4626864" y="1143000"/>
            <a:ext cx="1965960" cy="1097280"/>
          </a:xfrm>
          <a:prstGeom prst="roundRect">
            <a:avLst>
              <a:gd name="adj" fmla="val 8333"/>
            </a:avLst>
          </a:prstGeom>
          <a:solidFill>
            <a:schemeClr val="bg2"/>
          </a:solidFill>
          <a:ln w="12700">
            <a:solidFill>
              <a:schemeClr val="bg2"/>
            </a:solidFill>
            <a:prstDash val="solid"/>
          </a:ln>
        </p:spPr>
      </p:sp>
      <p:sp>
        <p:nvSpPr>
          <p:cNvPr id="15" name="Icon preocupare 3 cerc"/>
          <p:cNvSpPr/>
          <p:nvPr/>
        </p:nvSpPr>
        <p:spPr>
          <a:xfrm>
            <a:off x="4764024" y="1280160"/>
            <a:ext cx="502920" cy="502920"/>
          </a:xfrm>
          <a:prstGeom prst="ellipse">
            <a:avLst/>
          </a:prstGeom>
          <a:solidFill>
            <a:schemeClr val="accent3"/>
          </a:solidFill>
          <a:ln w="12700">
            <a:solidFill>
              <a:schemeClr val="accent3"/>
            </a:solidFill>
            <a:prstDash val="solid"/>
          </a:ln>
        </p:spPr>
      </p:sp>
      <p:pic>
        <p:nvPicPr>
          <p:cNvPr id="16" name="Icon preocupare 3" descr="preencoded.png">    </p:cNvPr>
          <p:cNvPicPr>
            <a:picLocks noChangeAspect="1"/>
          </p:cNvPicPr>
          <p:nvPr/>
        </p:nvPicPr>
        <p:blipFill>
          <a:blip r:embed="rId3"/>
          <a:stretch>
            <a:fillRect/>
          </a:stretch>
        </p:blipFill>
        <p:spPr>
          <a:xfrm>
            <a:off x="4894783" y="1410919"/>
            <a:ext cx="241402" cy="241402"/>
          </a:xfrm>
          <a:prstGeom prst="rect">
            <a:avLst/>
          </a:prstGeom>
        </p:spPr>
      </p:pic>
      <p:sp>
        <p:nvSpPr>
          <p:cNvPr id="17" name="Text 11"/>
          <p:cNvSpPr txBox="1"/>
          <p:nvPr/>
        </p:nvSpPr>
        <p:spPr>
          <a:xfrm>
            <a:off x="4764024" y="1856232"/>
            <a:ext cx="1737360" cy="347472"/>
          </a:xfrm>
          <a:prstGeom prst="rect">
            <a:avLst/>
          </a:prstGeom>
          <a:noFill/>
          <a:ln/>
        </p:spPr>
        <p:txBody>
          <a:bodyPr wrap="square" lIns="0" tIns="0" rIns="0" bIns="0" rtlCol="0" anchor="t"/>
          <a:lstStyle/>
          <a:p>
            <a:pPr indent="0" marL="0">
              <a:buNone/>
            </a:pPr>
            <a:r>
              <a:rPr lang="en-US" sz="1250" b="1" dirty="0">
                <a:solidFill>
                  <a:schemeClr val="tx1"/>
                </a:solidFill>
              </a:rPr>
              <a:t>Timp</a:t>
            </a:r>
            <a:endParaRPr lang="en-US" sz="1250" dirty="0"/>
          </a:p>
        </p:txBody>
      </p:sp>
      <p:sp>
        <p:nvSpPr>
          <p:cNvPr id="18" name="Card preocupare 4"/>
          <p:cNvSpPr/>
          <p:nvPr/>
        </p:nvSpPr>
        <p:spPr>
          <a:xfrm>
            <a:off x="6711696" y="1143000"/>
            <a:ext cx="1965960" cy="1097280"/>
          </a:xfrm>
          <a:prstGeom prst="roundRect">
            <a:avLst>
              <a:gd name="adj" fmla="val 8333"/>
            </a:avLst>
          </a:prstGeom>
          <a:solidFill>
            <a:schemeClr val="bg2"/>
          </a:solidFill>
          <a:ln w="12700">
            <a:solidFill>
              <a:schemeClr val="bg2"/>
            </a:solidFill>
            <a:prstDash val="solid"/>
          </a:ln>
        </p:spPr>
      </p:sp>
      <p:sp>
        <p:nvSpPr>
          <p:cNvPr id="19" name="Icon preocupare 4 cerc"/>
          <p:cNvSpPr/>
          <p:nvPr/>
        </p:nvSpPr>
        <p:spPr>
          <a:xfrm>
            <a:off x="6848856" y="1280160"/>
            <a:ext cx="502920" cy="502920"/>
          </a:xfrm>
          <a:prstGeom prst="ellipse">
            <a:avLst/>
          </a:prstGeom>
          <a:solidFill>
            <a:schemeClr val="accent5"/>
          </a:solidFill>
          <a:ln w="12700">
            <a:solidFill>
              <a:schemeClr val="accent5"/>
            </a:solidFill>
            <a:prstDash val="solid"/>
          </a:ln>
        </p:spPr>
      </p:sp>
      <p:pic>
        <p:nvPicPr>
          <p:cNvPr id="20" name="Icon preocupare 4" descr="preencoded.png">    </p:cNvPr>
          <p:cNvPicPr>
            <a:picLocks noChangeAspect="1"/>
          </p:cNvPicPr>
          <p:nvPr/>
        </p:nvPicPr>
        <p:blipFill>
          <a:blip r:embed="rId4"/>
          <a:stretch>
            <a:fillRect/>
          </a:stretch>
        </p:blipFill>
        <p:spPr>
          <a:xfrm>
            <a:off x="6979615" y="1410919"/>
            <a:ext cx="241402" cy="241402"/>
          </a:xfrm>
          <a:prstGeom prst="rect">
            <a:avLst/>
          </a:prstGeom>
        </p:spPr>
      </p:pic>
      <p:sp>
        <p:nvSpPr>
          <p:cNvPr id="21" name="Text 14"/>
          <p:cNvSpPr txBox="1"/>
          <p:nvPr/>
        </p:nvSpPr>
        <p:spPr>
          <a:xfrm>
            <a:off x="6848856" y="1856232"/>
            <a:ext cx="1737360" cy="347472"/>
          </a:xfrm>
          <a:prstGeom prst="rect">
            <a:avLst/>
          </a:prstGeom>
          <a:noFill/>
          <a:ln/>
        </p:spPr>
        <p:txBody>
          <a:bodyPr wrap="square" lIns="0" tIns="0" rIns="0" bIns="0" rtlCol="0" anchor="t"/>
          <a:lstStyle/>
          <a:p>
            <a:pPr indent="0" marL="0">
              <a:buNone/>
            </a:pPr>
            <a:r>
              <a:rPr lang="en-US" sz="1250" b="1" dirty="0">
                <a:solidFill>
                  <a:schemeClr val="tx1"/>
                </a:solidFill>
              </a:rPr>
              <a:t>Costuri</a:t>
            </a:r>
            <a:endParaRPr lang="en-US" sz="1250" dirty="0"/>
          </a:p>
        </p:txBody>
      </p:sp>
      <p:sp>
        <p:nvSpPr>
          <p:cNvPr id="22" name="Card preocupare 5"/>
          <p:cNvSpPr/>
          <p:nvPr/>
        </p:nvSpPr>
        <p:spPr>
          <a:xfrm>
            <a:off x="457200" y="2377440"/>
            <a:ext cx="1965960" cy="1097280"/>
          </a:xfrm>
          <a:prstGeom prst="roundRect">
            <a:avLst>
              <a:gd name="adj" fmla="val 8333"/>
            </a:avLst>
          </a:prstGeom>
          <a:solidFill>
            <a:schemeClr val="bg2"/>
          </a:solidFill>
          <a:ln w="12700">
            <a:solidFill>
              <a:schemeClr val="bg2"/>
            </a:solidFill>
            <a:prstDash val="solid"/>
          </a:ln>
        </p:spPr>
      </p:sp>
      <p:sp>
        <p:nvSpPr>
          <p:cNvPr id="23" name="Icon preocupare 5 cerc"/>
          <p:cNvSpPr/>
          <p:nvPr/>
        </p:nvSpPr>
        <p:spPr>
          <a:xfrm>
            <a:off x="594360" y="2514600"/>
            <a:ext cx="502920" cy="502920"/>
          </a:xfrm>
          <a:prstGeom prst="ellipse">
            <a:avLst/>
          </a:prstGeom>
          <a:solidFill>
            <a:schemeClr val="accent4"/>
          </a:solidFill>
          <a:ln w="12700">
            <a:solidFill>
              <a:schemeClr val="accent4"/>
            </a:solidFill>
            <a:prstDash val="solid"/>
          </a:ln>
        </p:spPr>
      </p:sp>
      <p:pic>
        <p:nvPicPr>
          <p:cNvPr id="24" name="Icon preocupare 5" descr="preencoded.png">    </p:cNvPr>
          <p:cNvPicPr>
            <a:picLocks noChangeAspect="1"/>
          </p:cNvPicPr>
          <p:nvPr/>
        </p:nvPicPr>
        <p:blipFill>
          <a:blip r:embed="rId5"/>
          <a:stretch>
            <a:fillRect/>
          </a:stretch>
        </p:blipFill>
        <p:spPr>
          <a:xfrm>
            <a:off x="725119" y="2645359"/>
            <a:ext cx="241402" cy="241402"/>
          </a:xfrm>
          <a:prstGeom prst="rect">
            <a:avLst/>
          </a:prstGeom>
        </p:spPr>
      </p:pic>
      <p:sp>
        <p:nvSpPr>
          <p:cNvPr id="25" name="Text 17"/>
          <p:cNvSpPr txBox="1"/>
          <p:nvPr/>
        </p:nvSpPr>
        <p:spPr>
          <a:xfrm>
            <a:off x="594360" y="3090672"/>
            <a:ext cx="1737360" cy="347472"/>
          </a:xfrm>
          <a:prstGeom prst="rect">
            <a:avLst/>
          </a:prstGeom>
          <a:noFill/>
          <a:ln/>
        </p:spPr>
        <p:txBody>
          <a:bodyPr wrap="square" lIns="0" tIns="0" rIns="0" bIns="0" rtlCol="0" anchor="t"/>
          <a:lstStyle/>
          <a:p>
            <a:pPr indent="0" marL="0">
              <a:buNone/>
            </a:pPr>
            <a:r>
              <a:rPr lang="en-US" sz="1250" b="1" dirty="0">
                <a:solidFill>
                  <a:schemeClr val="tx1"/>
                </a:solidFill>
              </a:rPr>
              <a:t>Schimbări și configurații</a:t>
            </a:r>
            <a:endParaRPr lang="en-US" sz="1250" dirty="0"/>
          </a:p>
        </p:txBody>
      </p:sp>
      <p:sp>
        <p:nvSpPr>
          <p:cNvPr id="26" name="Card preocupare 6"/>
          <p:cNvSpPr/>
          <p:nvPr/>
        </p:nvSpPr>
        <p:spPr>
          <a:xfrm>
            <a:off x="2542032" y="2377440"/>
            <a:ext cx="1965960" cy="1097280"/>
          </a:xfrm>
          <a:prstGeom prst="roundRect">
            <a:avLst>
              <a:gd name="adj" fmla="val 8333"/>
            </a:avLst>
          </a:prstGeom>
          <a:solidFill>
            <a:schemeClr val="bg2"/>
          </a:solidFill>
          <a:ln w="12700">
            <a:solidFill>
              <a:schemeClr val="bg2"/>
            </a:solidFill>
            <a:prstDash val="solid"/>
          </a:ln>
        </p:spPr>
      </p:sp>
      <p:sp>
        <p:nvSpPr>
          <p:cNvPr id="27" name="Icon preocupare 6 cerc"/>
          <p:cNvSpPr/>
          <p:nvPr/>
        </p:nvSpPr>
        <p:spPr>
          <a:xfrm>
            <a:off x="2679192" y="2514600"/>
            <a:ext cx="502920" cy="502920"/>
          </a:xfrm>
          <a:prstGeom prst="ellipse">
            <a:avLst/>
          </a:prstGeom>
          <a:solidFill>
            <a:schemeClr val="accent2"/>
          </a:solidFill>
          <a:ln w="12700">
            <a:solidFill>
              <a:schemeClr val="accent2"/>
            </a:solidFill>
            <a:prstDash val="solid"/>
          </a:ln>
        </p:spPr>
      </p:sp>
      <p:pic>
        <p:nvPicPr>
          <p:cNvPr id="28" name="Icon preocupare 6" descr="preencoded.png">    </p:cNvPr>
          <p:cNvPicPr>
            <a:picLocks noChangeAspect="1"/>
          </p:cNvPicPr>
          <p:nvPr/>
        </p:nvPicPr>
        <p:blipFill>
          <a:blip r:embed="rId6"/>
          <a:stretch>
            <a:fillRect/>
          </a:stretch>
        </p:blipFill>
        <p:spPr>
          <a:xfrm>
            <a:off x="2809951" y="2645359"/>
            <a:ext cx="241402" cy="241402"/>
          </a:xfrm>
          <a:prstGeom prst="rect">
            <a:avLst/>
          </a:prstGeom>
        </p:spPr>
      </p:pic>
      <p:sp>
        <p:nvSpPr>
          <p:cNvPr id="29" name="Text 20"/>
          <p:cNvSpPr txBox="1"/>
          <p:nvPr/>
        </p:nvSpPr>
        <p:spPr>
          <a:xfrm>
            <a:off x="2679192" y="3090672"/>
            <a:ext cx="1737360" cy="347472"/>
          </a:xfrm>
          <a:prstGeom prst="rect">
            <a:avLst/>
          </a:prstGeom>
          <a:noFill/>
          <a:ln/>
        </p:spPr>
        <p:txBody>
          <a:bodyPr wrap="square" lIns="0" tIns="0" rIns="0" bIns="0" rtlCol="0" anchor="t"/>
          <a:lstStyle/>
          <a:p>
            <a:pPr indent="0" marL="0">
              <a:buNone/>
            </a:pPr>
            <a:r>
              <a:rPr lang="en-US" sz="1250" b="1" dirty="0">
                <a:solidFill>
                  <a:schemeClr val="tx1"/>
                </a:solidFill>
              </a:rPr>
              <a:t>Calitate</a:t>
            </a:r>
            <a:endParaRPr lang="en-US" sz="1250" dirty="0"/>
          </a:p>
        </p:txBody>
      </p:sp>
      <p:sp>
        <p:nvSpPr>
          <p:cNvPr id="30" name="Card preocupare 7"/>
          <p:cNvSpPr/>
          <p:nvPr/>
        </p:nvSpPr>
        <p:spPr>
          <a:xfrm>
            <a:off x="4626864" y="2377440"/>
            <a:ext cx="1965960" cy="1097280"/>
          </a:xfrm>
          <a:prstGeom prst="roundRect">
            <a:avLst>
              <a:gd name="adj" fmla="val 8333"/>
            </a:avLst>
          </a:prstGeom>
          <a:solidFill>
            <a:schemeClr val="bg2"/>
          </a:solidFill>
          <a:ln w="12700">
            <a:solidFill>
              <a:schemeClr val="bg2"/>
            </a:solidFill>
            <a:prstDash val="solid"/>
          </a:ln>
        </p:spPr>
      </p:sp>
      <p:sp>
        <p:nvSpPr>
          <p:cNvPr id="31" name="Icon preocupare 7 cerc"/>
          <p:cNvSpPr/>
          <p:nvPr/>
        </p:nvSpPr>
        <p:spPr>
          <a:xfrm>
            <a:off x="4764024" y="2514600"/>
            <a:ext cx="502920" cy="502920"/>
          </a:xfrm>
          <a:prstGeom prst="ellipse">
            <a:avLst/>
          </a:prstGeom>
          <a:solidFill>
            <a:schemeClr val="accent3"/>
          </a:solidFill>
          <a:ln w="12700">
            <a:solidFill>
              <a:schemeClr val="accent3"/>
            </a:solidFill>
            <a:prstDash val="solid"/>
          </a:ln>
        </p:spPr>
      </p:sp>
      <p:pic>
        <p:nvPicPr>
          <p:cNvPr id="32" name="Icon preocupare 7" descr="preencoded.png">    </p:cNvPr>
          <p:cNvPicPr>
            <a:picLocks noChangeAspect="1"/>
          </p:cNvPicPr>
          <p:nvPr/>
        </p:nvPicPr>
        <p:blipFill>
          <a:blip r:embed="rId7"/>
          <a:stretch>
            <a:fillRect/>
          </a:stretch>
        </p:blipFill>
        <p:spPr>
          <a:xfrm>
            <a:off x="4894783" y="2645359"/>
            <a:ext cx="241402" cy="241402"/>
          </a:xfrm>
          <a:prstGeom prst="rect">
            <a:avLst/>
          </a:prstGeom>
        </p:spPr>
      </p:pic>
      <p:sp>
        <p:nvSpPr>
          <p:cNvPr id="33" name="Text 23"/>
          <p:cNvSpPr txBox="1"/>
          <p:nvPr/>
        </p:nvSpPr>
        <p:spPr>
          <a:xfrm>
            <a:off x="4764024" y="3090672"/>
            <a:ext cx="1737360" cy="347472"/>
          </a:xfrm>
          <a:prstGeom prst="rect">
            <a:avLst/>
          </a:prstGeom>
          <a:noFill/>
          <a:ln/>
        </p:spPr>
        <p:txBody>
          <a:bodyPr wrap="square" lIns="0" tIns="0" rIns="0" bIns="0" rtlCol="0" anchor="t"/>
          <a:lstStyle/>
          <a:p>
            <a:pPr indent="0" marL="0">
              <a:buNone/>
            </a:pPr>
            <a:r>
              <a:rPr lang="en-US" sz="1250" b="1" dirty="0">
                <a:solidFill>
                  <a:schemeClr val="tx1"/>
                </a:solidFill>
              </a:rPr>
              <a:t>Riscuri</a:t>
            </a:r>
            <a:endParaRPr lang="en-US" sz="1250" dirty="0"/>
          </a:p>
        </p:txBody>
      </p:sp>
      <p:sp>
        <p:nvSpPr>
          <p:cNvPr id="34" name="Card preocupare 8"/>
          <p:cNvSpPr/>
          <p:nvPr/>
        </p:nvSpPr>
        <p:spPr>
          <a:xfrm>
            <a:off x="6711696" y="2377440"/>
            <a:ext cx="1965960" cy="1097280"/>
          </a:xfrm>
          <a:prstGeom prst="roundRect">
            <a:avLst>
              <a:gd name="adj" fmla="val 8333"/>
            </a:avLst>
          </a:prstGeom>
          <a:solidFill>
            <a:schemeClr val="bg2"/>
          </a:solidFill>
          <a:ln w="12700">
            <a:solidFill>
              <a:schemeClr val="bg2"/>
            </a:solidFill>
            <a:prstDash val="solid"/>
          </a:ln>
        </p:spPr>
      </p:sp>
      <p:sp>
        <p:nvSpPr>
          <p:cNvPr id="35" name="Icon preocupare 8 cerc"/>
          <p:cNvSpPr/>
          <p:nvPr/>
        </p:nvSpPr>
        <p:spPr>
          <a:xfrm>
            <a:off x="6848856" y="2514600"/>
            <a:ext cx="502920" cy="502920"/>
          </a:xfrm>
          <a:prstGeom prst="ellipse">
            <a:avLst/>
          </a:prstGeom>
          <a:solidFill>
            <a:schemeClr val="accent5"/>
          </a:solidFill>
          <a:ln w="12700">
            <a:solidFill>
              <a:schemeClr val="accent5"/>
            </a:solidFill>
            <a:prstDash val="solid"/>
          </a:ln>
        </p:spPr>
      </p:sp>
      <p:pic>
        <p:nvPicPr>
          <p:cNvPr id="36" name="Icon preocupare 8" descr="preencoded.png">    </p:cNvPr>
          <p:cNvPicPr>
            <a:picLocks noChangeAspect="1"/>
          </p:cNvPicPr>
          <p:nvPr/>
        </p:nvPicPr>
        <p:blipFill>
          <a:blip r:embed="rId8"/>
          <a:stretch>
            <a:fillRect/>
          </a:stretch>
        </p:blipFill>
        <p:spPr>
          <a:xfrm>
            <a:off x="6979615" y="2645359"/>
            <a:ext cx="241402" cy="241402"/>
          </a:xfrm>
          <a:prstGeom prst="rect">
            <a:avLst/>
          </a:prstGeom>
        </p:spPr>
      </p:pic>
      <p:sp>
        <p:nvSpPr>
          <p:cNvPr id="37" name="Text 26"/>
          <p:cNvSpPr txBox="1"/>
          <p:nvPr/>
        </p:nvSpPr>
        <p:spPr>
          <a:xfrm>
            <a:off x="6848856" y="3090672"/>
            <a:ext cx="1737360" cy="347472"/>
          </a:xfrm>
          <a:prstGeom prst="rect">
            <a:avLst/>
          </a:prstGeom>
          <a:noFill/>
          <a:ln/>
        </p:spPr>
        <p:txBody>
          <a:bodyPr wrap="square" lIns="0" tIns="0" rIns="0" bIns="0" rtlCol="0" anchor="t"/>
          <a:lstStyle/>
          <a:p>
            <a:pPr indent="0" marL="0">
              <a:buNone/>
            </a:pPr>
            <a:r>
              <a:rPr lang="en-US" sz="1250" b="1" dirty="0">
                <a:solidFill>
                  <a:schemeClr val="tx1"/>
                </a:solidFill>
              </a:rPr>
              <a:t>Resurse umane</a:t>
            </a:r>
            <a:endParaRPr lang="en-US" sz="1250" dirty="0"/>
          </a:p>
        </p:txBody>
      </p:sp>
      <p:sp>
        <p:nvSpPr>
          <p:cNvPr id="38" name="Card legatura cu cursul"/>
          <p:cNvSpPr/>
          <p:nvPr/>
        </p:nvSpPr>
        <p:spPr>
          <a:xfrm>
            <a:off x="457200" y="3749040"/>
            <a:ext cx="8229600" cy="822960"/>
          </a:xfrm>
          <a:prstGeom prst="roundRect">
            <a:avLst>
              <a:gd name="adj" fmla="val 11111"/>
            </a:avLst>
          </a:prstGeom>
          <a:solidFill>
            <a:schemeClr val="tx1"/>
          </a:solidFill>
          <a:ln w="12700">
            <a:solidFill>
              <a:schemeClr val="tx1"/>
            </a:solidFill>
            <a:prstDash val="solid"/>
          </a:ln>
        </p:spPr>
      </p:sp>
      <p:sp>
        <p:nvSpPr>
          <p:cNvPr id="39" name="Text 28"/>
          <p:cNvSpPr txBox="1"/>
          <p:nvPr/>
        </p:nvSpPr>
        <p:spPr>
          <a:xfrm>
            <a:off x="685800" y="3749040"/>
            <a:ext cx="7772400" cy="822960"/>
          </a:xfrm>
          <a:prstGeom prst="rect">
            <a:avLst/>
          </a:prstGeom>
          <a:noFill/>
          <a:ln/>
        </p:spPr>
        <p:txBody>
          <a:bodyPr wrap="square" lIns="0" tIns="0" rIns="0" bIns="0" rtlCol="0" anchor="ctr"/>
          <a:lstStyle/>
          <a:p>
            <a:pPr indent="0" marL="0">
              <a:buNone/>
            </a:pPr>
            <a:r>
              <a:rPr lang="en-US" sz="1300" b="1" dirty="0">
                <a:solidFill>
                  <a:schemeClr val="accent1"/>
                </a:solidFill>
              </a:rPr>
              <a:t>Gantt, CPM, PERT </a:t>
            </a:r>
            <a:pPr indent="0" marL="0">
              <a:buNone/>
            </a:pPr>
            <a:r>
              <a:rPr lang="en-US" sz="1300" dirty="0">
                <a:solidFill>
                  <a:schemeClr val="bg1"/>
                </a:solidFill>
              </a:rPr>
              <a:t>răspund la timp.  </a:t>
            </a:r>
            <a:pPr indent="0" marL="0">
              <a:buNone/>
            </a:pPr>
            <a:r>
              <a:rPr lang="en-US" sz="1300" b="1" dirty="0">
                <a:solidFill>
                  <a:schemeClr val="accent1"/>
                </a:solidFill>
              </a:rPr>
              <a:t>Stakeholderii </a:t>
            </a:r>
            <a:pPr indent="0" marL="0">
              <a:buNone/>
            </a:pPr>
            <a:r>
              <a:rPr lang="en-US" sz="1300" dirty="0">
                <a:solidFill>
                  <a:schemeClr val="bg1"/>
                </a:solidFill>
              </a:rPr>
              <a:t>leagă scopul de oameni.  </a:t>
            </a:r>
            <a:pPr indent="0" marL="0">
              <a:buNone/>
            </a:pPr>
            <a:r>
              <a:rPr lang="en-US" sz="1300" b="1" dirty="0">
                <a:solidFill>
                  <a:schemeClr val="accent1"/>
                </a:solidFill>
              </a:rPr>
              <a:t>Brooks </a:t>
            </a:r>
            <a:pPr indent="0" marL="0">
              <a:buNone/>
            </a:pPr>
            <a:r>
              <a:rPr lang="en-US" sz="1300" dirty="0">
                <a:solidFill>
                  <a:schemeClr val="bg1"/>
                </a:solidFill>
              </a:rPr>
              <a:t>arată limita resurselor umane.</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1371600"/>
          </a:xfrm>
          <a:prstGeom prst="rect">
            <a:avLst/>
          </a:prstGeom>
          <a:noFill/>
          <a:ln/>
        </p:spPr>
        <p:txBody>
          <a:bodyPr wrap="square" lIns="0" tIns="0" rIns="0" bIns="0" rtlCol="0" anchor="t"/>
          <a:lstStyle/>
          <a:p>
            <a:pPr algn="l" indent="0" marL="0">
              <a:buNone/>
            </a:pPr>
            <a:r>
              <a:rPr lang="en-US" sz="3800" b="1" dirty="0">
                <a:solidFill>
                  <a:schemeClr val="bg1"/>
                </a:solidFill>
              </a:rPr>
              <a:t>Ce luăm cu noi</a:t>
            </a:r>
            <a:endParaRPr lang="en-US" sz="3800" dirty="0"/>
          </a:p>
        </p:txBody>
      </p:sp>
      <p:sp>
        <p:nvSpPr>
          <p:cNvPr id="3" name="Card concluzie 1"/>
          <p:cNvSpPr/>
          <p:nvPr/>
        </p:nvSpPr>
        <p:spPr>
          <a:xfrm>
            <a:off x="548640" y="1737360"/>
            <a:ext cx="2606040" cy="1737360"/>
          </a:xfrm>
          <a:prstGeom prst="roundRect">
            <a:avLst>
              <a:gd name="adj" fmla="val 5263"/>
            </a:avLst>
          </a:prstGeom>
          <a:solidFill>
            <a:schemeClr val="tx2"/>
          </a:solidFill>
          <a:ln w="12700">
            <a:solidFill>
              <a:schemeClr val="tx2"/>
            </a:solidFill>
            <a:prstDash val="solid"/>
          </a:ln>
        </p:spPr>
      </p:sp>
      <p:sp>
        <p:nvSpPr>
          <p:cNvPr id="4" name="Text 2"/>
          <p:cNvSpPr txBox="1"/>
          <p:nvPr/>
        </p:nvSpPr>
        <p:spPr>
          <a:xfrm>
            <a:off x="731520" y="1828800"/>
            <a:ext cx="548640" cy="548640"/>
          </a:xfrm>
          <a:prstGeom prst="rect">
            <a:avLst/>
          </a:prstGeom>
          <a:noFill/>
          <a:ln/>
        </p:spPr>
        <p:txBody>
          <a:bodyPr wrap="square" lIns="0" tIns="0" rIns="0" bIns="0" rtlCol="0" anchor="t"/>
          <a:lstStyle/>
          <a:p>
            <a:pPr indent="0" marL="0">
              <a:buNone/>
            </a:pPr>
            <a:r>
              <a:rPr lang="en-US" sz="3200" b="1" dirty="0">
                <a:solidFill>
                  <a:schemeClr val="accent1"/>
                </a:solidFill>
              </a:rPr>
              <a:t>1</a:t>
            </a:r>
            <a:endParaRPr lang="en-US" sz="3200" dirty="0"/>
          </a:p>
        </p:txBody>
      </p:sp>
      <p:sp>
        <p:nvSpPr>
          <p:cNvPr id="5" name="Text 3"/>
          <p:cNvSpPr txBox="1"/>
          <p:nvPr/>
        </p:nvSpPr>
        <p:spPr>
          <a:xfrm>
            <a:off x="731520" y="2423160"/>
            <a:ext cx="2286000" cy="1005840"/>
          </a:xfrm>
          <a:prstGeom prst="rect">
            <a:avLst/>
          </a:prstGeom>
          <a:noFill/>
          <a:ln/>
        </p:spPr>
        <p:txBody>
          <a:bodyPr wrap="square" lIns="0" tIns="0" rIns="0" bIns="0" rtlCol="0" anchor="t"/>
          <a:lstStyle/>
          <a:p>
            <a:pPr indent="0" marL="0">
              <a:spcAft>
                <a:spcPts val="400"/>
              </a:spcAft>
              <a:buNone/>
            </a:pPr>
            <a:r>
              <a:rPr lang="en-US" sz="1400" b="1" dirty="0">
                <a:solidFill>
                  <a:schemeClr val="bg1"/>
                </a:solidFill>
              </a:rPr>
              <a:t>Procesul bate tehnica</a:t>
            </a:r>
            <a:endParaRPr lang="en-US" sz="1400" dirty="0"/>
          </a:p>
          <a:p>
            <a:pPr indent="0" marL="0">
              <a:spcAft>
                <a:spcPts val="400"/>
              </a:spcAft>
              <a:buNone/>
            </a:pPr>
            <a:r>
              <a:rPr lang="en-US" sz="1100" dirty="0">
                <a:solidFill>
                  <a:schemeClr val="bg2"/>
                </a:solidFill>
              </a:rPr>
              <a:t>Cod bun fără proces controlat nu garantează un produs livrat</a:t>
            </a:r>
            <a:endParaRPr lang="en-US" sz="1400" dirty="0"/>
          </a:p>
        </p:txBody>
      </p:sp>
      <p:sp>
        <p:nvSpPr>
          <p:cNvPr id="6" name="Card concluzie 2"/>
          <p:cNvSpPr/>
          <p:nvPr/>
        </p:nvSpPr>
        <p:spPr>
          <a:xfrm>
            <a:off x="3291840" y="1737360"/>
            <a:ext cx="2606040" cy="1737360"/>
          </a:xfrm>
          <a:prstGeom prst="roundRect">
            <a:avLst>
              <a:gd name="adj" fmla="val 5263"/>
            </a:avLst>
          </a:prstGeom>
          <a:solidFill>
            <a:schemeClr val="tx2"/>
          </a:solidFill>
          <a:ln w="12700">
            <a:solidFill>
              <a:schemeClr val="tx2"/>
            </a:solidFill>
            <a:prstDash val="solid"/>
          </a:ln>
        </p:spPr>
      </p:sp>
      <p:sp>
        <p:nvSpPr>
          <p:cNvPr id="7" name="Text 5"/>
          <p:cNvSpPr txBox="1"/>
          <p:nvPr/>
        </p:nvSpPr>
        <p:spPr>
          <a:xfrm>
            <a:off x="3474720" y="1828800"/>
            <a:ext cx="548640" cy="548640"/>
          </a:xfrm>
          <a:prstGeom prst="rect">
            <a:avLst/>
          </a:prstGeom>
          <a:noFill/>
          <a:ln/>
        </p:spPr>
        <p:txBody>
          <a:bodyPr wrap="square" lIns="0" tIns="0" rIns="0" bIns="0" rtlCol="0" anchor="t"/>
          <a:lstStyle/>
          <a:p>
            <a:pPr indent="0" marL="0">
              <a:buNone/>
            </a:pPr>
            <a:r>
              <a:rPr lang="en-US" sz="3200" b="1" dirty="0">
                <a:solidFill>
                  <a:schemeClr val="accent1"/>
                </a:solidFill>
              </a:rPr>
              <a:t>2</a:t>
            </a:r>
            <a:endParaRPr lang="en-US" sz="3200" dirty="0"/>
          </a:p>
        </p:txBody>
      </p:sp>
      <p:sp>
        <p:nvSpPr>
          <p:cNvPr id="8" name="Text 6"/>
          <p:cNvSpPr txBox="1"/>
          <p:nvPr/>
        </p:nvSpPr>
        <p:spPr>
          <a:xfrm>
            <a:off x="3474720" y="2423160"/>
            <a:ext cx="2286000" cy="1005840"/>
          </a:xfrm>
          <a:prstGeom prst="rect">
            <a:avLst/>
          </a:prstGeom>
          <a:noFill/>
          <a:ln/>
        </p:spPr>
        <p:txBody>
          <a:bodyPr wrap="square" lIns="0" tIns="0" rIns="0" bIns="0" rtlCol="0" anchor="t"/>
          <a:lstStyle/>
          <a:p>
            <a:pPr indent="0" marL="0">
              <a:spcAft>
                <a:spcPts val="400"/>
              </a:spcAft>
              <a:buNone/>
            </a:pPr>
            <a:r>
              <a:rPr lang="en-US" sz="1400" b="1" dirty="0">
                <a:solidFill>
                  <a:schemeClr val="bg1"/>
                </a:solidFill>
              </a:rPr>
              <a:t>Planul e instrument, nu dogmă</a:t>
            </a:r>
            <a:endParaRPr lang="en-US" sz="1400" dirty="0"/>
          </a:p>
          <a:p>
            <a:pPr indent="0" marL="0">
              <a:spcAft>
                <a:spcPts val="400"/>
              </a:spcAft>
              <a:buNone/>
            </a:pPr>
            <a:r>
              <a:rPr lang="en-US" sz="1100" dirty="0">
                <a:solidFill>
                  <a:schemeClr val="bg2"/>
                </a:solidFill>
              </a:rPr>
              <a:t>De la Gantt la CPM și PERT: ce contează pentru termen</a:t>
            </a:r>
            <a:endParaRPr lang="en-US" sz="1400" dirty="0"/>
          </a:p>
        </p:txBody>
      </p:sp>
      <p:sp>
        <p:nvSpPr>
          <p:cNvPr id="9" name="Card concluzie 3"/>
          <p:cNvSpPr/>
          <p:nvPr/>
        </p:nvSpPr>
        <p:spPr>
          <a:xfrm>
            <a:off x="6035040" y="1737360"/>
            <a:ext cx="2606040" cy="1737360"/>
          </a:xfrm>
          <a:prstGeom prst="roundRect">
            <a:avLst>
              <a:gd name="adj" fmla="val 5263"/>
            </a:avLst>
          </a:prstGeom>
          <a:solidFill>
            <a:schemeClr val="tx2"/>
          </a:solidFill>
          <a:ln w="12700">
            <a:solidFill>
              <a:schemeClr val="tx2"/>
            </a:solidFill>
            <a:prstDash val="solid"/>
          </a:ln>
        </p:spPr>
      </p:sp>
      <p:sp>
        <p:nvSpPr>
          <p:cNvPr id="10" name="Text 8"/>
          <p:cNvSpPr txBox="1"/>
          <p:nvPr/>
        </p:nvSpPr>
        <p:spPr>
          <a:xfrm>
            <a:off x="6217920" y="1828800"/>
            <a:ext cx="548640" cy="548640"/>
          </a:xfrm>
          <a:prstGeom prst="rect">
            <a:avLst/>
          </a:prstGeom>
          <a:noFill/>
          <a:ln/>
        </p:spPr>
        <p:txBody>
          <a:bodyPr wrap="square" lIns="0" tIns="0" rIns="0" bIns="0" rtlCol="0" anchor="t"/>
          <a:lstStyle/>
          <a:p>
            <a:pPr indent="0" marL="0">
              <a:buNone/>
            </a:pPr>
            <a:r>
              <a:rPr lang="en-US" sz="3200" b="1" dirty="0">
                <a:solidFill>
                  <a:schemeClr val="accent1"/>
                </a:solidFill>
              </a:rPr>
              <a:t>3</a:t>
            </a:r>
            <a:endParaRPr lang="en-US" sz="3200" dirty="0"/>
          </a:p>
        </p:txBody>
      </p:sp>
      <p:sp>
        <p:nvSpPr>
          <p:cNvPr id="11" name="Text 9"/>
          <p:cNvSpPr txBox="1"/>
          <p:nvPr/>
        </p:nvSpPr>
        <p:spPr>
          <a:xfrm>
            <a:off x="6217920" y="2423160"/>
            <a:ext cx="2286000" cy="1005840"/>
          </a:xfrm>
          <a:prstGeom prst="rect">
            <a:avLst/>
          </a:prstGeom>
          <a:noFill/>
          <a:ln/>
        </p:spPr>
        <p:txBody>
          <a:bodyPr wrap="square" lIns="0" tIns="0" rIns="0" bIns="0" rtlCol="0" anchor="t"/>
          <a:lstStyle/>
          <a:p>
            <a:pPr indent="0" marL="0">
              <a:spcAft>
                <a:spcPts val="400"/>
              </a:spcAft>
              <a:buNone/>
            </a:pPr>
            <a:r>
              <a:rPr lang="en-US" sz="1400" b="1" dirty="0">
                <a:solidFill>
                  <a:schemeClr val="bg1"/>
                </a:solidFill>
              </a:rPr>
              <a:t>Oamenii sunt proiectul</a:t>
            </a:r>
            <a:endParaRPr lang="en-US" sz="1400" dirty="0"/>
          </a:p>
          <a:p>
            <a:pPr indent="0" marL="0">
              <a:spcAft>
                <a:spcPts val="400"/>
              </a:spcAft>
              <a:buNone/>
            </a:pPr>
            <a:r>
              <a:rPr lang="en-US" sz="1100" dirty="0">
                <a:solidFill>
                  <a:schemeClr val="bg2"/>
                </a:solidFill>
              </a:rPr>
              <a:t>Stakeholderii și echipa decid reușita mai des decât tehnologia</a:t>
            </a:r>
            <a:endParaRPr lang="en-US" sz="1400" dirty="0"/>
          </a:p>
        </p:txBody>
      </p:sp>
      <p:sp>
        <p:nvSpPr>
          <p:cNvPr id="12" name="Text 10"/>
          <p:cNvSpPr txBox="1"/>
          <p:nvPr/>
        </p:nvSpPr>
        <p:spPr>
          <a:xfrm>
            <a:off x="548640" y="3749040"/>
            <a:ext cx="4572000" cy="64008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Întrebări?</a:t>
            </a:r>
            <a:endParaRPr lang="en-US" sz="3400" dirty="0"/>
          </a:p>
        </p:txBody>
      </p:sp>
      <p:sp>
        <p:nvSpPr>
          <p:cNvPr id="13" name="Text 11"/>
          <p:cNvSpPr txBox="1"/>
          <p:nvPr/>
        </p:nvSpPr>
        <p:spPr>
          <a:xfrm>
            <a:off x="548640" y="4389120"/>
            <a:ext cx="4572000" cy="274320"/>
          </a:xfrm>
          <a:prstGeom prst="rect">
            <a:avLst/>
          </a:prstGeom>
          <a:noFill/>
          <a:ln/>
        </p:spPr>
        <p:txBody>
          <a:bodyPr wrap="square" lIns="0" tIns="0" rIns="0" bIns="0" rtlCol="0" anchor="t"/>
          <a:lstStyle/>
          <a:p>
            <a:pPr indent="0" marL="0">
              <a:buNone/>
            </a:pPr>
            <a:r>
              <a:rPr lang="en-US" sz="1300" dirty="0">
                <a:solidFill>
                  <a:schemeClr val="accent6"/>
                </a:solidFill>
              </a:rPr>
              <a:t>Mulțumim pentru participare</a:t>
            </a:r>
            <a:endParaRPr lang="en-US" sz="1300" dirty="0"/>
          </a:p>
        </p:txBody>
      </p:sp>
    </p:spTree>
  </p:cSld>
  <p:clrMapOvr>
    <a:masterClrMapping/>
  </p:clrMapOvr>
</p:sld>
</file>

<file path=ppt/theme/theme1.xml><?xml version="1.0" encoding="utf-8"?>
<a:theme xmlns:a="http://schemas.openxmlformats.org/drawingml/2006/main" name="MPS Blueprint">
  <a:themeElements>
    <a:clrScheme name="MPS Blueprint">
      <a:dk1>
        <a:srgbClr val="12263F"/>
      </a:dk1>
      <a:lt1>
        <a:srgbClr val="FFFFFF"/>
      </a:lt1>
      <a:dk2>
        <a:srgbClr val="46586F"/>
      </a:dk2>
      <a:lt2>
        <a:srgbClr val="EEF2F7"/>
      </a:lt2>
      <a:accent1>
        <a:srgbClr val="F2A900"/>
      </a:accent1>
      <a:accent2>
        <a:srgbClr val="1B998B"/>
      </a:accent2>
      <a:accent3>
        <a:srgbClr val="E4572E"/>
      </a:accent3>
      <a:accent4>
        <a:srgbClr val="3A6EA5"/>
      </a:accent4>
      <a:accent5>
        <a:srgbClr val="7A5C99"/>
      </a:accent5>
      <a:accent6>
        <a:srgbClr val="9AA7B8"/>
      </a:accent6>
      <a:hlink>
        <a:srgbClr val="3A6EA5"/>
      </a:hlink>
      <a:folHlink>
        <a:srgbClr val="7A5C99"/>
      </a:folHlink>
    </a:clrScheme>
    <a:fontScheme name="MPS Bluepri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Managementul Proiectelor Software - Introducere, Proiecte si Stakeholderi</dc:title>
  <dc:subject>PptxGenJS Presentation</dc:subject>
  <dc:creator>Echipa MPS</dc:creator>
  <cp:lastModifiedBy>Echipa MPS</cp:lastModifiedBy>
  <cp:revision>1</cp:revision>
  <dcterms:created xsi:type="dcterms:W3CDTF">2026-10-02T18:38:31Z</dcterms:created>
  <dcterms:modified xsi:type="dcterms:W3CDTF">2026-10-02T18:38:31Z</dcterms:modified>
</cp:coreProperties>
</file>